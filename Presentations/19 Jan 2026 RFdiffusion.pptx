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68" r:id="rId4"/>
    <p:sldId id="269" r:id="rId5"/>
    <p:sldId id="270" r:id="rId6"/>
    <p:sldId id="296" r:id="rId7"/>
    <p:sldId id="295" r:id="rId8"/>
    <p:sldId id="271" r:id="rId9"/>
    <p:sldId id="272" r:id="rId10"/>
    <p:sldId id="273" r:id="rId11"/>
    <p:sldId id="274" r:id="rId12"/>
    <p:sldId id="275" r:id="rId13"/>
    <p:sldId id="276" r:id="rId14"/>
    <p:sldId id="277" r:id="rId15"/>
    <p:sldId id="278" r:id="rId16"/>
    <p:sldId id="280" r:id="rId17"/>
    <p:sldId id="265" r:id="rId18"/>
    <p:sldId id="284" r:id="rId19"/>
    <p:sldId id="289" r:id="rId20"/>
    <p:sldId id="257" r:id="rId21"/>
    <p:sldId id="258" r:id="rId22"/>
    <p:sldId id="259" r:id="rId23"/>
    <p:sldId id="281" r:id="rId24"/>
    <p:sldId id="260" r:id="rId25"/>
    <p:sldId id="282" r:id="rId26"/>
    <p:sldId id="283" r:id="rId27"/>
    <p:sldId id="261" r:id="rId28"/>
    <p:sldId id="262" r:id="rId29"/>
    <p:sldId id="263" r:id="rId30"/>
    <p:sldId id="285" r:id="rId31"/>
    <p:sldId id="286" r:id="rId32"/>
    <p:sldId id="287" r:id="rId33"/>
    <p:sldId id="288" r:id="rId34"/>
    <p:sldId id="290" r:id="rId35"/>
    <p:sldId id="266"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44" d="100"/>
          <a:sy n="144" d="100"/>
        </p:scale>
        <p:origin x="894" y="11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t>RFdiffusion</a:t>
            </a:r>
            <a:r>
              <a:rPr dirty="0"/>
              <a:t> 1 → 2 → 3</a:t>
            </a:r>
          </a:p>
          <a:p>
            <a:r>
              <a:rPr dirty="0"/>
              <a:t>Evolution</a:t>
            </a:r>
          </a:p>
        </p:txBody>
      </p:sp>
      <p:sp>
        <p:nvSpPr>
          <p:cNvPr id="3" name="Subtitle 2"/>
          <p:cNvSpPr>
            <a:spLocks noGrp="1"/>
          </p:cNvSpPr>
          <p:nvPr>
            <p:ph type="subTitle" idx="1"/>
          </p:nvPr>
        </p:nvSpPr>
        <p:spPr/>
        <p:txBody>
          <a:bodyPr/>
          <a:lstStyle/>
          <a:p>
            <a:r>
              <a:rPr dirty="0"/>
              <a:t>Backbone diffusion → Chemistry-aware scaffolding → All-atom generative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Computational Protein Design</a:t>
            </a:r>
          </a:p>
        </p:txBody>
      </p:sp>
      <p:sp>
        <p:nvSpPr>
          <p:cNvPr id="3" name="Content Placeholder 2"/>
          <p:cNvSpPr>
            <a:spLocks noGrp="1"/>
          </p:cNvSpPr>
          <p:nvPr>
            <p:ph idx="1"/>
          </p:nvPr>
        </p:nvSpPr>
        <p:spPr/>
        <p:txBody>
          <a:bodyPr/>
          <a:lstStyle/>
          <a:p>
            <a:r>
              <a:t>Goal: generate protein or peptide sequences that bind, catalyse, or assemble as desired</a:t>
            </a:r>
          </a:p>
          <a:p>
            <a:r>
              <a:t>Requires searching an enormous sequence and structure space</a:t>
            </a:r>
          </a:p>
          <a:p>
            <a:r>
              <a:t>Design quality depends on geometry, chemistry, and physical plausibility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Traditional</a:t>
            </a:r>
            <a:r>
              <a:rPr lang="en-SG" dirty="0"/>
              <a:t> Protein</a:t>
            </a:r>
            <a:r>
              <a:rPr dirty="0"/>
              <a:t> Design Approaches</a:t>
            </a:r>
          </a:p>
        </p:txBody>
      </p:sp>
      <p:sp>
        <p:nvSpPr>
          <p:cNvPr id="3" name="Content Placeholder 2"/>
          <p:cNvSpPr>
            <a:spLocks noGrp="1"/>
          </p:cNvSpPr>
          <p:nvPr>
            <p:ph idx="1"/>
          </p:nvPr>
        </p:nvSpPr>
        <p:spPr/>
        <p:txBody>
          <a:bodyPr/>
          <a:lstStyle/>
          <a:p>
            <a:r>
              <a:rPr dirty="0"/>
              <a:t>Template-based design using known scaffolds</a:t>
            </a:r>
          </a:p>
          <a:p>
            <a:r>
              <a:rPr dirty="0"/>
              <a:t>Energy </a:t>
            </a:r>
            <a:r>
              <a:rPr dirty="0" err="1"/>
              <a:t>minimisation</a:t>
            </a:r>
            <a:r>
              <a:rPr dirty="0"/>
              <a:t> and sampling with Rosetta</a:t>
            </a:r>
          </a:p>
          <a:p>
            <a:r>
              <a:rPr dirty="0"/>
              <a:t>Heuristic mutation and scoring loops</a:t>
            </a:r>
          </a:p>
          <a:p>
            <a:r>
              <a:rPr dirty="0"/>
              <a:t>Strong physics bias but limited global exploration</a:t>
            </a:r>
          </a:p>
        </p:txBody>
      </p:sp>
      <p:pic>
        <p:nvPicPr>
          <p:cNvPr id="4" name="Picture 2" descr="Local &amp; Global Minima Explained with Examples - Analytics Yogi">
            <a:extLst>
              <a:ext uri="{FF2B5EF4-FFF2-40B4-BE49-F238E27FC236}">
                <a16:creationId xmlns:a16="http://schemas.microsoft.com/office/drawing/2014/main" id="{0DDEF345-ED5C-D6FA-589C-D6436A0D3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248" y="4554787"/>
            <a:ext cx="3092725" cy="19465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Protein</a:t>
            </a:r>
            <a:r>
              <a:rPr dirty="0"/>
              <a:t> Design Before Diffusion</a:t>
            </a:r>
          </a:p>
        </p:txBody>
      </p:sp>
      <p:sp>
        <p:nvSpPr>
          <p:cNvPr id="3" name="Content Placeholder 2"/>
          <p:cNvSpPr>
            <a:spLocks noGrp="1"/>
          </p:cNvSpPr>
          <p:nvPr>
            <p:ph idx="1"/>
          </p:nvPr>
        </p:nvSpPr>
        <p:spPr/>
        <p:txBody>
          <a:bodyPr/>
          <a:lstStyle/>
          <a:p>
            <a:r>
              <a:t>Sequence-only models trained on natural proteins</a:t>
            </a:r>
          </a:p>
          <a:p>
            <a:r>
              <a:t>Predict structures after proposing sequences</a:t>
            </a:r>
          </a:p>
          <a:p>
            <a:r>
              <a:t>Exploration driven by mutation heuristics</a:t>
            </a:r>
          </a:p>
          <a:p>
            <a:r>
              <a:t>Geometry enforced indirectly via structure prediction</a:t>
            </a:r>
          </a:p>
        </p:txBody>
      </p:sp>
      <p:pic>
        <p:nvPicPr>
          <p:cNvPr id="1026" name="Picture 2">
            <a:extLst>
              <a:ext uri="{FF2B5EF4-FFF2-40B4-BE49-F238E27FC236}">
                <a16:creationId xmlns:a16="http://schemas.microsoft.com/office/drawing/2014/main" id="{F08C0B2D-D9C8-ACC8-E24F-9F0DD1EBF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240" y="4108746"/>
            <a:ext cx="3669347" cy="21158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game has changed.' AI triumphs at solving protein structures | Science  | AAAS">
            <a:extLst>
              <a:ext uri="{FF2B5EF4-FFF2-40B4-BE49-F238E27FC236}">
                <a16:creationId xmlns:a16="http://schemas.microsoft.com/office/drawing/2014/main" id="{2949DF2D-0527-C981-7208-0E86BE64C4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8530" y="4366567"/>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Down 3">
            <a:extLst>
              <a:ext uri="{FF2B5EF4-FFF2-40B4-BE49-F238E27FC236}">
                <a16:creationId xmlns:a16="http://schemas.microsoft.com/office/drawing/2014/main" id="{5163C7A6-D211-5206-E558-01D2FACDBD64}"/>
              </a:ext>
            </a:extLst>
          </p:cNvPr>
          <p:cNvSpPr/>
          <p:nvPr/>
        </p:nvSpPr>
        <p:spPr>
          <a:xfrm rot="16200000">
            <a:off x="5273040" y="4115142"/>
            <a:ext cx="1645920" cy="214876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Diffusion Models Are</a:t>
            </a:r>
          </a:p>
        </p:txBody>
      </p:sp>
      <p:sp>
        <p:nvSpPr>
          <p:cNvPr id="3" name="Content Placeholder 2"/>
          <p:cNvSpPr>
            <a:spLocks noGrp="1"/>
          </p:cNvSpPr>
          <p:nvPr>
            <p:ph idx="1"/>
          </p:nvPr>
        </p:nvSpPr>
        <p:spPr/>
        <p:txBody>
          <a:bodyPr>
            <a:normAutofit/>
          </a:bodyPr>
          <a:lstStyle/>
          <a:p>
            <a:r>
              <a:rPr dirty="0"/>
              <a:t>Generative models that learn to reverse noise</a:t>
            </a:r>
          </a:p>
          <a:p>
            <a:r>
              <a:rPr dirty="0"/>
              <a:t>Train</a:t>
            </a:r>
            <a:r>
              <a:rPr lang="en-SG" dirty="0"/>
              <a:t>ed</a:t>
            </a:r>
            <a:r>
              <a:rPr dirty="0"/>
              <a:t> by corrupting</a:t>
            </a:r>
            <a:r>
              <a:rPr lang="en-SG" dirty="0"/>
              <a:t> input training</a:t>
            </a:r>
            <a:r>
              <a:rPr dirty="0"/>
              <a:t> data and learning denoising steps</a:t>
            </a:r>
          </a:p>
          <a:p>
            <a:r>
              <a:rPr lang="en-SG" dirty="0"/>
              <a:t>When generating (inference)</a:t>
            </a:r>
            <a:r>
              <a:rPr dirty="0"/>
              <a:t>, start from noise and iteratively refine</a:t>
            </a:r>
            <a:endParaRPr lang="en-SG" dirty="0"/>
          </a:p>
          <a:p>
            <a:pPr lvl="1"/>
            <a:r>
              <a:rPr lang="en-SG" sz="1000" dirty="0"/>
              <a:t>DDPM sampling: Add fresh random noise after removing noise</a:t>
            </a:r>
          </a:p>
          <a:p>
            <a:pPr lvl="1"/>
            <a:r>
              <a:rPr lang="en-SG" sz="1000" dirty="0"/>
              <a:t>DDIM sampling: </a:t>
            </a:r>
            <a:r>
              <a:rPr lang="en-US" sz="1000" dirty="0"/>
              <a:t>Do not add new random noise (</a:t>
            </a:r>
            <a:r>
              <a:rPr lang="en-US" sz="1000" dirty="0" err="1"/>
              <a:t>RFDiffusion</a:t>
            </a:r>
            <a:r>
              <a:rPr lang="en-US" sz="1000" dirty="0"/>
              <a:t>)</a:t>
            </a:r>
            <a:endParaRPr lang="en-SG" sz="1000" dirty="0"/>
          </a:p>
          <a:p>
            <a:pPr lvl="1"/>
            <a:endParaRPr dirty="0"/>
          </a:p>
          <a:p>
            <a:pPr lvl="1"/>
            <a:endParaRPr dirty="0"/>
          </a:p>
        </p:txBody>
      </p:sp>
      <p:pic>
        <p:nvPicPr>
          <p:cNvPr id="2050" name="Picture 2" descr="The forward and backward processes of the diffusion model. The credit... |  Download Scientific Diagram">
            <a:extLst>
              <a:ext uri="{FF2B5EF4-FFF2-40B4-BE49-F238E27FC236}">
                <a16:creationId xmlns:a16="http://schemas.microsoft.com/office/drawing/2014/main" id="{3DD8A2CA-C1F9-E946-00F6-98EACAF0A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1589" y="4021084"/>
            <a:ext cx="6351707" cy="2473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E277D-D1A1-AC59-C937-D71C8DDB1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C9892-A28D-41FD-B18D-C1AD00EA04CB}"/>
              </a:ext>
            </a:extLst>
          </p:cNvPr>
          <p:cNvSpPr>
            <a:spLocks noGrp="1"/>
          </p:cNvSpPr>
          <p:nvPr>
            <p:ph type="title"/>
          </p:nvPr>
        </p:nvSpPr>
        <p:spPr/>
        <p:txBody>
          <a:bodyPr/>
          <a:lstStyle/>
          <a:p>
            <a:r>
              <a:rPr lang="en-SG" dirty="0"/>
              <a:t>How</a:t>
            </a:r>
            <a:r>
              <a:rPr dirty="0"/>
              <a:t> Diffusion Models Are</a:t>
            </a:r>
            <a:r>
              <a:rPr lang="en-SG" dirty="0"/>
              <a:t> Trained</a:t>
            </a:r>
            <a:endParaRPr dirty="0"/>
          </a:p>
        </p:txBody>
      </p:sp>
      <p:sp>
        <p:nvSpPr>
          <p:cNvPr id="3" name="Content Placeholder 2">
            <a:extLst>
              <a:ext uri="{FF2B5EF4-FFF2-40B4-BE49-F238E27FC236}">
                <a16:creationId xmlns:a16="http://schemas.microsoft.com/office/drawing/2014/main" id="{EFADE773-1494-4CCE-6C70-519CA687BD30}"/>
              </a:ext>
            </a:extLst>
          </p:cNvPr>
          <p:cNvSpPr>
            <a:spLocks noGrp="1"/>
          </p:cNvSpPr>
          <p:nvPr>
            <p:ph idx="1"/>
          </p:nvPr>
        </p:nvSpPr>
        <p:spPr/>
        <p:txBody>
          <a:bodyPr>
            <a:normAutofit/>
          </a:bodyPr>
          <a:lstStyle/>
          <a:p>
            <a:r>
              <a:rPr lang="en-SG" dirty="0"/>
              <a:t>During training, model is given a random </a:t>
            </a:r>
            <a:r>
              <a:rPr lang="en-US" dirty="0"/>
              <a:t>xᵢ</a:t>
            </a:r>
            <a:r>
              <a:rPr lang="en-SG" dirty="0"/>
              <a:t>, and predicts the total noise </a:t>
            </a:r>
            <a:r>
              <a:rPr lang="el-GR" dirty="0"/>
              <a:t>ε</a:t>
            </a:r>
            <a:r>
              <a:rPr lang="en-SG" dirty="0"/>
              <a:t> used to create </a:t>
            </a:r>
            <a:r>
              <a:rPr lang="en-US" dirty="0"/>
              <a:t>xᵢ </a:t>
            </a:r>
          </a:p>
          <a:p>
            <a:r>
              <a:rPr lang="en-SG" dirty="0"/>
              <a:t>Model reasons how noisy </a:t>
            </a:r>
            <a:r>
              <a:rPr lang="en-US" dirty="0"/>
              <a:t>xᵢ</a:t>
            </a:r>
            <a:r>
              <a:rPr lang="en-SG" dirty="0"/>
              <a:t> is relative to the clean data </a:t>
            </a:r>
            <a:r>
              <a:rPr lang="en-US" dirty="0"/>
              <a:t>x₀</a:t>
            </a:r>
            <a:endParaRPr dirty="0"/>
          </a:p>
          <a:p>
            <a:pPr marL="0" indent="0">
              <a:buNone/>
            </a:pPr>
            <a:r>
              <a:rPr lang="en-SG" sz="1400" dirty="0"/>
              <a:t>For each training example:</a:t>
            </a:r>
            <a:endParaRPr lang="en-US" sz="1300" dirty="0"/>
          </a:p>
          <a:p>
            <a:pPr marL="514350" indent="-514350">
              <a:buFont typeface="+mj-lt"/>
              <a:buAutoNum type="arabicPeriod"/>
            </a:pPr>
            <a:r>
              <a:rPr lang="en-US" sz="1300" dirty="0"/>
              <a:t>You start from a clean sample x₀</a:t>
            </a:r>
          </a:p>
          <a:p>
            <a:pPr marL="514350" indent="-514350">
              <a:buFont typeface="+mj-lt"/>
              <a:buAutoNum type="arabicPeriod"/>
            </a:pPr>
            <a:r>
              <a:rPr lang="en-US" sz="1300" dirty="0"/>
              <a:t>You pick a random timestep </a:t>
            </a:r>
            <a:r>
              <a:rPr lang="en-US" sz="1300" dirty="0" err="1"/>
              <a:t>i</a:t>
            </a:r>
            <a:endParaRPr lang="en-US" sz="1300" dirty="0"/>
          </a:p>
          <a:p>
            <a:pPr marL="514350" indent="-514350">
              <a:buFont typeface="+mj-lt"/>
              <a:buAutoNum type="arabicPeriod"/>
            </a:pPr>
            <a:r>
              <a:rPr lang="en-US" sz="1300" dirty="0"/>
              <a:t>You generate xᵢ in one shot by adding noise according to the schedule</a:t>
            </a:r>
          </a:p>
          <a:p>
            <a:pPr marL="514350" indent="-514350">
              <a:buFont typeface="+mj-lt"/>
              <a:buAutoNum type="arabicPeriod"/>
            </a:pPr>
            <a:r>
              <a:rPr lang="en-US" sz="1300" dirty="0"/>
              <a:t>The model is given xᵢ and </a:t>
            </a:r>
            <a:r>
              <a:rPr lang="en-US" sz="1300" dirty="0" err="1"/>
              <a:t>i</a:t>
            </a:r>
            <a:endParaRPr lang="en-US" sz="1300" dirty="0"/>
          </a:p>
          <a:p>
            <a:pPr marL="514350" indent="-514350">
              <a:buFont typeface="+mj-lt"/>
              <a:buAutoNum type="arabicPeriod"/>
            </a:pPr>
            <a:r>
              <a:rPr lang="en-US" sz="1300" dirty="0"/>
              <a:t>The training target is the noise ε that was used to construct xᵢ</a:t>
            </a:r>
          </a:p>
          <a:p>
            <a:pPr lvl="1"/>
            <a:endParaRPr dirty="0"/>
          </a:p>
        </p:txBody>
      </p:sp>
      <p:pic>
        <p:nvPicPr>
          <p:cNvPr id="2050" name="Picture 2" descr="The forward and backward processes of the diffusion model. The credit... |  Download Scientific Diagram">
            <a:extLst>
              <a:ext uri="{FF2B5EF4-FFF2-40B4-BE49-F238E27FC236}">
                <a16:creationId xmlns:a16="http://schemas.microsoft.com/office/drawing/2014/main" id="{AABD0ECB-D1E4-CC12-8C2C-6F4A0A0DE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0293" y="4286127"/>
            <a:ext cx="6351707" cy="2473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719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8E46-2E7A-1F4E-87B5-26FBEB450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5BC2C-2994-0386-B9CD-DE3EA5996609}"/>
              </a:ext>
            </a:extLst>
          </p:cNvPr>
          <p:cNvSpPr>
            <a:spLocks noGrp="1"/>
          </p:cNvSpPr>
          <p:nvPr>
            <p:ph type="title"/>
          </p:nvPr>
        </p:nvSpPr>
        <p:spPr/>
        <p:txBody>
          <a:bodyPr/>
          <a:lstStyle/>
          <a:p>
            <a:r>
              <a:t>What Diffusion Models Are</a:t>
            </a:r>
          </a:p>
        </p:txBody>
      </p:sp>
      <p:sp>
        <p:nvSpPr>
          <p:cNvPr id="3" name="Content Placeholder 2">
            <a:extLst>
              <a:ext uri="{FF2B5EF4-FFF2-40B4-BE49-F238E27FC236}">
                <a16:creationId xmlns:a16="http://schemas.microsoft.com/office/drawing/2014/main" id="{6C163735-B1E3-25E7-C39B-CE990B906A29}"/>
              </a:ext>
            </a:extLst>
          </p:cNvPr>
          <p:cNvSpPr>
            <a:spLocks noGrp="1"/>
          </p:cNvSpPr>
          <p:nvPr>
            <p:ph idx="1"/>
          </p:nvPr>
        </p:nvSpPr>
        <p:spPr/>
        <p:txBody>
          <a:bodyPr>
            <a:normAutofit/>
          </a:bodyPr>
          <a:lstStyle/>
          <a:p>
            <a:r>
              <a:rPr lang="en-US" dirty="0"/>
              <a:t>Naturally suited for structured geometric data:</a:t>
            </a:r>
          </a:p>
          <a:p>
            <a:pPr lvl="1"/>
            <a:r>
              <a:rPr lang="en-US" dirty="0"/>
              <a:t> Geometric coordinates live in continuous spaces</a:t>
            </a:r>
          </a:p>
          <a:p>
            <a:pPr lvl="1"/>
            <a:r>
              <a:rPr lang="en-US" dirty="0"/>
              <a:t>Small changes in coordinates correspond to small changes in shape (Smooth transformations)</a:t>
            </a:r>
          </a:p>
          <a:p>
            <a:pPr lvl="1"/>
            <a:r>
              <a:rPr lang="en-US" dirty="0"/>
              <a:t>When noise is added gradually, local geometric relationships are only slightly perturbed at each step (</a:t>
            </a:r>
            <a:r>
              <a:rPr lang="en-SG" dirty="0"/>
              <a:t>Local structure preservation)</a:t>
            </a:r>
          </a:p>
          <a:p>
            <a:pPr lvl="1"/>
            <a:r>
              <a:rPr lang="en-US" dirty="0"/>
              <a:t>Geometric problems often have many valid solutions. Diffusion models learn a full probability distribution over shapes, not a single output</a:t>
            </a:r>
          </a:p>
          <a:p>
            <a:pPr lvl="1"/>
            <a:endParaRPr dirty="0"/>
          </a:p>
        </p:txBody>
      </p:sp>
    </p:spTree>
    <p:extLst>
      <p:ext uri="{BB962C8B-B14F-4D97-AF65-F5344CB8AC3E}">
        <p14:creationId xmlns:p14="http://schemas.microsoft.com/office/powerpoint/2010/main" val="1536315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Diffusion Works </a:t>
            </a:r>
            <a:r>
              <a:rPr lang="en-SG" dirty="0"/>
              <a:t>Well </a:t>
            </a:r>
            <a:r>
              <a:rPr dirty="0"/>
              <a:t>for Proteins</a:t>
            </a:r>
          </a:p>
        </p:txBody>
      </p:sp>
      <p:sp>
        <p:nvSpPr>
          <p:cNvPr id="3" name="Content Placeholder 2"/>
          <p:cNvSpPr>
            <a:spLocks noGrp="1"/>
          </p:cNvSpPr>
          <p:nvPr>
            <p:ph idx="1"/>
          </p:nvPr>
        </p:nvSpPr>
        <p:spPr/>
        <p:txBody>
          <a:bodyPr/>
          <a:lstStyle/>
          <a:p>
            <a:r>
              <a:rPr dirty="0"/>
              <a:t>Proteins are continuous geometric objects</a:t>
            </a:r>
          </a:p>
          <a:p>
            <a:r>
              <a:rPr dirty="0"/>
              <a:t>Local structure depends on global context</a:t>
            </a:r>
          </a:p>
          <a:p>
            <a:r>
              <a:rPr dirty="0"/>
              <a:t>Avoids committing early to discrete </a:t>
            </a:r>
            <a:r>
              <a:rPr lang="en-SG" dirty="0"/>
              <a:t>amino acid </a:t>
            </a:r>
            <a:r>
              <a:rPr dirty="0"/>
              <a:t>sequences</a:t>
            </a:r>
            <a:endParaRPr lang="en-SG" dirty="0"/>
          </a:p>
          <a:p>
            <a:r>
              <a:rPr lang="en-SG" dirty="0"/>
              <a:t>Can operate directly on amino acid coordinates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4360"/>
            <a:ext cx="10972800" cy="1143000"/>
          </a:xfrm>
        </p:spPr>
        <p:txBody>
          <a:bodyPr/>
          <a:lstStyle/>
          <a:p>
            <a:r>
              <a:rPr dirty="0" err="1"/>
              <a:t>RFdiffusion</a:t>
            </a:r>
            <a:r>
              <a:rPr dirty="0"/>
              <a:t>: Core Idea</a:t>
            </a:r>
          </a:p>
        </p:txBody>
      </p:sp>
      <p:sp>
        <p:nvSpPr>
          <p:cNvPr id="3" name="Content Placeholder 2"/>
          <p:cNvSpPr>
            <a:spLocks noGrp="1"/>
          </p:cNvSpPr>
          <p:nvPr>
            <p:ph idx="1"/>
          </p:nvPr>
        </p:nvSpPr>
        <p:spPr>
          <a:xfrm>
            <a:off x="609600" y="646044"/>
            <a:ext cx="10972800" cy="4525963"/>
          </a:xfrm>
        </p:spPr>
        <p:txBody>
          <a:bodyPr/>
          <a:lstStyle/>
          <a:p>
            <a:r>
              <a:rPr dirty="0"/>
              <a:t>Generate protein structures directly, not sequences</a:t>
            </a:r>
          </a:p>
          <a:p>
            <a:r>
              <a:rPr dirty="0"/>
              <a:t>Learn protein geometry from large structure datasets</a:t>
            </a:r>
          </a:p>
          <a:p>
            <a:r>
              <a:rPr dirty="0"/>
              <a:t>Support</a:t>
            </a:r>
            <a:r>
              <a:rPr lang="en-SG" dirty="0"/>
              <a:t>s</a:t>
            </a:r>
            <a:r>
              <a:rPr dirty="0"/>
              <a:t> conditional generation via constraint</a:t>
            </a:r>
            <a:r>
              <a:rPr lang="en-SG" dirty="0"/>
              <a:t>s</a:t>
            </a:r>
          </a:p>
          <a:p>
            <a:pPr lvl="1"/>
            <a:r>
              <a:rPr lang="en-SG" dirty="0"/>
              <a:t>Motifs (fixed backbone)</a:t>
            </a:r>
          </a:p>
          <a:p>
            <a:pPr lvl="2"/>
            <a:r>
              <a:rPr lang="en-SG" dirty="0"/>
              <a:t>Protein backbone: Structure of the protein, except side chains</a:t>
            </a:r>
          </a:p>
          <a:p>
            <a:pPr lvl="1"/>
            <a:r>
              <a:rPr lang="en-SG" dirty="0"/>
              <a:t>Interface/contact (bias generation around target protein’s surface, common for binder design)</a:t>
            </a:r>
          </a:p>
          <a:p>
            <a:pPr lvl="1"/>
            <a:r>
              <a:rPr lang="en-SG" dirty="0"/>
              <a:t>Topology/symmetry</a:t>
            </a:r>
          </a:p>
        </p:txBody>
      </p:sp>
      <p:pic>
        <p:nvPicPr>
          <p:cNvPr id="3074" name="Picture 2" descr="RFDiffusion: Protein Sequences and Structures with DDPMs">
            <a:extLst>
              <a:ext uri="{FF2B5EF4-FFF2-40B4-BE49-F238E27FC236}">
                <a16:creationId xmlns:a16="http://schemas.microsoft.com/office/drawing/2014/main" id="{12AD9CDF-86EC-8270-A4C5-F91B5F3C2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6612" y="3943487"/>
            <a:ext cx="5034915" cy="24570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RFdiffusion</a:t>
            </a:r>
            <a:r>
              <a:rPr dirty="0"/>
              <a:t> vs </a:t>
            </a:r>
            <a:r>
              <a:rPr lang="en-SG" dirty="0"/>
              <a:t>Traditional </a:t>
            </a:r>
            <a:r>
              <a:rPr dirty="0"/>
              <a:t>Heuristic Pipelines</a:t>
            </a:r>
          </a:p>
        </p:txBody>
      </p:sp>
      <p:sp>
        <p:nvSpPr>
          <p:cNvPr id="3" name="Content Placeholder 2"/>
          <p:cNvSpPr>
            <a:spLocks noGrp="1"/>
          </p:cNvSpPr>
          <p:nvPr>
            <p:ph idx="1"/>
          </p:nvPr>
        </p:nvSpPr>
        <p:spPr/>
        <p:txBody>
          <a:bodyPr/>
          <a:lstStyle/>
          <a:p>
            <a:r>
              <a:rPr dirty="0"/>
              <a:t>Diffusion: </a:t>
            </a:r>
            <a:r>
              <a:rPr lang="en-SG" dirty="0"/>
              <a:t>G</a:t>
            </a:r>
            <a:r>
              <a:rPr dirty="0"/>
              <a:t>lobal structure emerges naturally</a:t>
            </a:r>
          </a:p>
          <a:p>
            <a:r>
              <a:rPr dirty="0"/>
              <a:t>Heuristics: </a:t>
            </a:r>
            <a:r>
              <a:rPr lang="en-SG" dirty="0"/>
              <a:t>S</a:t>
            </a:r>
            <a:r>
              <a:rPr dirty="0" err="1"/>
              <a:t>tructure</a:t>
            </a:r>
            <a:r>
              <a:rPr dirty="0"/>
              <a:t> emerges only if scoring succeeds</a:t>
            </a:r>
          </a:p>
          <a:p>
            <a:r>
              <a:rPr dirty="0"/>
              <a:t>Diffusion reduces dependency on </a:t>
            </a:r>
            <a:r>
              <a:rPr lang="en-SG" dirty="0"/>
              <a:t>getting scoring/filtering criteria right</a:t>
            </a:r>
          </a:p>
          <a:p>
            <a:pPr lvl="1"/>
            <a:r>
              <a:rPr lang="en-SG" dirty="0"/>
              <a:t>Energy functions, heuristic filters, manually tuned variables, etc have to be correct in Traditional approaches</a:t>
            </a:r>
          </a:p>
          <a:p>
            <a:r>
              <a:rPr dirty="0"/>
              <a:t>Better coverage of structural space</a:t>
            </a:r>
            <a:endParaRPr lang="en-SG" dirty="0"/>
          </a:p>
          <a:p>
            <a:pPr lvl="1"/>
            <a:r>
              <a:rPr lang="en-SG" dirty="0"/>
              <a:t>Can explore the full range of possible structures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BindCraft (AlphaFold-Guided Mutation)</a:t>
            </a:r>
          </a:p>
        </p:txBody>
      </p:sp>
      <p:sp>
        <p:nvSpPr>
          <p:cNvPr id="3" name="Content Placeholder 2"/>
          <p:cNvSpPr>
            <a:spLocks noGrp="1"/>
          </p:cNvSpPr>
          <p:nvPr>
            <p:ph idx="1"/>
          </p:nvPr>
        </p:nvSpPr>
        <p:spPr/>
        <p:txBody>
          <a:bodyPr/>
          <a:lstStyle/>
          <a:p>
            <a:r>
              <a:rPr dirty="0"/>
              <a:t>Starts from random or semi-random sequences</a:t>
            </a:r>
          </a:p>
          <a:p>
            <a:r>
              <a:rPr dirty="0"/>
              <a:t>Uses AlphaFold2 </a:t>
            </a:r>
            <a:r>
              <a:rPr lang="en-SG" dirty="0"/>
              <a:t>to guide the process</a:t>
            </a:r>
            <a:endParaRPr dirty="0"/>
          </a:p>
          <a:p>
            <a:r>
              <a:rPr dirty="0" err="1"/>
              <a:t>Optimises</a:t>
            </a:r>
            <a:r>
              <a:rPr dirty="0"/>
              <a:t> sequences via staged mutation and filtering</a:t>
            </a:r>
          </a:p>
          <a:p>
            <a:r>
              <a:rPr dirty="0"/>
              <a:t>Structure emerges through repeated AF2 evaluations</a:t>
            </a:r>
            <a:endParaRPr lang="en-SG" dirty="0"/>
          </a:p>
          <a:p>
            <a:r>
              <a:rPr lang="en-SG" dirty="0"/>
              <a:t>Good for small peptide binders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BindCraft vs RFdiffusion</a:t>
            </a:r>
          </a:p>
        </p:txBody>
      </p:sp>
      <p:sp>
        <p:nvSpPr>
          <p:cNvPr id="3" name="Content Placeholder 2"/>
          <p:cNvSpPr>
            <a:spLocks noGrp="1"/>
          </p:cNvSpPr>
          <p:nvPr>
            <p:ph idx="1"/>
          </p:nvPr>
        </p:nvSpPr>
        <p:spPr/>
        <p:txBody>
          <a:bodyPr/>
          <a:lstStyle/>
          <a:p>
            <a:r>
              <a:rPr dirty="0" err="1"/>
              <a:t>BindCraft</a:t>
            </a:r>
            <a:r>
              <a:rPr dirty="0"/>
              <a:t> explores sequence space first</a:t>
            </a:r>
          </a:p>
          <a:p>
            <a:r>
              <a:rPr dirty="0" err="1"/>
              <a:t>RFdiffusion</a:t>
            </a:r>
            <a:r>
              <a:rPr dirty="0"/>
              <a:t> explores structure space first</a:t>
            </a:r>
          </a:p>
          <a:p>
            <a:r>
              <a:rPr dirty="0" err="1"/>
              <a:t>BindCraft</a:t>
            </a:r>
            <a:r>
              <a:rPr dirty="0"/>
              <a:t> relies heavily on AF2 cost</a:t>
            </a:r>
          </a:p>
          <a:p>
            <a:r>
              <a:rPr dirty="0" err="1"/>
              <a:t>RFdiffusion</a:t>
            </a:r>
            <a:r>
              <a:rPr dirty="0"/>
              <a:t> </a:t>
            </a:r>
            <a:r>
              <a:rPr lang="en-SG" dirty="0"/>
              <a:t>has</a:t>
            </a:r>
            <a:r>
              <a:rPr dirty="0"/>
              <a:t> structure knowledge in the model</a:t>
            </a:r>
            <a:r>
              <a:rPr lang="en-SG" dirty="0"/>
              <a:t> itself</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BoltzGen</a:t>
            </a:r>
            <a:r>
              <a:rPr dirty="0"/>
              <a:t> and Related Generative Models</a:t>
            </a:r>
          </a:p>
        </p:txBody>
      </p:sp>
      <p:sp>
        <p:nvSpPr>
          <p:cNvPr id="3" name="Content Placeholder 2"/>
          <p:cNvSpPr>
            <a:spLocks noGrp="1"/>
          </p:cNvSpPr>
          <p:nvPr>
            <p:ph idx="1"/>
          </p:nvPr>
        </p:nvSpPr>
        <p:spPr/>
        <p:txBody>
          <a:bodyPr>
            <a:normAutofit fontScale="77500" lnSpcReduction="20000"/>
          </a:bodyPr>
          <a:lstStyle/>
          <a:p>
            <a:r>
              <a:rPr dirty="0"/>
              <a:t>Often focus on ligand or binding energy generation</a:t>
            </a:r>
            <a:endParaRPr lang="en-SG" dirty="0"/>
          </a:p>
          <a:p>
            <a:pPr lvl="1"/>
            <a:r>
              <a:rPr lang="en-US" dirty="0"/>
              <a:t>Energy landscapes and Boltzmann distributions</a:t>
            </a:r>
            <a:endParaRPr dirty="0"/>
          </a:p>
          <a:p>
            <a:r>
              <a:rPr lang="en-SG" dirty="0"/>
              <a:t>Focused on statistical mechanics</a:t>
            </a:r>
          </a:p>
          <a:p>
            <a:r>
              <a:rPr lang="en-SG" dirty="0"/>
              <a:t>Good for:</a:t>
            </a:r>
          </a:p>
          <a:p>
            <a:pPr lvl="1"/>
            <a:r>
              <a:rPr lang="en-SG" dirty="0"/>
              <a:t>Small molecules</a:t>
            </a:r>
          </a:p>
          <a:p>
            <a:pPr lvl="1"/>
            <a:r>
              <a:rPr lang="en-SG" dirty="0"/>
              <a:t>Side chains</a:t>
            </a:r>
            <a:endParaRPr dirty="0"/>
          </a:p>
          <a:p>
            <a:r>
              <a:rPr dirty="0"/>
              <a:t>Strong chemistry modelling but limited </a:t>
            </a:r>
            <a:r>
              <a:rPr dirty="0" err="1"/>
              <a:t>topolog</a:t>
            </a:r>
            <a:r>
              <a:rPr lang="en-SG" dirty="0" err="1"/>
              <a:t>ical</a:t>
            </a:r>
            <a:r>
              <a:rPr lang="en-SG" dirty="0"/>
              <a:t> freedom</a:t>
            </a:r>
          </a:p>
          <a:p>
            <a:pPr lvl="1"/>
            <a:r>
              <a:rPr lang="en-SG" dirty="0"/>
              <a:t>Also all-atom but assumes mostly fixed backbone</a:t>
            </a:r>
          </a:p>
          <a:p>
            <a:pPr lvl="1"/>
            <a:r>
              <a:rPr lang="en-SG" dirty="0"/>
              <a:t>Can’t easily invent new global folds</a:t>
            </a:r>
          </a:p>
          <a:p>
            <a:r>
              <a:rPr dirty="0"/>
              <a:t>Typically not end-to-end structure generators</a:t>
            </a:r>
            <a:endParaRPr lang="en-SG" dirty="0"/>
          </a:p>
          <a:p>
            <a:r>
              <a:rPr lang="en-US" dirty="0" err="1"/>
              <a:t>BoltzGen</a:t>
            </a:r>
            <a:r>
              <a:rPr lang="en-US" dirty="0"/>
              <a:t> </a:t>
            </a:r>
            <a:r>
              <a:rPr lang="en-US" dirty="0" err="1"/>
              <a:t>internalises</a:t>
            </a:r>
            <a:r>
              <a:rPr lang="en-US" dirty="0"/>
              <a:t> physical chemistry rules (bond geometry, </a:t>
            </a:r>
            <a:r>
              <a:rPr lang="en-US" dirty="0" err="1"/>
              <a:t>sterics</a:t>
            </a:r>
            <a:r>
              <a:rPr lang="en-US" dirty="0"/>
              <a:t>, and energy landscapes), but assumes topology is mostly fixed</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PepMLM</a:t>
            </a:r>
            <a:r>
              <a:rPr dirty="0"/>
              <a:t> and Sequence-First Models</a:t>
            </a:r>
          </a:p>
        </p:txBody>
      </p:sp>
      <p:sp>
        <p:nvSpPr>
          <p:cNvPr id="3" name="Content Placeholder 2"/>
          <p:cNvSpPr>
            <a:spLocks noGrp="1"/>
          </p:cNvSpPr>
          <p:nvPr>
            <p:ph idx="1"/>
          </p:nvPr>
        </p:nvSpPr>
        <p:spPr/>
        <p:txBody>
          <a:bodyPr>
            <a:normAutofit lnSpcReduction="10000"/>
          </a:bodyPr>
          <a:lstStyle/>
          <a:p>
            <a:r>
              <a:rPr lang="en-SG" dirty="0">
                <a:latin typeface="+mj-lt"/>
              </a:rPr>
              <a:t>Fine-tuned ESM2(Protein Language Model) </a:t>
            </a:r>
            <a:r>
              <a:rPr dirty="0">
                <a:latin typeface="+mj-lt"/>
              </a:rPr>
              <a:t>on peptide</a:t>
            </a:r>
            <a:r>
              <a:rPr lang="en-SG" dirty="0">
                <a:latin typeface="+mj-lt"/>
              </a:rPr>
              <a:t> binders</a:t>
            </a:r>
          </a:p>
          <a:p>
            <a:r>
              <a:rPr lang="en-US" dirty="0">
                <a:latin typeface="+mj-lt"/>
              </a:rPr>
              <a:t>Sequence-first models treat proteins as </a:t>
            </a:r>
            <a:r>
              <a:rPr lang="en-US" b="1" dirty="0">
                <a:latin typeface="+mj-lt"/>
              </a:rPr>
              <a:t>strings of amino acids</a:t>
            </a:r>
            <a:r>
              <a:rPr lang="en-US" dirty="0">
                <a:latin typeface="+mj-lt"/>
              </a:rPr>
              <a:t>, similar to how language models treat text.</a:t>
            </a:r>
            <a:r>
              <a:rPr dirty="0">
                <a:latin typeface="+mj-lt"/>
              </a:rPr>
              <a:t> </a:t>
            </a:r>
            <a:endParaRPr lang="en-SG" dirty="0">
              <a:latin typeface="+mj-lt"/>
            </a:endParaRPr>
          </a:p>
          <a:p>
            <a:r>
              <a:rPr dirty="0">
                <a:latin typeface="+mj-lt"/>
              </a:rPr>
              <a:t>Good </a:t>
            </a:r>
            <a:r>
              <a:rPr lang="en-SG" dirty="0">
                <a:latin typeface="+mj-lt"/>
              </a:rPr>
              <a:t>for</a:t>
            </a:r>
            <a:r>
              <a:rPr dirty="0">
                <a:latin typeface="+mj-lt"/>
              </a:rPr>
              <a:t> motif discovery </a:t>
            </a:r>
            <a:r>
              <a:rPr lang="en-SG" dirty="0">
                <a:latin typeface="+mj-lt"/>
              </a:rPr>
              <a:t>&amp;</a:t>
            </a:r>
            <a:r>
              <a:rPr dirty="0">
                <a:latin typeface="+mj-lt"/>
              </a:rPr>
              <a:t> sequence statistics</a:t>
            </a:r>
          </a:p>
          <a:p>
            <a:r>
              <a:rPr dirty="0">
                <a:latin typeface="+mj-lt"/>
              </a:rPr>
              <a:t>No explicit 3D reasoning</a:t>
            </a:r>
            <a:r>
              <a:rPr lang="en-SG" dirty="0">
                <a:latin typeface="+mj-lt"/>
              </a:rPr>
              <a:t>/physical foldability</a:t>
            </a:r>
            <a:endParaRPr dirty="0">
              <a:latin typeface="+mj-lt"/>
            </a:endParaRPr>
          </a:p>
          <a:p>
            <a:r>
              <a:rPr lang="en-SG" dirty="0">
                <a:latin typeface="+mj-lt"/>
              </a:rPr>
              <a:t>Evaluation done after generation (Bad binders are discarded)</a:t>
            </a:r>
          </a:p>
          <a:p>
            <a:r>
              <a:rPr lang="en-US" altLang="en-US" dirty="0" err="1">
                <a:latin typeface="+mj-lt"/>
              </a:rPr>
              <a:t>PepMLM</a:t>
            </a:r>
            <a:r>
              <a:rPr lang="en-US" altLang="en-US" dirty="0">
                <a:latin typeface="+mj-lt"/>
              </a:rPr>
              <a:t>: Learns what sequences look like</a:t>
            </a:r>
          </a:p>
          <a:p>
            <a:r>
              <a:rPr lang="en-US" altLang="en-US" dirty="0" err="1">
                <a:latin typeface="+mj-lt"/>
              </a:rPr>
              <a:t>Rfdiffusion</a:t>
            </a:r>
            <a:r>
              <a:rPr lang="en-US" altLang="en-US" dirty="0">
                <a:latin typeface="+mj-lt"/>
              </a:rPr>
              <a:t>: Learns what structures look like</a:t>
            </a:r>
          </a:p>
          <a:p>
            <a:endParaRPr lang="en-SG" dirty="0">
              <a:latin typeface="+mj-lt"/>
            </a:endParaRPr>
          </a:p>
          <a:p>
            <a:endParaRPr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Diffusion vs Sequence-Only Models</a:t>
            </a:r>
          </a:p>
        </p:txBody>
      </p:sp>
      <p:sp>
        <p:nvSpPr>
          <p:cNvPr id="3" name="Content Placeholder 2"/>
          <p:cNvSpPr>
            <a:spLocks noGrp="1"/>
          </p:cNvSpPr>
          <p:nvPr>
            <p:ph idx="1"/>
          </p:nvPr>
        </p:nvSpPr>
        <p:spPr/>
        <p:txBody>
          <a:bodyPr/>
          <a:lstStyle/>
          <a:p>
            <a:r>
              <a:rPr dirty="0"/>
              <a:t>Sequence models learn evolutionary priors</a:t>
            </a:r>
            <a:endParaRPr lang="en-SG" dirty="0"/>
          </a:p>
          <a:p>
            <a:pPr lvl="1"/>
            <a:r>
              <a:rPr lang="en-SG" dirty="0"/>
              <a:t>trained on real-world protein sequences, biased by natural selection and real-world proteins</a:t>
            </a:r>
            <a:endParaRPr dirty="0"/>
          </a:p>
          <a:p>
            <a:r>
              <a:rPr dirty="0"/>
              <a:t>Diffusion models learn physical geometry</a:t>
            </a:r>
            <a:endParaRPr lang="en-SG" dirty="0"/>
          </a:p>
          <a:p>
            <a:pPr lvl="1"/>
            <a:r>
              <a:rPr lang="en-US" dirty="0"/>
              <a:t>trained directly on </a:t>
            </a:r>
            <a:r>
              <a:rPr lang="en-US" b="1" dirty="0"/>
              <a:t>3D protein structures</a:t>
            </a:r>
            <a:endParaRPr dirty="0"/>
          </a:p>
          <a:p>
            <a:r>
              <a:rPr dirty="0"/>
              <a:t>Sequence-first risks implausible structures</a:t>
            </a:r>
          </a:p>
          <a:p>
            <a:r>
              <a:rPr dirty="0"/>
              <a:t>Diffusion-first enforces realism early</a:t>
            </a:r>
            <a:endParaRPr lang="en-SG" dirty="0"/>
          </a:p>
          <a:p>
            <a:pPr lvl="1"/>
            <a:r>
              <a:rPr lang="en-SG" dirty="0"/>
              <a:t>Enforces geometry at every step of generation</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 Paradigms Compared</a:t>
            </a:r>
          </a:p>
        </p:txBody>
      </p:sp>
      <p:sp>
        <p:nvSpPr>
          <p:cNvPr id="3" name="Content Placeholder 2"/>
          <p:cNvSpPr>
            <a:spLocks noGrp="1"/>
          </p:cNvSpPr>
          <p:nvPr>
            <p:ph idx="1"/>
          </p:nvPr>
        </p:nvSpPr>
        <p:spPr/>
        <p:txBody>
          <a:bodyPr>
            <a:normAutofit/>
          </a:bodyPr>
          <a:lstStyle/>
          <a:p>
            <a:r>
              <a:rPr dirty="0"/>
              <a:t>Heuristic</a:t>
            </a:r>
            <a:r>
              <a:rPr lang="en-SG" dirty="0"/>
              <a:t> Approach</a:t>
            </a:r>
            <a:r>
              <a:rPr dirty="0"/>
              <a:t>: </a:t>
            </a:r>
            <a:endParaRPr lang="en-SG" dirty="0"/>
          </a:p>
          <a:p>
            <a:pPr lvl="1"/>
            <a:r>
              <a:rPr lang="en-SG" dirty="0"/>
              <a:t>M</a:t>
            </a:r>
            <a:r>
              <a:rPr dirty="0" err="1"/>
              <a:t>utate</a:t>
            </a:r>
            <a:r>
              <a:rPr dirty="0"/>
              <a:t> then check</a:t>
            </a:r>
          </a:p>
          <a:p>
            <a:r>
              <a:rPr dirty="0"/>
              <a:t>Sequence L</a:t>
            </a:r>
            <a:r>
              <a:rPr lang="en-SG" dirty="0" err="1"/>
              <a:t>anguage</a:t>
            </a:r>
            <a:r>
              <a:rPr lang="en-SG" dirty="0"/>
              <a:t> </a:t>
            </a:r>
            <a:r>
              <a:rPr dirty="0"/>
              <a:t>M</a:t>
            </a:r>
            <a:r>
              <a:rPr lang="en-SG" dirty="0" err="1"/>
              <a:t>odels</a:t>
            </a:r>
            <a:r>
              <a:rPr dirty="0"/>
              <a:t>: </a:t>
            </a:r>
            <a:endParaRPr lang="en-SG" dirty="0"/>
          </a:p>
          <a:p>
            <a:pPr lvl="1"/>
            <a:r>
              <a:rPr lang="en-SG" dirty="0"/>
              <a:t>P</a:t>
            </a:r>
            <a:r>
              <a:rPr dirty="0" err="1"/>
              <a:t>ropose</a:t>
            </a:r>
            <a:r>
              <a:rPr dirty="0"/>
              <a:t> motifs then check</a:t>
            </a:r>
          </a:p>
          <a:p>
            <a:r>
              <a:rPr dirty="0"/>
              <a:t>Diffusion</a:t>
            </a:r>
            <a:r>
              <a:rPr lang="en-SG" dirty="0"/>
              <a:t> Models</a:t>
            </a:r>
            <a:r>
              <a:rPr dirty="0"/>
              <a:t>: </a:t>
            </a:r>
            <a:endParaRPr lang="en-SG" dirty="0"/>
          </a:p>
          <a:p>
            <a:pPr lvl="1"/>
            <a:r>
              <a:rPr lang="en-SG" dirty="0"/>
              <a:t>G</a:t>
            </a:r>
            <a:r>
              <a:rPr dirty="0" err="1"/>
              <a:t>enerate</a:t>
            </a:r>
            <a:r>
              <a:rPr dirty="0"/>
              <a:t> valid structure directly</a:t>
            </a:r>
            <a:endParaRPr lang="en-SG" dirty="0"/>
          </a:p>
          <a:p>
            <a:pPr lvl="1"/>
            <a:r>
              <a:rPr lang="en-US" dirty="0"/>
              <a:t>Don’t need to produce weak candidates that must be heavily fixed later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a:t>RFDiffusion</a:t>
            </a:r>
            <a:r>
              <a:rPr lang="en-SG" dirty="0"/>
              <a:t> </a:t>
            </a:r>
            <a:r>
              <a:rPr dirty="0"/>
              <a:t>Evolution Summary</a:t>
            </a:r>
          </a:p>
        </p:txBody>
      </p:sp>
      <p:sp>
        <p:nvSpPr>
          <p:cNvPr id="3" name="Content Placeholder 2"/>
          <p:cNvSpPr>
            <a:spLocks noGrp="1"/>
          </p:cNvSpPr>
          <p:nvPr>
            <p:ph idx="1"/>
          </p:nvPr>
        </p:nvSpPr>
        <p:spPr/>
        <p:txBody>
          <a:bodyPr>
            <a:normAutofit/>
          </a:bodyPr>
          <a:lstStyle/>
          <a:p>
            <a:r>
              <a:rPr lang="en-SG" dirty="0"/>
              <a:t>RFDiffusion1</a:t>
            </a:r>
            <a:r>
              <a:rPr dirty="0"/>
              <a:t>: Backbone</a:t>
            </a:r>
            <a:r>
              <a:rPr lang="en-SG" dirty="0"/>
              <a:t> diffusion</a:t>
            </a:r>
            <a:r>
              <a:rPr dirty="0"/>
              <a:t>, topology-focused</a:t>
            </a:r>
            <a:endParaRPr lang="en-SG" dirty="0"/>
          </a:p>
          <a:p>
            <a:pPr lvl="2"/>
            <a:r>
              <a:rPr lang="en-US" dirty="0"/>
              <a:t>Each amino acid residue is represented as a </a:t>
            </a:r>
            <a:r>
              <a:rPr lang="en-US" b="1" dirty="0"/>
              <a:t>rigid frame </a:t>
            </a:r>
            <a:r>
              <a:rPr lang="en-US" dirty="0"/>
              <a:t>(A rotation matrix + translation vector, </a:t>
            </a:r>
            <a:r>
              <a:rPr lang="en-US" dirty="0" err="1"/>
              <a:t>position+orientation</a:t>
            </a:r>
            <a:r>
              <a:rPr lang="en-US" dirty="0"/>
              <a:t>)</a:t>
            </a:r>
            <a:endParaRPr lang="en-US" b="1" dirty="0"/>
          </a:p>
          <a:p>
            <a:pPr lvl="1"/>
            <a:r>
              <a:rPr lang="en-US" dirty="0"/>
              <a:t>Diffuses backbones</a:t>
            </a:r>
          </a:p>
          <a:p>
            <a:pPr lvl="2"/>
            <a:r>
              <a:rPr lang="en-US" dirty="0"/>
              <a:t>Side chains/atom types not represented </a:t>
            </a:r>
          </a:p>
          <a:p>
            <a:r>
              <a:rPr lang="en-SG" dirty="0" err="1"/>
              <a:t>RFDiffusion</a:t>
            </a:r>
            <a:r>
              <a:rPr dirty="0"/>
              <a:t>2: Backbone diffusion </a:t>
            </a:r>
            <a:r>
              <a:rPr lang="en-SG" dirty="0"/>
              <a:t>+</a:t>
            </a:r>
            <a:r>
              <a:rPr dirty="0"/>
              <a:t> chemistry-aware losses</a:t>
            </a:r>
            <a:endParaRPr lang="en-SG" dirty="0"/>
          </a:p>
          <a:p>
            <a:pPr lvl="1"/>
            <a:r>
              <a:rPr lang="en-US" dirty="0"/>
              <a:t>Introduced atom-level conditioning and losses</a:t>
            </a:r>
          </a:p>
          <a:p>
            <a:pPr lvl="1"/>
            <a:r>
              <a:rPr lang="en-US" dirty="0"/>
              <a:t>Computes losses based on distances/angles/orientations b/w atoms of interest (side chains/ligands)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AD81D-AB42-5616-B197-518C057569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45C79-CD64-4F76-1CB0-BD75D1186968}"/>
              </a:ext>
            </a:extLst>
          </p:cNvPr>
          <p:cNvSpPr>
            <a:spLocks noGrp="1"/>
          </p:cNvSpPr>
          <p:nvPr>
            <p:ph type="title"/>
          </p:nvPr>
        </p:nvSpPr>
        <p:spPr/>
        <p:txBody>
          <a:bodyPr/>
          <a:lstStyle/>
          <a:p>
            <a:r>
              <a:rPr lang="en-SG" dirty="0" err="1"/>
              <a:t>RFDiffusion</a:t>
            </a:r>
            <a:r>
              <a:rPr lang="en-SG" dirty="0"/>
              <a:t> </a:t>
            </a:r>
            <a:r>
              <a:rPr dirty="0"/>
              <a:t>Evolution Summary</a:t>
            </a:r>
          </a:p>
        </p:txBody>
      </p:sp>
      <p:sp>
        <p:nvSpPr>
          <p:cNvPr id="3" name="Content Placeholder 2">
            <a:extLst>
              <a:ext uri="{FF2B5EF4-FFF2-40B4-BE49-F238E27FC236}">
                <a16:creationId xmlns:a16="http://schemas.microsoft.com/office/drawing/2014/main" id="{1D00B942-E601-EBA3-0721-8775243273B7}"/>
              </a:ext>
            </a:extLst>
          </p:cNvPr>
          <p:cNvSpPr>
            <a:spLocks noGrp="1"/>
          </p:cNvSpPr>
          <p:nvPr>
            <p:ph idx="1"/>
          </p:nvPr>
        </p:nvSpPr>
        <p:spPr>
          <a:xfrm>
            <a:off x="609600" y="1600201"/>
            <a:ext cx="10972800" cy="4840356"/>
          </a:xfrm>
        </p:spPr>
        <p:txBody>
          <a:bodyPr>
            <a:normAutofit fontScale="85000" lnSpcReduction="20000"/>
          </a:bodyPr>
          <a:lstStyle/>
          <a:p>
            <a:r>
              <a:rPr lang="en-SG" dirty="0"/>
              <a:t>RFDiffusion3: Full all-atom generative modelling</a:t>
            </a:r>
          </a:p>
          <a:p>
            <a:pPr lvl="1"/>
            <a:r>
              <a:rPr lang="en-US" dirty="0"/>
              <a:t>Uses ALL atoms (even non-proteins) during diffusion</a:t>
            </a:r>
          </a:p>
          <a:p>
            <a:pPr lvl="1"/>
            <a:r>
              <a:rPr lang="en-US" dirty="0"/>
              <a:t>Can shape structures at full atomic resolution</a:t>
            </a:r>
          </a:p>
          <a:p>
            <a:pPr lvl="1"/>
            <a:r>
              <a:rPr lang="en-US" dirty="0"/>
              <a:t>No separate post-hoc steps to make design chemically feasible</a:t>
            </a:r>
          </a:p>
          <a:p>
            <a:pPr lvl="2"/>
            <a:r>
              <a:rPr lang="en-US" dirty="0"/>
              <a:t>Learns chemically valid arrangements directly instead of approximating them through losses</a:t>
            </a:r>
          </a:p>
          <a:p>
            <a:pPr lvl="1"/>
            <a:r>
              <a:rPr lang="en-US" dirty="0"/>
              <a:t>Generates interfaces and active sites with coordinated atomic placement across all components</a:t>
            </a:r>
          </a:p>
          <a:p>
            <a:pPr lvl="1"/>
            <a:r>
              <a:rPr lang="en-US" dirty="0"/>
              <a:t>Produces designs that are immediately suitable for downstream evaluation and filtering</a:t>
            </a:r>
          </a:p>
          <a:p>
            <a:pPr lvl="1"/>
            <a:r>
              <a:rPr lang="en-US" dirty="0"/>
              <a:t>Enables complex design tasks </a:t>
            </a:r>
          </a:p>
          <a:p>
            <a:pPr lvl="2"/>
            <a:r>
              <a:rPr lang="en-US" dirty="0"/>
              <a:t>Enzyme active sites</a:t>
            </a:r>
          </a:p>
          <a:p>
            <a:pPr lvl="2"/>
            <a:r>
              <a:rPr lang="en-US" dirty="0"/>
              <a:t>Ligand binding</a:t>
            </a:r>
          </a:p>
          <a:p>
            <a:pPr lvl="2"/>
            <a:r>
              <a:rPr lang="en-US" dirty="0"/>
              <a:t>Multi-partner interfaces (DNA &amp; RNA) in a single run</a:t>
            </a:r>
          </a:p>
          <a:p>
            <a:pPr lvl="1"/>
            <a:endParaRPr lang="en-US" dirty="0"/>
          </a:p>
          <a:p>
            <a:pPr lvl="1"/>
            <a:endParaRPr lang="en-SG" dirty="0"/>
          </a:p>
          <a:p>
            <a:pPr lvl="1"/>
            <a:endParaRPr lang="en-SG" dirty="0"/>
          </a:p>
        </p:txBody>
      </p:sp>
    </p:spTree>
    <p:extLst>
      <p:ext uri="{BB962C8B-B14F-4D97-AF65-F5344CB8AC3E}">
        <p14:creationId xmlns:p14="http://schemas.microsoft.com/office/powerpoint/2010/main" val="4124640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54ED-577A-B07B-3D2E-F5D97E63E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70307-E43E-B3EA-DE7B-E21C459052A5}"/>
              </a:ext>
            </a:extLst>
          </p:cNvPr>
          <p:cNvSpPr>
            <a:spLocks noGrp="1"/>
          </p:cNvSpPr>
          <p:nvPr>
            <p:ph type="title"/>
          </p:nvPr>
        </p:nvSpPr>
        <p:spPr/>
        <p:txBody>
          <a:bodyPr/>
          <a:lstStyle/>
          <a:p>
            <a:r>
              <a:rPr lang="en-SG" dirty="0" err="1"/>
              <a:t>RFDiffusion</a:t>
            </a:r>
            <a:r>
              <a:rPr lang="en-SG" dirty="0"/>
              <a:t> </a:t>
            </a:r>
            <a:r>
              <a:rPr dirty="0"/>
              <a:t>Evolution Summary</a:t>
            </a:r>
          </a:p>
        </p:txBody>
      </p:sp>
      <p:sp>
        <p:nvSpPr>
          <p:cNvPr id="3" name="Content Placeholder 2">
            <a:extLst>
              <a:ext uri="{FF2B5EF4-FFF2-40B4-BE49-F238E27FC236}">
                <a16:creationId xmlns:a16="http://schemas.microsoft.com/office/drawing/2014/main" id="{C59451B6-D161-4FCB-48E3-0DABA24CD321}"/>
              </a:ext>
            </a:extLst>
          </p:cNvPr>
          <p:cNvSpPr>
            <a:spLocks noGrp="1"/>
          </p:cNvSpPr>
          <p:nvPr>
            <p:ph idx="1"/>
          </p:nvPr>
        </p:nvSpPr>
        <p:spPr>
          <a:xfrm>
            <a:off x="609600" y="1600201"/>
            <a:ext cx="10972800" cy="4840356"/>
          </a:xfrm>
        </p:spPr>
        <p:txBody>
          <a:bodyPr>
            <a:normAutofit/>
          </a:bodyPr>
          <a:lstStyle/>
          <a:p>
            <a:r>
              <a:rPr lang="en-SG" dirty="0"/>
              <a:t>RFDiffusion3</a:t>
            </a:r>
          </a:p>
          <a:p>
            <a:r>
              <a:rPr lang="en-SG" dirty="0"/>
              <a:t>Reverse Diffusion (Engine):</a:t>
            </a:r>
          </a:p>
          <a:p>
            <a:pPr lvl="1"/>
            <a:r>
              <a:rPr lang="en-SG" dirty="0"/>
              <a:t>Actual generative power</a:t>
            </a:r>
          </a:p>
          <a:p>
            <a:pPr lvl="1"/>
            <a:r>
              <a:rPr lang="en-SG" dirty="0"/>
              <a:t>Turns noise into protein structure</a:t>
            </a:r>
          </a:p>
          <a:p>
            <a:r>
              <a:rPr lang="en-SG" dirty="0"/>
              <a:t>Constraints (Steering)</a:t>
            </a:r>
          </a:p>
          <a:p>
            <a:pPr lvl="1"/>
            <a:r>
              <a:rPr lang="en-SG" dirty="0"/>
              <a:t>Controls direction, what kinds of structures are made</a:t>
            </a:r>
          </a:p>
          <a:p>
            <a:pPr lvl="1"/>
            <a:endParaRPr lang="en-SG" dirty="0"/>
          </a:p>
        </p:txBody>
      </p:sp>
      <p:pic>
        <p:nvPicPr>
          <p:cNvPr id="5" name="Graphic 4" descr="Car with solid fill">
            <a:extLst>
              <a:ext uri="{FF2B5EF4-FFF2-40B4-BE49-F238E27FC236}">
                <a16:creationId xmlns:a16="http://schemas.microsoft.com/office/drawing/2014/main" id="{7DE85768-BCDB-B07F-E8BF-E2CA240000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16927" y="2971800"/>
            <a:ext cx="914400" cy="914400"/>
          </a:xfrm>
          <a:prstGeom prst="rect">
            <a:avLst/>
          </a:prstGeom>
        </p:spPr>
      </p:pic>
      <p:pic>
        <p:nvPicPr>
          <p:cNvPr id="7" name="Graphic 6" descr="Steering Wheel with solid fill">
            <a:extLst>
              <a:ext uri="{FF2B5EF4-FFF2-40B4-BE49-F238E27FC236}">
                <a16:creationId xmlns:a16="http://schemas.microsoft.com/office/drawing/2014/main" id="{92E6AF29-CE96-9ADE-FB99-19C03767CF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60477" y="1681442"/>
            <a:ext cx="914400" cy="914400"/>
          </a:xfrm>
          <a:prstGeom prst="rect">
            <a:avLst/>
          </a:prstGeom>
        </p:spPr>
      </p:pic>
      <p:pic>
        <p:nvPicPr>
          <p:cNvPr id="15362" name="Picture 2" descr="Car Engine Icon #170738 - Free Icons Library">
            <a:extLst>
              <a:ext uri="{FF2B5EF4-FFF2-40B4-BE49-F238E27FC236}">
                <a16:creationId xmlns:a16="http://schemas.microsoft.com/office/drawing/2014/main" id="{ACFEBDE5-1E7B-C96B-86E5-B46E1A7C8F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71338" y="3716624"/>
            <a:ext cx="1027450" cy="10274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C67D638-0C75-9F50-7F6D-2E005E693AE2}"/>
              </a:ext>
            </a:extLst>
          </p:cNvPr>
          <p:cNvSpPr txBox="1"/>
          <p:nvPr/>
        </p:nvSpPr>
        <p:spPr>
          <a:xfrm>
            <a:off x="7277475" y="2595842"/>
            <a:ext cx="1427955" cy="369332"/>
          </a:xfrm>
          <a:prstGeom prst="rect">
            <a:avLst/>
          </a:prstGeom>
          <a:noFill/>
        </p:spPr>
        <p:txBody>
          <a:bodyPr wrap="none" rtlCol="0">
            <a:spAutoFit/>
          </a:bodyPr>
          <a:lstStyle/>
          <a:p>
            <a:r>
              <a:rPr lang="en-SG" dirty="0" err="1"/>
              <a:t>RFDiffusion</a:t>
            </a:r>
            <a:r>
              <a:rPr lang="en-SG" dirty="0"/>
              <a:t> 3</a:t>
            </a:r>
          </a:p>
        </p:txBody>
      </p:sp>
      <p:sp>
        <p:nvSpPr>
          <p:cNvPr id="9" name="TextBox 8">
            <a:extLst>
              <a:ext uri="{FF2B5EF4-FFF2-40B4-BE49-F238E27FC236}">
                <a16:creationId xmlns:a16="http://schemas.microsoft.com/office/drawing/2014/main" id="{FA5675D7-7E1B-EB70-1D43-0392BCCD67C0}"/>
              </a:ext>
            </a:extLst>
          </p:cNvPr>
          <p:cNvSpPr txBox="1"/>
          <p:nvPr/>
        </p:nvSpPr>
        <p:spPr>
          <a:xfrm>
            <a:off x="9632589" y="4671664"/>
            <a:ext cx="1814086" cy="369332"/>
          </a:xfrm>
          <a:prstGeom prst="rect">
            <a:avLst/>
          </a:prstGeom>
          <a:noFill/>
        </p:spPr>
        <p:txBody>
          <a:bodyPr wrap="none" rtlCol="0">
            <a:spAutoFit/>
          </a:bodyPr>
          <a:lstStyle/>
          <a:p>
            <a:r>
              <a:rPr lang="en-SG" dirty="0"/>
              <a:t>Reverse Diffusion</a:t>
            </a:r>
          </a:p>
        </p:txBody>
      </p:sp>
      <p:sp>
        <p:nvSpPr>
          <p:cNvPr id="10" name="TextBox 9">
            <a:extLst>
              <a:ext uri="{FF2B5EF4-FFF2-40B4-BE49-F238E27FC236}">
                <a16:creationId xmlns:a16="http://schemas.microsoft.com/office/drawing/2014/main" id="{2E45B5E5-2A76-A0DE-1BE4-6C29CE095E74}"/>
              </a:ext>
            </a:extLst>
          </p:cNvPr>
          <p:cNvSpPr txBox="1"/>
          <p:nvPr/>
        </p:nvSpPr>
        <p:spPr>
          <a:xfrm>
            <a:off x="9897058" y="1324254"/>
            <a:ext cx="1241237" cy="369332"/>
          </a:xfrm>
          <a:prstGeom prst="rect">
            <a:avLst/>
          </a:prstGeom>
          <a:noFill/>
        </p:spPr>
        <p:txBody>
          <a:bodyPr wrap="none" rtlCol="0">
            <a:spAutoFit/>
          </a:bodyPr>
          <a:lstStyle/>
          <a:p>
            <a:r>
              <a:rPr lang="en-SG" dirty="0"/>
              <a:t>Constraints</a:t>
            </a:r>
          </a:p>
        </p:txBody>
      </p:sp>
      <p:cxnSp>
        <p:nvCxnSpPr>
          <p:cNvPr id="12" name="Straight Arrow Connector 11">
            <a:extLst>
              <a:ext uri="{FF2B5EF4-FFF2-40B4-BE49-F238E27FC236}">
                <a16:creationId xmlns:a16="http://schemas.microsoft.com/office/drawing/2014/main" id="{0065B42B-C0CA-93A5-F48E-CEA64B6D40DF}"/>
              </a:ext>
            </a:extLst>
          </p:cNvPr>
          <p:cNvCxnSpPr/>
          <p:nvPr/>
        </p:nvCxnSpPr>
        <p:spPr>
          <a:xfrm flipV="1">
            <a:off x="8868849" y="2437958"/>
            <a:ext cx="1011475" cy="609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5AD0740A-3C43-8A4F-3C92-7AA3A8E4BC8B}"/>
              </a:ext>
            </a:extLst>
          </p:cNvPr>
          <p:cNvCxnSpPr/>
          <p:nvPr/>
        </p:nvCxnSpPr>
        <p:spPr>
          <a:xfrm>
            <a:off x="8705430" y="3525078"/>
            <a:ext cx="1140935" cy="4953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8143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RFdiffusion1 (2023)</a:t>
            </a:r>
          </a:p>
        </p:txBody>
      </p:sp>
      <p:sp>
        <p:nvSpPr>
          <p:cNvPr id="3" name="Content Placeholder 2"/>
          <p:cNvSpPr>
            <a:spLocks noGrp="1"/>
          </p:cNvSpPr>
          <p:nvPr>
            <p:ph idx="1"/>
          </p:nvPr>
        </p:nvSpPr>
        <p:spPr/>
        <p:txBody>
          <a:bodyPr>
            <a:normAutofit fontScale="85000" lnSpcReduction="10000"/>
          </a:bodyPr>
          <a:lstStyle/>
          <a:p>
            <a:r>
              <a:rPr dirty="0"/>
              <a:t>Diffusion unit: residue-level rigid</a:t>
            </a:r>
            <a:r>
              <a:rPr lang="en-SG" dirty="0"/>
              <a:t>-</a:t>
            </a:r>
            <a:r>
              <a:rPr dirty="0"/>
              <a:t>frames </a:t>
            </a:r>
            <a:endParaRPr lang="en-SG" dirty="0"/>
          </a:p>
          <a:p>
            <a:pPr lvl="1"/>
            <a:r>
              <a:rPr lang="en-US" dirty="0"/>
              <a:t>does </a:t>
            </a:r>
            <a:r>
              <a:rPr lang="en-US" b="1" dirty="0"/>
              <a:t>not</a:t>
            </a:r>
            <a:r>
              <a:rPr lang="en-US" dirty="0"/>
              <a:t> diffuse individual atoms</a:t>
            </a:r>
          </a:p>
          <a:p>
            <a:pPr lvl="1"/>
            <a:r>
              <a:rPr lang="en-US" dirty="0"/>
              <a:t>Instead, each amino acid residue is represented as a </a:t>
            </a:r>
            <a:r>
              <a:rPr lang="en-US" b="1" dirty="0"/>
              <a:t>rigid-frame</a:t>
            </a:r>
            <a:r>
              <a:rPr lang="en-US" dirty="0"/>
              <a:t>, defined by:</a:t>
            </a:r>
          </a:p>
          <a:p>
            <a:pPr lvl="2"/>
            <a:r>
              <a:rPr lang="en-US" dirty="0"/>
              <a:t>A rotation matrix</a:t>
            </a:r>
          </a:p>
          <a:p>
            <a:pPr lvl="2"/>
            <a:r>
              <a:rPr lang="en-US" dirty="0"/>
              <a:t>A translation vector</a:t>
            </a:r>
          </a:p>
          <a:p>
            <a:pPr lvl="1"/>
            <a:r>
              <a:rPr lang="en-US" dirty="0"/>
              <a:t>This frame corresponds to the position and orientation of that residue’s backbone</a:t>
            </a:r>
          </a:p>
          <a:p>
            <a:r>
              <a:rPr dirty="0"/>
              <a:t>Only backbone geometry exists during diffusion</a:t>
            </a:r>
          </a:p>
          <a:p>
            <a:pPr lvl="1"/>
            <a:r>
              <a:rPr dirty="0"/>
              <a:t>Side chains, ligands handled after generation</a:t>
            </a:r>
          </a:p>
          <a:p>
            <a:r>
              <a:rPr dirty="0"/>
              <a:t>Constraints operate at residue or topology level</a:t>
            </a:r>
          </a:p>
          <a:p>
            <a:r>
              <a:rPr dirty="0"/>
              <a:t>Best suited for binders, scaffolds, symmetry, topology design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RFdiffusion1: How it Works</a:t>
            </a:r>
          </a:p>
        </p:txBody>
      </p:sp>
      <p:sp>
        <p:nvSpPr>
          <p:cNvPr id="3" name="Content Placeholder 2"/>
          <p:cNvSpPr>
            <a:spLocks noGrp="1"/>
          </p:cNvSpPr>
          <p:nvPr>
            <p:ph idx="1"/>
          </p:nvPr>
        </p:nvSpPr>
        <p:spPr/>
        <p:txBody>
          <a:bodyPr>
            <a:normAutofit fontScale="70000" lnSpcReduction="20000"/>
          </a:bodyPr>
          <a:lstStyle/>
          <a:p>
            <a:r>
              <a:rPr dirty="0"/>
              <a:t>Forward process</a:t>
            </a:r>
            <a:r>
              <a:rPr lang="en-SG" dirty="0"/>
              <a:t> (training)</a:t>
            </a:r>
            <a:r>
              <a:rPr dirty="0"/>
              <a:t> adds noise to residue frames</a:t>
            </a:r>
            <a:endParaRPr lang="en-SG" dirty="0"/>
          </a:p>
          <a:p>
            <a:pPr lvl="1"/>
            <a:r>
              <a:rPr lang="en-US" dirty="0"/>
              <a:t>gradually corrupt a real protein backbone by adding noise to their rigid-frames</a:t>
            </a:r>
            <a:endParaRPr dirty="0"/>
          </a:p>
          <a:p>
            <a:r>
              <a:rPr dirty="0"/>
              <a:t>Reverse process</a:t>
            </a:r>
            <a:r>
              <a:rPr lang="en-SG" dirty="0"/>
              <a:t> (generation)</a:t>
            </a:r>
            <a:r>
              <a:rPr dirty="0"/>
              <a:t> denoises frames step by step</a:t>
            </a:r>
          </a:p>
          <a:p>
            <a:r>
              <a:rPr lang="en-SG" dirty="0"/>
              <a:t>Model</a:t>
            </a:r>
            <a:r>
              <a:rPr dirty="0"/>
              <a:t> learns protein-like backbone geometry</a:t>
            </a:r>
            <a:r>
              <a:rPr lang="en-SG" dirty="0"/>
              <a:t> (statistics of a protein structure)</a:t>
            </a:r>
            <a:endParaRPr dirty="0"/>
          </a:p>
          <a:p>
            <a:r>
              <a:rPr dirty="0"/>
              <a:t>Partial diffusion enables motif preservation</a:t>
            </a:r>
            <a:endParaRPr lang="en-SG" dirty="0"/>
          </a:p>
          <a:p>
            <a:pPr lvl="1"/>
            <a:r>
              <a:rPr lang="en-SG" dirty="0"/>
              <a:t>Residues are split into 2 sets:</a:t>
            </a:r>
          </a:p>
          <a:p>
            <a:pPr lvl="2"/>
            <a:r>
              <a:rPr lang="en-US" dirty="0"/>
              <a:t>fixed motif residues (kept clean, not noised)</a:t>
            </a:r>
          </a:p>
          <a:p>
            <a:pPr lvl="2"/>
            <a:r>
              <a:rPr lang="en-US" dirty="0"/>
              <a:t>designable residues (noised and regenerated)</a:t>
            </a:r>
          </a:p>
          <a:p>
            <a:pPr lvl="1"/>
            <a:r>
              <a:rPr lang="en-SG" dirty="0"/>
              <a:t>During generation:</a:t>
            </a:r>
          </a:p>
          <a:p>
            <a:pPr lvl="2"/>
            <a:r>
              <a:rPr lang="en-US" dirty="0"/>
              <a:t>the motif backbone stays exactly where it is</a:t>
            </a:r>
          </a:p>
          <a:p>
            <a:pPr lvl="2"/>
            <a:r>
              <a:rPr lang="en-US" dirty="0"/>
              <a:t>the rest of the protein is generated around it</a:t>
            </a:r>
          </a:p>
          <a:p>
            <a:pPr lvl="1"/>
            <a:r>
              <a:rPr lang="en-SG" dirty="0"/>
              <a:t>Enabling preservation of:</a:t>
            </a:r>
          </a:p>
          <a:p>
            <a:pPr lvl="2"/>
            <a:r>
              <a:rPr lang="en-SG" dirty="0"/>
              <a:t>Epitopes, binding loops, etc. while still designing something new</a:t>
            </a:r>
            <a:endParaRPr dirty="0"/>
          </a:p>
          <a:p>
            <a:r>
              <a:rPr dirty="0"/>
              <a:t>Sequence assigned later using </a:t>
            </a:r>
            <a:r>
              <a:rPr dirty="0" err="1"/>
              <a:t>ProteinMPNN</a:t>
            </a:r>
            <a:endParaRPr dirty="0"/>
          </a:p>
        </p:txBody>
      </p:sp>
      <p:pic>
        <p:nvPicPr>
          <p:cNvPr id="4" name="Picture 2" descr="The forward and backward processes of the diffusion model. The credit... |  Download Scientific Diagram">
            <a:extLst>
              <a:ext uri="{FF2B5EF4-FFF2-40B4-BE49-F238E27FC236}">
                <a16:creationId xmlns:a16="http://schemas.microsoft.com/office/drawing/2014/main" id="{D99D900D-D2C0-3AA0-7F69-78AC9E85E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1656" y="3263174"/>
            <a:ext cx="4790347" cy="186541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The forward and backward processes of the diffusion model. The credit... |  Download Scientific Diagram">
            <a:extLst>
              <a:ext uri="{FF2B5EF4-FFF2-40B4-BE49-F238E27FC236}">
                <a16:creationId xmlns:a16="http://schemas.microsoft.com/office/drawing/2014/main" id="{6B490DA1-B622-52C2-0C6E-CC74A50E4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4056" y="3415574"/>
            <a:ext cx="4790347" cy="18654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RFdiffusion2</a:t>
            </a:r>
            <a:r>
              <a:rPr lang="en-SG" dirty="0"/>
              <a:t> (April 2025)</a:t>
            </a:r>
            <a:r>
              <a:rPr dirty="0"/>
              <a:t>: Motivation</a:t>
            </a:r>
          </a:p>
        </p:txBody>
      </p:sp>
      <p:sp>
        <p:nvSpPr>
          <p:cNvPr id="3" name="Content Placeholder 2"/>
          <p:cNvSpPr>
            <a:spLocks noGrp="1"/>
          </p:cNvSpPr>
          <p:nvPr>
            <p:ph idx="1"/>
          </p:nvPr>
        </p:nvSpPr>
        <p:spPr>
          <a:xfrm>
            <a:off x="523461" y="1166018"/>
            <a:ext cx="10972800" cy="4525963"/>
          </a:xfrm>
        </p:spPr>
        <p:txBody>
          <a:bodyPr>
            <a:noAutofit/>
          </a:bodyPr>
          <a:lstStyle/>
          <a:p>
            <a:r>
              <a:rPr sz="2000" dirty="0"/>
              <a:t>Enzyme design requires precise atomic geometry</a:t>
            </a:r>
            <a:endParaRPr lang="en-SG" sz="2000" dirty="0"/>
          </a:p>
          <a:p>
            <a:pPr lvl="1"/>
            <a:r>
              <a:rPr lang="en-SG" sz="2000" dirty="0"/>
              <a:t>Enzymes work because:</a:t>
            </a:r>
          </a:p>
          <a:p>
            <a:pPr lvl="2"/>
            <a:r>
              <a:rPr lang="en-US" sz="2000" dirty="0"/>
              <a:t>Specific atoms must be positioned with high precision</a:t>
            </a:r>
          </a:p>
          <a:p>
            <a:pPr lvl="2"/>
            <a:r>
              <a:rPr lang="en-US" sz="2000" dirty="0"/>
              <a:t>Distances, angles, orientations between catalytic atoms matter</a:t>
            </a:r>
          </a:p>
          <a:p>
            <a:pPr lvl="2"/>
            <a:r>
              <a:rPr lang="en-US" sz="2000" dirty="0"/>
              <a:t>Small geometric errors can kill activity</a:t>
            </a:r>
            <a:endParaRPr sz="2000" dirty="0"/>
          </a:p>
          <a:p>
            <a:r>
              <a:rPr sz="2000" dirty="0"/>
              <a:t>Residue-level diffusion cannot express chemistry directly</a:t>
            </a:r>
            <a:endParaRPr lang="en-SG" sz="2000" dirty="0"/>
          </a:p>
          <a:p>
            <a:pPr lvl="1"/>
            <a:r>
              <a:rPr lang="en-SG" sz="2000" dirty="0"/>
              <a:t>In </a:t>
            </a:r>
            <a:r>
              <a:rPr lang="en-SG" sz="2000" dirty="0" err="1"/>
              <a:t>RFdiffusion</a:t>
            </a:r>
            <a:r>
              <a:rPr lang="en-SG" sz="2000" dirty="0"/>
              <a:t> 1:</a:t>
            </a:r>
          </a:p>
          <a:p>
            <a:pPr lvl="2"/>
            <a:r>
              <a:rPr lang="en-US" sz="2000" dirty="0"/>
              <a:t>The model only sees backbone frames </a:t>
            </a:r>
          </a:p>
          <a:p>
            <a:pPr lvl="2"/>
            <a:r>
              <a:rPr lang="en-US" sz="2000" dirty="0"/>
              <a:t>Side chains do not exist during diffusion </a:t>
            </a:r>
          </a:p>
          <a:p>
            <a:pPr lvl="2"/>
            <a:r>
              <a:rPr lang="en-US" sz="2000" dirty="0"/>
              <a:t>Atom types are not represented</a:t>
            </a:r>
          </a:p>
          <a:p>
            <a:pPr lvl="1"/>
            <a:r>
              <a:rPr lang="en-SG" sz="2000" dirty="0"/>
              <a:t>So the model cannot:</a:t>
            </a:r>
          </a:p>
          <a:p>
            <a:pPr lvl="2"/>
            <a:r>
              <a:rPr lang="en-US" sz="2000" dirty="0"/>
              <a:t>Place catalytic atoms explicitly </a:t>
            </a:r>
          </a:p>
          <a:p>
            <a:pPr lvl="2"/>
            <a:r>
              <a:rPr lang="en-US" sz="2000" dirty="0"/>
              <a:t>Reason about bond angles or chemistry </a:t>
            </a:r>
          </a:p>
          <a:p>
            <a:pPr lvl="2"/>
            <a:r>
              <a:rPr lang="en-US" sz="2000" dirty="0"/>
              <a:t>Guarantee correct active site geometry</a:t>
            </a:r>
            <a:endParaRPr sz="2000" dirty="0"/>
          </a:p>
          <a:p>
            <a:endParaRPr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8411-091B-B907-131F-4AF8A50DB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75CED-5D09-8333-2A94-467336A507AE}"/>
              </a:ext>
            </a:extLst>
          </p:cNvPr>
          <p:cNvSpPr>
            <a:spLocks noGrp="1"/>
          </p:cNvSpPr>
          <p:nvPr>
            <p:ph type="title"/>
          </p:nvPr>
        </p:nvSpPr>
        <p:spPr/>
        <p:txBody>
          <a:bodyPr/>
          <a:lstStyle/>
          <a:p>
            <a:r>
              <a:rPr dirty="0"/>
              <a:t>RFdiffusion2: Motivation</a:t>
            </a:r>
          </a:p>
        </p:txBody>
      </p:sp>
      <p:sp>
        <p:nvSpPr>
          <p:cNvPr id="3" name="Content Placeholder 2">
            <a:extLst>
              <a:ext uri="{FF2B5EF4-FFF2-40B4-BE49-F238E27FC236}">
                <a16:creationId xmlns:a16="http://schemas.microsoft.com/office/drawing/2014/main" id="{517AE5C3-1AE4-B2C2-DFC6-7CB127C73D92}"/>
              </a:ext>
            </a:extLst>
          </p:cNvPr>
          <p:cNvSpPr>
            <a:spLocks noGrp="1"/>
          </p:cNvSpPr>
          <p:nvPr>
            <p:ph idx="1"/>
          </p:nvPr>
        </p:nvSpPr>
        <p:spPr>
          <a:xfrm>
            <a:off x="523461" y="1166018"/>
            <a:ext cx="10972800" cy="4525963"/>
          </a:xfrm>
        </p:spPr>
        <p:txBody>
          <a:bodyPr>
            <a:noAutofit/>
          </a:bodyPr>
          <a:lstStyle/>
          <a:p>
            <a:r>
              <a:rPr lang="en-US" sz="2400" dirty="0"/>
              <a:t>Need to encode catalytic constraints without full atom diffusion</a:t>
            </a:r>
          </a:p>
          <a:p>
            <a:pPr lvl="1"/>
            <a:r>
              <a:rPr lang="en-US" sz="2400" dirty="0"/>
              <a:t>At the time, full all-atom diffusion was: </a:t>
            </a:r>
          </a:p>
          <a:p>
            <a:pPr lvl="2"/>
            <a:r>
              <a:rPr lang="en-US" dirty="0"/>
              <a:t>Computationally expensive </a:t>
            </a:r>
          </a:p>
          <a:p>
            <a:pPr lvl="2"/>
            <a:r>
              <a:rPr lang="en-US" dirty="0"/>
              <a:t>Architecturally complex </a:t>
            </a:r>
          </a:p>
          <a:p>
            <a:pPr lvl="2"/>
            <a:r>
              <a:rPr lang="en-US" dirty="0"/>
              <a:t>Not yet stable at protein scale</a:t>
            </a:r>
          </a:p>
          <a:p>
            <a:pPr lvl="1"/>
            <a:r>
              <a:rPr lang="en-US" sz="2400" dirty="0" err="1"/>
              <a:t>RFdiffusion</a:t>
            </a:r>
            <a:r>
              <a:rPr lang="en-US" sz="2400" dirty="0"/>
              <a:t> 2 introduced a compromise:</a:t>
            </a:r>
          </a:p>
          <a:p>
            <a:pPr lvl="2"/>
            <a:r>
              <a:rPr lang="en-US" dirty="0"/>
              <a:t>Keep residue-level diffusion </a:t>
            </a:r>
          </a:p>
          <a:p>
            <a:pPr lvl="2"/>
            <a:r>
              <a:rPr lang="en-US" dirty="0"/>
              <a:t>Inject atom-level information as constraints and losses</a:t>
            </a:r>
          </a:p>
          <a:p>
            <a:pPr lvl="1"/>
            <a:r>
              <a:rPr lang="en-US" sz="2400" dirty="0"/>
              <a:t>Allowing:</a:t>
            </a:r>
          </a:p>
          <a:p>
            <a:pPr lvl="2"/>
            <a:r>
              <a:rPr lang="en-US" dirty="0"/>
              <a:t>Active site geometry to influence backbone generation </a:t>
            </a:r>
          </a:p>
          <a:p>
            <a:pPr lvl="2"/>
            <a:r>
              <a:rPr lang="en-US" dirty="0"/>
              <a:t>Enzyme design to be possible without diffusing every atom</a:t>
            </a:r>
            <a:endParaRPr dirty="0"/>
          </a:p>
        </p:txBody>
      </p:sp>
    </p:spTree>
    <p:extLst>
      <p:ext uri="{BB962C8B-B14F-4D97-AF65-F5344CB8AC3E}">
        <p14:creationId xmlns:p14="http://schemas.microsoft.com/office/powerpoint/2010/main" val="2733299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RFdiffusion2: Key Idea</a:t>
            </a:r>
          </a:p>
        </p:txBody>
      </p:sp>
      <p:sp>
        <p:nvSpPr>
          <p:cNvPr id="3" name="Content Placeholder 2"/>
          <p:cNvSpPr>
            <a:spLocks noGrp="1"/>
          </p:cNvSpPr>
          <p:nvPr>
            <p:ph idx="1"/>
          </p:nvPr>
        </p:nvSpPr>
        <p:spPr/>
        <p:txBody>
          <a:bodyPr>
            <a:normAutofit/>
          </a:bodyPr>
          <a:lstStyle/>
          <a:p>
            <a:r>
              <a:rPr lang="en-SG" dirty="0"/>
              <a:t>RFdiffusion2 was a bridge b/w RFD1 &amp; 3</a:t>
            </a:r>
          </a:p>
          <a:p>
            <a:r>
              <a:rPr lang="en-US" dirty="0" err="1"/>
              <a:t>RFdiffusion</a:t>
            </a:r>
            <a:r>
              <a:rPr lang="en-US" dirty="0"/>
              <a:t> 2 exists because:</a:t>
            </a:r>
          </a:p>
          <a:p>
            <a:pPr lvl="1"/>
            <a:r>
              <a:rPr lang="en-US" dirty="0"/>
              <a:t>Enzymes demand chemistry</a:t>
            </a:r>
          </a:p>
          <a:p>
            <a:pPr lvl="1"/>
            <a:r>
              <a:rPr lang="en-US" dirty="0" err="1"/>
              <a:t>RFdiffusion</a:t>
            </a:r>
            <a:r>
              <a:rPr lang="en-US" dirty="0"/>
              <a:t> 1 only had geometry</a:t>
            </a:r>
          </a:p>
          <a:p>
            <a:pPr lvl="1"/>
            <a:r>
              <a:rPr lang="en-US" dirty="0"/>
              <a:t>Full atom diffusion wasn’t ready yet</a:t>
            </a:r>
          </a:p>
          <a:p>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0198C-3C4D-34AE-990C-8A8DE2D87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21E47-8D05-CB86-EE0B-AC6BF41980E6}"/>
              </a:ext>
            </a:extLst>
          </p:cNvPr>
          <p:cNvSpPr>
            <a:spLocks noGrp="1"/>
          </p:cNvSpPr>
          <p:nvPr>
            <p:ph type="title"/>
          </p:nvPr>
        </p:nvSpPr>
        <p:spPr/>
        <p:txBody>
          <a:bodyPr/>
          <a:lstStyle/>
          <a:p>
            <a:r>
              <a:rPr dirty="0"/>
              <a:t>RFdiffusion2: Key Idea</a:t>
            </a:r>
          </a:p>
        </p:txBody>
      </p:sp>
      <p:sp>
        <p:nvSpPr>
          <p:cNvPr id="3" name="Content Placeholder 2">
            <a:extLst>
              <a:ext uri="{FF2B5EF4-FFF2-40B4-BE49-F238E27FC236}">
                <a16:creationId xmlns:a16="http://schemas.microsoft.com/office/drawing/2014/main" id="{C9024840-5854-2230-2860-4F77625892FF}"/>
              </a:ext>
            </a:extLst>
          </p:cNvPr>
          <p:cNvSpPr>
            <a:spLocks noGrp="1"/>
          </p:cNvSpPr>
          <p:nvPr>
            <p:ph idx="1"/>
          </p:nvPr>
        </p:nvSpPr>
        <p:spPr/>
        <p:txBody>
          <a:bodyPr>
            <a:normAutofit fontScale="92500" lnSpcReduction="20000"/>
          </a:bodyPr>
          <a:lstStyle/>
          <a:p>
            <a:r>
              <a:rPr lang="en-US" dirty="0"/>
              <a:t>Still diffuses residue frames, not atoms</a:t>
            </a:r>
          </a:p>
          <a:p>
            <a:pPr lvl="1"/>
            <a:r>
              <a:rPr lang="en-US" dirty="0"/>
              <a:t>Each residue is still a rigid frame </a:t>
            </a:r>
          </a:p>
          <a:p>
            <a:pPr lvl="1"/>
            <a:r>
              <a:rPr lang="en-US" dirty="0"/>
              <a:t>Only backbone geometry is generated directly </a:t>
            </a:r>
          </a:p>
          <a:p>
            <a:pPr lvl="1"/>
            <a:r>
              <a:rPr lang="en-US" dirty="0"/>
              <a:t>No side chains or atoms are moved during diffusion</a:t>
            </a:r>
          </a:p>
          <a:p>
            <a:r>
              <a:rPr lang="en-US" dirty="0"/>
              <a:t>What changed is </a:t>
            </a:r>
            <a:r>
              <a:rPr lang="en-US" b="1" dirty="0"/>
              <a:t>what the network is conditioned on &amp; trained against</a:t>
            </a:r>
          </a:p>
          <a:p>
            <a:pPr lvl="1"/>
            <a:r>
              <a:rPr lang="en-US" dirty="0"/>
              <a:t>Introduced atom-level conditioning and losses</a:t>
            </a:r>
          </a:p>
          <a:p>
            <a:pPr lvl="1"/>
            <a:r>
              <a:rPr lang="en-US" dirty="0"/>
              <a:t>Represents key atoms of interest, such as catalytic side chains or ligands</a:t>
            </a:r>
          </a:p>
          <a:p>
            <a:pPr lvl="1"/>
            <a:r>
              <a:rPr lang="en-US" dirty="0"/>
              <a:t>Computes losses based on distances/angles/orientations b/w those atoms</a:t>
            </a:r>
          </a:p>
          <a:p>
            <a:pPr lvl="1"/>
            <a:r>
              <a:rPr lang="en-US" dirty="0"/>
              <a:t>Backpropagates these losses during training and inference guidance </a:t>
            </a:r>
          </a:p>
          <a:p>
            <a:pPr lvl="1"/>
            <a:r>
              <a:rPr lang="en-US" dirty="0"/>
              <a:t>So even though atoms are not diffused, they affect learning</a:t>
            </a:r>
          </a:p>
        </p:txBody>
      </p:sp>
    </p:spTree>
    <p:extLst>
      <p:ext uri="{BB962C8B-B14F-4D97-AF65-F5344CB8AC3E}">
        <p14:creationId xmlns:p14="http://schemas.microsoft.com/office/powerpoint/2010/main" val="3090407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66B80-51BB-73C4-7C91-63BE5F021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257EC-835F-4251-C0DA-208D5261EEC8}"/>
              </a:ext>
            </a:extLst>
          </p:cNvPr>
          <p:cNvSpPr>
            <a:spLocks noGrp="1"/>
          </p:cNvSpPr>
          <p:nvPr>
            <p:ph type="title"/>
          </p:nvPr>
        </p:nvSpPr>
        <p:spPr/>
        <p:txBody>
          <a:bodyPr/>
          <a:lstStyle/>
          <a:p>
            <a:r>
              <a:rPr dirty="0"/>
              <a:t>RFdiffusion2: Key Idea</a:t>
            </a:r>
          </a:p>
        </p:txBody>
      </p:sp>
      <p:sp>
        <p:nvSpPr>
          <p:cNvPr id="3" name="Content Placeholder 2">
            <a:extLst>
              <a:ext uri="{FF2B5EF4-FFF2-40B4-BE49-F238E27FC236}">
                <a16:creationId xmlns:a16="http://schemas.microsoft.com/office/drawing/2014/main" id="{542B0085-67DB-A14A-FFA5-8C1270991532}"/>
              </a:ext>
            </a:extLst>
          </p:cNvPr>
          <p:cNvSpPr>
            <a:spLocks noGrp="1"/>
          </p:cNvSpPr>
          <p:nvPr>
            <p:ph idx="1"/>
          </p:nvPr>
        </p:nvSpPr>
        <p:spPr/>
        <p:txBody>
          <a:bodyPr>
            <a:normAutofit fontScale="92500" lnSpcReduction="20000"/>
          </a:bodyPr>
          <a:lstStyle/>
          <a:p>
            <a:r>
              <a:rPr lang="en-US" dirty="0"/>
              <a:t>Backbone generation guided by downstream chemical feasibility</a:t>
            </a:r>
          </a:p>
          <a:p>
            <a:pPr lvl="1"/>
            <a:r>
              <a:rPr lang="en-US" dirty="0"/>
              <a:t>Because atom-level losses are applied: </a:t>
            </a:r>
          </a:p>
          <a:p>
            <a:pPr lvl="2"/>
            <a:r>
              <a:rPr lang="en-US" dirty="0"/>
              <a:t>The backbone is encouraged to adopt geometries that could support the desired chemistry </a:t>
            </a:r>
          </a:p>
          <a:p>
            <a:pPr lvl="3"/>
            <a:r>
              <a:rPr lang="en-US" dirty="0"/>
              <a:t>Backbones that would make correct active site geometry impossible are </a:t>
            </a:r>
            <a:r>
              <a:rPr lang="en-US" dirty="0" err="1"/>
              <a:t>penalised</a:t>
            </a:r>
            <a:r>
              <a:rPr lang="en-US" dirty="0"/>
              <a:t> </a:t>
            </a:r>
          </a:p>
          <a:p>
            <a:pPr lvl="2"/>
            <a:r>
              <a:rPr lang="en-US" dirty="0"/>
              <a:t>This means backbone generation is no longer purely geometric, it’s biased toward chemically feasible structures</a:t>
            </a:r>
          </a:p>
          <a:p>
            <a:r>
              <a:rPr lang="en-US" dirty="0"/>
              <a:t>Active site atoms influence diffusion indirectly</a:t>
            </a:r>
          </a:p>
          <a:p>
            <a:pPr lvl="1"/>
            <a:r>
              <a:rPr lang="en-US" dirty="0"/>
              <a:t>Active site atoms aren’t explicitly generated/moved during diffusion</a:t>
            </a:r>
          </a:p>
          <a:p>
            <a:pPr lvl="1"/>
            <a:r>
              <a:rPr lang="en-US" dirty="0"/>
              <a:t>They:</a:t>
            </a:r>
          </a:p>
          <a:p>
            <a:pPr lvl="2"/>
            <a:r>
              <a:rPr lang="en-US" dirty="0"/>
              <a:t>Influence the diffusion trajectory through loss gradients </a:t>
            </a:r>
          </a:p>
          <a:p>
            <a:pPr lvl="2"/>
            <a:r>
              <a:rPr lang="en-US" dirty="0"/>
              <a:t>Steer backbone frames toward compatible configurations</a:t>
            </a:r>
          </a:p>
        </p:txBody>
      </p:sp>
    </p:spTree>
    <p:extLst>
      <p:ext uri="{BB962C8B-B14F-4D97-AF65-F5344CB8AC3E}">
        <p14:creationId xmlns:p14="http://schemas.microsoft.com/office/powerpoint/2010/main" val="3740450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RFdiffusion2: Limitations</a:t>
            </a:r>
          </a:p>
        </p:txBody>
      </p:sp>
      <p:sp>
        <p:nvSpPr>
          <p:cNvPr id="3" name="Content Placeholder 2"/>
          <p:cNvSpPr>
            <a:spLocks noGrp="1"/>
          </p:cNvSpPr>
          <p:nvPr>
            <p:ph idx="1"/>
          </p:nvPr>
        </p:nvSpPr>
        <p:spPr/>
        <p:txBody>
          <a:bodyPr>
            <a:normAutofit fontScale="92500" lnSpcReduction="10000"/>
          </a:bodyPr>
          <a:lstStyle/>
          <a:p>
            <a:r>
              <a:rPr dirty="0"/>
              <a:t>Atomic geometry not explicitly generated</a:t>
            </a:r>
            <a:r>
              <a:rPr lang="en-SG" dirty="0"/>
              <a:t>, only residue backbones</a:t>
            </a:r>
            <a:endParaRPr dirty="0"/>
          </a:p>
          <a:p>
            <a:r>
              <a:rPr dirty="0"/>
              <a:t>Side chains still resolved post-hoc</a:t>
            </a:r>
            <a:endParaRPr lang="en-SG" dirty="0"/>
          </a:p>
          <a:p>
            <a:pPr lvl="1"/>
            <a:r>
              <a:rPr lang="en-US" dirty="0"/>
              <a:t>Side chains are added after backbone generation using separate tools</a:t>
            </a:r>
          </a:p>
          <a:p>
            <a:pPr lvl="1"/>
            <a:r>
              <a:rPr lang="en-US" dirty="0"/>
              <a:t>correct chemistry is not guaranteed during diffusion</a:t>
            </a:r>
            <a:endParaRPr dirty="0"/>
          </a:p>
          <a:p>
            <a:r>
              <a:rPr dirty="0"/>
              <a:t>Constraints enforced via loss, not structure</a:t>
            </a:r>
            <a:endParaRPr lang="en-SG" dirty="0"/>
          </a:p>
          <a:p>
            <a:pPr lvl="1"/>
            <a:r>
              <a:rPr lang="en-US" dirty="0"/>
              <a:t>Chemical requirements are applied as penalties during optimization, rather than being built directly into the generated structure</a:t>
            </a:r>
            <a:endParaRPr dirty="0"/>
          </a:p>
          <a:p>
            <a:r>
              <a:rPr dirty="0"/>
              <a:t>Complex ligand or multi-partner systems remain difficult</a:t>
            </a:r>
            <a:endParaRPr lang="en-SG" dirty="0"/>
          </a:p>
          <a:p>
            <a:pPr lvl="1"/>
            <a:r>
              <a:rPr lang="en-US" dirty="0"/>
              <a:t>Systems with multiple interacting components require coordinated atomic placement, which is hard without full all-atom generation</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RFdiffusion3 (Dec 2025): An All-atom leap</a:t>
            </a:r>
          </a:p>
        </p:txBody>
      </p:sp>
      <p:sp>
        <p:nvSpPr>
          <p:cNvPr id="3" name="Content Placeholder 2"/>
          <p:cNvSpPr>
            <a:spLocks noGrp="1"/>
          </p:cNvSpPr>
          <p:nvPr>
            <p:ph idx="1"/>
          </p:nvPr>
        </p:nvSpPr>
        <p:spPr/>
        <p:txBody>
          <a:bodyPr>
            <a:normAutofit fontScale="77500" lnSpcReduction="20000"/>
          </a:bodyPr>
          <a:lstStyle/>
          <a:p>
            <a:r>
              <a:rPr lang="en-SG" dirty="0"/>
              <a:t>Enables all-atom generation</a:t>
            </a:r>
          </a:p>
          <a:p>
            <a:r>
              <a:rPr dirty="0"/>
              <a:t>Diffusion unit changes from residues to atoms</a:t>
            </a:r>
            <a:endParaRPr lang="en-SG" dirty="0"/>
          </a:p>
          <a:p>
            <a:pPr lvl="1"/>
            <a:r>
              <a:rPr lang="en-US" dirty="0"/>
              <a:t>No longer moving each amino acid as one rigid backbone ‘frame’</a:t>
            </a:r>
          </a:p>
          <a:p>
            <a:pPr lvl="1"/>
            <a:r>
              <a:rPr lang="en-US" dirty="0"/>
              <a:t>Diffuses the positions of individual atoms</a:t>
            </a:r>
          </a:p>
          <a:p>
            <a:pPr lvl="1"/>
            <a:r>
              <a:rPr lang="en-US" dirty="0"/>
              <a:t>Can shape structures at full atomic resolution</a:t>
            </a:r>
            <a:endParaRPr dirty="0"/>
          </a:p>
          <a:p>
            <a:r>
              <a:rPr dirty="0"/>
              <a:t>Backbone atoms, side chains, ligands, DNA </a:t>
            </a:r>
            <a:r>
              <a:rPr lang="en-SG" dirty="0"/>
              <a:t>are </a:t>
            </a:r>
            <a:r>
              <a:rPr dirty="0"/>
              <a:t>all explicit</a:t>
            </a:r>
            <a:endParaRPr lang="en-SG" dirty="0"/>
          </a:p>
          <a:p>
            <a:pPr lvl="1"/>
            <a:r>
              <a:rPr lang="en-US" dirty="0"/>
              <a:t>All components are represented directly as atoms during generation</a:t>
            </a:r>
          </a:p>
          <a:p>
            <a:pPr lvl="1"/>
            <a:r>
              <a:rPr lang="en-US" dirty="0"/>
              <a:t>Side chains and non-protein partners (DNA) are part of the diffusion itself</a:t>
            </a:r>
          </a:p>
          <a:p>
            <a:pPr lvl="2"/>
            <a:r>
              <a:rPr lang="en-US" dirty="0"/>
              <a:t>They can be placed in the correct geometry, rather than adding them in later</a:t>
            </a:r>
            <a:endParaRPr dirty="0"/>
          </a:p>
          <a:p>
            <a:r>
              <a:rPr dirty="0"/>
              <a:t>Single unified generative process</a:t>
            </a:r>
            <a:endParaRPr lang="en-SG" dirty="0"/>
          </a:p>
          <a:p>
            <a:pPr lvl="1"/>
            <a:r>
              <a:rPr lang="en-US" dirty="0"/>
              <a:t>1 diffusion run produces a complete all atom structure</a:t>
            </a:r>
          </a:p>
          <a:p>
            <a:pPr lvl="1"/>
            <a:r>
              <a:rPr lang="en-US" dirty="0"/>
              <a:t>No separate post-hoc steps to make design chemically feasible</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2481"/>
            <a:ext cx="10972800" cy="1143000"/>
          </a:xfrm>
        </p:spPr>
        <p:txBody>
          <a:bodyPr/>
          <a:lstStyle/>
          <a:p>
            <a:r>
              <a:rPr dirty="0"/>
              <a:t>RFdiffusion3: How it Works</a:t>
            </a:r>
          </a:p>
        </p:txBody>
      </p:sp>
      <p:sp>
        <p:nvSpPr>
          <p:cNvPr id="7" name="Rectangle 2">
            <a:extLst>
              <a:ext uri="{FF2B5EF4-FFF2-40B4-BE49-F238E27FC236}">
                <a16:creationId xmlns:a16="http://schemas.microsoft.com/office/drawing/2014/main" id="{190CAE65-2539-F3E8-F378-49CF3406875F}"/>
              </a:ext>
            </a:extLst>
          </p:cNvPr>
          <p:cNvSpPr>
            <a:spLocks noChangeArrowheads="1"/>
          </p:cNvSpPr>
          <p:nvPr/>
        </p:nvSpPr>
        <p:spPr bwMode="auto">
          <a:xfrm>
            <a:off x="132521" y="723472"/>
            <a:ext cx="11350487"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Noise added directly to atomic coordinates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Each atom has its own 3D position that is perturbed during the forward diffusion process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Noise reflects realistic spatial uncertainty at the scale of bond lengths and angles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Learns how valid chemistry degrades under noise</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Enables recovery of fine structural details, not just overall fold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Reverse diffusion denoises full molecular systems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Generation starts from a noisy atomic configuration for all components at once</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Proteins, binders, ligands, or nucleic acids are refined together in the same process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Interfaces form naturally as atoms settle into mutually compatible positions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Eliminates handoff errors between separate backbone, side chain, and docking stages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Covalent geometry and atom types preserved</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Bond connectivity is fixed and known to the model throughout diffusion</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Bond lengths and angles are constrained to remain chemically valid</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Atom identities do not change, preventing unphysical transformations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Ensures outputs remain within realistic molecular chemistry without heavy filtering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Constraints applied by fixing or biasing atoms directly</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Specific atoms can be held fixed in space, such as a ligand or catalytic residue</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Positional or orientational biases can be applied to selected atoms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Constraints act during generation, not as post hoc penalties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j-lt"/>
              </a:rPr>
              <a:t>Allows precise control over active sites, interfaces, and binding geometry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mj-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87DD-76F3-4493-CEAA-90467416EB64}"/>
              </a:ext>
            </a:extLst>
          </p:cNvPr>
          <p:cNvSpPr>
            <a:spLocks noGrp="1"/>
          </p:cNvSpPr>
          <p:nvPr>
            <p:ph type="title"/>
          </p:nvPr>
        </p:nvSpPr>
        <p:spPr/>
        <p:txBody>
          <a:bodyPr>
            <a:normAutofit fontScale="90000"/>
          </a:bodyPr>
          <a:lstStyle/>
          <a:p>
            <a:r>
              <a:rPr lang="en-US" dirty="0"/>
              <a:t>RFdiffusion3: Training process (all-atom learning)</a:t>
            </a:r>
            <a:br>
              <a:rPr lang="en-US" dirty="0"/>
            </a:br>
            <a:endParaRPr lang="en-SG" dirty="0"/>
          </a:p>
        </p:txBody>
      </p:sp>
      <p:sp>
        <p:nvSpPr>
          <p:cNvPr id="4" name="Rectangle 1">
            <a:extLst>
              <a:ext uri="{FF2B5EF4-FFF2-40B4-BE49-F238E27FC236}">
                <a16:creationId xmlns:a16="http://schemas.microsoft.com/office/drawing/2014/main" id="{763259BD-9AFD-2C4E-4EE7-4C0347B0884F}"/>
              </a:ext>
            </a:extLst>
          </p:cNvPr>
          <p:cNvSpPr>
            <a:spLocks noGrp="1" noChangeArrowheads="1"/>
          </p:cNvSpPr>
          <p:nvPr>
            <p:ph idx="1"/>
          </p:nvPr>
        </p:nvSpPr>
        <p:spPr bwMode="auto">
          <a:xfrm>
            <a:off x="609600" y="1385580"/>
            <a:ext cx="11483009"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All-atom training data</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Structures are represented at full atomic resolution, including backbone atoms, side chains, ligands, DNA, and RNA</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Bond connectivity, atom types, and chemical identities are known to the model</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Training data encodes real chemical constraints rather than abstract residue geometry</a:t>
            </a:r>
          </a:p>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Forward diffusion</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Random noise is added directly to atomic coordinates over many steps</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Noise degrades structures at multiple scales, from local bond geometry to global fold</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Covalent structure is preserved so molecules remain chemically valid even when noisy</a:t>
            </a:r>
          </a:p>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Learning objective</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The model is trained to predict how to reverse atomic noise</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Learns statistics of physically plausible atomic arrangements</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Internalizes how interfaces, binding pockets, and active sites are formed and maintained</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Does not rely on energy functions or heuristic scoring during learning</a:t>
            </a:r>
          </a:p>
          <a:p>
            <a:pPr defTabSz="914400"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313025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1D175-7B1C-7835-A563-5D7B5571D11F}"/>
              </a:ext>
            </a:extLst>
          </p:cNvPr>
          <p:cNvSpPr>
            <a:spLocks noGrp="1"/>
          </p:cNvSpPr>
          <p:nvPr>
            <p:ph type="title"/>
          </p:nvPr>
        </p:nvSpPr>
        <p:spPr>
          <a:xfrm>
            <a:off x="609600" y="44309"/>
            <a:ext cx="10972800" cy="1143000"/>
          </a:xfrm>
        </p:spPr>
        <p:txBody>
          <a:bodyPr>
            <a:normAutofit/>
          </a:bodyPr>
          <a:lstStyle/>
          <a:p>
            <a:r>
              <a:rPr lang="en-SG" sz="4000" dirty="0"/>
              <a:t>RFdiffusion3: Generation (inference) process</a:t>
            </a:r>
          </a:p>
        </p:txBody>
      </p:sp>
      <p:sp>
        <p:nvSpPr>
          <p:cNvPr id="4" name="Rectangle 1">
            <a:extLst>
              <a:ext uri="{FF2B5EF4-FFF2-40B4-BE49-F238E27FC236}">
                <a16:creationId xmlns:a16="http://schemas.microsoft.com/office/drawing/2014/main" id="{0041230C-18F7-8FBB-DED1-A112CF375182}"/>
              </a:ext>
            </a:extLst>
          </p:cNvPr>
          <p:cNvSpPr>
            <a:spLocks noGrp="1" noChangeArrowheads="1"/>
          </p:cNvSpPr>
          <p:nvPr>
            <p:ph idx="1"/>
          </p:nvPr>
        </p:nvSpPr>
        <p:spPr bwMode="auto">
          <a:xfrm>
            <a:off x="609600" y="1077803"/>
            <a:ext cx="9405203"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Input and conditioning</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Target molecules are provided as fixed or partially flexible atomic structures</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Designable regions and non-protein partners are explicitly defined</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Constraints specify which atoms must remain fixed, flexible, or biased</a:t>
            </a:r>
          </a:p>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Reverse diffusion</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Generation begins from a noisy atomic configuration</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At each step, the model refines atom positions </a:t>
            </a:r>
            <a:r>
              <a:rPr kumimoji="0" lang="en-US" altLang="en-US" sz="2000" i="0" u="none" strike="noStrike" cap="none" normalizeH="0" baseline="0">
                <a:ln>
                  <a:noFill/>
                </a:ln>
                <a:solidFill>
                  <a:schemeClr val="tx1"/>
                </a:solidFill>
                <a:effectLst/>
                <a:latin typeface="+mj-lt"/>
              </a:rPr>
              <a:t>toward chemically-valid </a:t>
            </a:r>
            <a:r>
              <a:rPr kumimoji="0" lang="en-US" altLang="en-US" sz="2000" i="0" u="none" strike="noStrike" cap="none" normalizeH="0" baseline="0" dirty="0">
                <a:ln>
                  <a:noFill/>
                </a:ln>
                <a:solidFill>
                  <a:schemeClr val="tx1"/>
                </a:solidFill>
                <a:effectLst/>
                <a:latin typeface="+mj-lt"/>
              </a:rPr>
              <a:t>structures</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All components evolve together, allowing interfaces to emerge naturally</a:t>
            </a:r>
          </a:p>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Constraint enforcement</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Constraints act directly on atoms rather than through penalty terms</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Fixed atoms serve as physical anchors during generation</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Biases guide binding geometry, orientation, and contact formation</a:t>
            </a:r>
          </a:p>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Output</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A complete all-atom structure is produced</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Side chains, ligands, and nucleic acids are already placed</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Designs are chemically feasible by construction</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Downstream steps focus on evaluation and selection</a:t>
            </a:r>
            <a:endParaRPr kumimoji="0" lang="en-US" altLang="en-US" sz="24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645561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B66A-8534-8BAA-D330-8E0F53E95E1B}"/>
              </a:ext>
            </a:extLst>
          </p:cNvPr>
          <p:cNvSpPr>
            <a:spLocks noGrp="1"/>
          </p:cNvSpPr>
          <p:nvPr>
            <p:ph type="title"/>
          </p:nvPr>
        </p:nvSpPr>
        <p:spPr>
          <a:xfrm>
            <a:off x="609600" y="-318741"/>
            <a:ext cx="10972800" cy="1143000"/>
          </a:xfrm>
        </p:spPr>
        <p:txBody>
          <a:bodyPr/>
          <a:lstStyle/>
          <a:p>
            <a:r>
              <a:rPr lang="en-SG" dirty="0"/>
              <a:t>RFDiffusion3: Reverse diffusion</a:t>
            </a:r>
          </a:p>
        </p:txBody>
      </p:sp>
      <p:sp>
        <p:nvSpPr>
          <p:cNvPr id="3" name="Content Placeholder 2">
            <a:extLst>
              <a:ext uri="{FF2B5EF4-FFF2-40B4-BE49-F238E27FC236}">
                <a16:creationId xmlns:a16="http://schemas.microsoft.com/office/drawing/2014/main" id="{E0AA41B8-EDEE-19AA-9D6B-26E57CE1726C}"/>
              </a:ext>
            </a:extLst>
          </p:cNvPr>
          <p:cNvSpPr>
            <a:spLocks noGrp="1"/>
          </p:cNvSpPr>
          <p:nvPr>
            <p:ph idx="1"/>
          </p:nvPr>
        </p:nvSpPr>
        <p:spPr>
          <a:xfrm>
            <a:off x="609600" y="381000"/>
            <a:ext cx="10972800" cy="4525963"/>
          </a:xfrm>
        </p:spPr>
        <p:txBody>
          <a:bodyPr>
            <a:noAutofit/>
          </a:bodyPr>
          <a:lstStyle/>
          <a:p>
            <a:r>
              <a:rPr lang="en-US" sz="1200" dirty="0"/>
              <a:t>Initial state: Noisy atomic configuration</a:t>
            </a:r>
          </a:p>
          <a:p>
            <a:pPr lvl="1"/>
            <a:r>
              <a:rPr lang="en-US" sz="1200" dirty="0"/>
              <a:t>Noisy atomic configuration for designable atoms</a:t>
            </a:r>
          </a:p>
          <a:p>
            <a:pPr lvl="1"/>
            <a:r>
              <a:rPr lang="en-US" sz="1200" dirty="0"/>
              <a:t>Fixed atoms embedded inside the noise cloud</a:t>
            </a:r>
          </a:p>
          <a:p>
            <a:pPr lvl="1"/>
            <a:r>
              <a:rPr lang="en-US" sz="1200" dirty="0"/>
              <a:t>Atom identities and bonds unchanged</a:t>
            </a:r>
          </a:p>
          <a:p>
            <a:pPr lvl="1"/>
            <a:r>
              <a:rPr lang="en-US" sz="1200" dirty="0"/>
              <a:t>Sequence is not required at the start:</a:t>
            </a:r>
          </a:p>
          <a:p>
            <a:pPr lvl="2"/>
            <a:r>
              <a:rPr lang="en-US" sz="1200" dirty="0"/>
              <a:t>Represents every residue with a fixed atom budget (4 backbone + 10 side chain atoms) and using ‘virtual atoms’ when a residue has fewer side chain atoms, so the diffusion state always has the same tensor shape even when sequence is unknown</a:t>
            </a:r>
          </a:p>
          <a:p>
            <a:pPr lvl="1"/>
            <a:r>
              <a:rPr lang="en-US" sz="1200" dirty="0"/>
              <a:t>Not everything is necessarily </a:t>
            </a:r>
            <a:r>
              <a:rPr lang="en-US" sz="1200" dirty="0" err="1"/>
              <a:t>randomised</a:t>
            </a:r>
            <a:r>
              <a:rPr lang="en-US" sz="1200" b="1" dirty="0"/>
              <a:t>.</a:t>
            </a:r>
            <a:r>
              <a:rPr lang="en-US" sz="1200" dirty="0"/>
              <a:t> In conditional design, parts of the system can be provided as exact coordinates within the developing noise cloud. That means the overall state may be partly noisy (design regions) and partly exact (motif, target, ligand, nucleic acid, etc.), depending on the task</a:t>
            </a:r>
          </a:p>
          <a:p>
            <a:pPr lvl="1"/>
            <a:r>
              <a:rPr lang="en-US" sz="1200" dirty="0"/>
              <a:t>At the start of inference, the designable atoms are a cloud that is statistically consistent with the training noise distribution at the highest noise level, while fixed or conditioned atoms can already be sitting where they must end up.</a:t>
            </a:r>
          </a:p>
          <a:p>
            <a:r>
              <a:rPr lang="en-US" sz="1200" dirty="0"/>
              <a:t>Iterative denoising: At each step, the model refines atom positions toward chemically valid structures</a:t>
            </a:r>
          </a:p>
          <a:p>
            <a:pPr lvl="1"/>
            <a:r>
              <a:rPr lang="en-US" sz="1200" dirty="0"/>
              <a:t>Each reverse-diffusion step is a repeated “predict then update” loop </a:t>
            </a:r>
          </a:p>
          <a:p>
            <a:pPr lvl="2"/>
            <a:r>
              <a:rPr lang="en-US" sz="1200" dirty="0"/>
              <a:t>The model sees: current noised coordinates at time step </a:t>
            </a:r>
            <a:r>
              <a:rPr lang="en-US" sz="1200" i="1" dirty="0"/>
              <a:t>t</a:t>
            </a:r>
            <a:r>
              <a:rPr lang="en-US" sz="1200" dirty="0"/>
              <a:t> plus conditioning features (if any). The model predicts: a denoised estimate or an update direction for atomic coordinates (reconstructing structure from noised inputs)</a:t>
            </a:r>
          </a:p>
          <a:p>
            <a:pPr lvl="2"/>
            <a:r>
              <a:rPr lang="en-US" sz="1200" dirty="0"/>
              <a:t>A diffusion scheduler updates coordinates: the sampler combines the model’s prediction with the known noise schedule to produce the next coordinates at step </a:t>
            </a:r>
            <a:r>
              <a:rPr lang="en-US" sz="1200" i="1" dirty="0"/>
              <a:t>t-1</a:t>
            </a:r>
          </a:p>
          <a:p>
            <a:pPr lvl="1"/>
            <a:r>
              <a:rPr lang="en-SG" sz="1200" dirty="0"/>
              <a:t>Chemically plausible outputs</a:t>
            </a:r>
          </a:p>
          <a:p>
            <a:pPr lvl="2"/>
            <a:r>
              <a:rPr lang="en-US" sz="1200" dirty="0"/>
              <a:t>Covalent structure is baked into the representation. Because atoms have types and residues have a defined backbone plus side chain atom scaffold (with virtual atoms when needed), the network learns distributions of geometries that correspond to real molecules, rather than just ‘points in space.’ </a:t>
            </a:r>
          </a:p>
          <a:p>
            <a:pPr lvl="2"/>
            <a:r>
              <a:rPr lang="en-US" sz="1200" dirty="0"/>
              <a:t>Local interactions are </a:t>
            </a:r>
            <a:r>
              <a:rPr lang="en-US" sz="1200" dirty="0" err="1"/>
              <a:t>emphasised</a:t>
            </a:r>
            <a:r>
              <a:rPr lang="en-US" sz="1200" dirty="0"/>
              <a:t>. Sparse, distance-based attention between atomic and token features are used so the network focuses on local atomic </a:t>
            </a:r>
            <a:r>
              <a:rPr lang="en-US" sz="1200" dirty="0" err="1"/>
              <a:t>neighbourhoods</a:t>
            </a:r>
            <a:r>
              <a:rPr lang="en-US" sz="1200" dirty="0"/>
              <a:t> that matter for </a:t>
            </a:r>
            <a:r>
              <a:rPr lang="en-US" sz="1200" dirty="0" err="1"/>
              <a:t>sterics</a:t>
            </a:r>
            <a:r>
              <a:rPr lang="en-US" sz="1200" dirty="0"/>
              <a:t>, packing, bonding constraints</a:t>
            </a:r>
          </a:p>
          <a:p>
            <a:pPr lvl="1"/>
            <a:r>
              <a:rPr lang="en-US" sz="1200" dirty="0"/>
              <a:t>Early steps mainly decide global layout (where the chain goes in space), mid steps lock in secondary structure and interfaces, late steps sharpen side chain placement and the exact atomic contacts</a:t>
            </a:r>
          </a:p>
          <a:p>
            <a:r>
              <a:rPr lang="en-US" sz="1200" dirty="0"/>
              <a:t>All components evolve together, allowing interfaces to emerge naturally</a:t>
            </a:r>
          </a:p>
          <a:p>
            <a:pPr lvl="1"/>
            <a:r>
              <a:rPr lang="en-US" sz="1200" dirty="0"/>
              <a:t>Proteins and partners can be part of one joint denoising system</a:t>
            </a:r>
          </a:p>
          <a:p>
            <a:pPr lvl="1"/>
            <a:r>
              <a:rPr lang="en-SG" sz="1200" dirty="0"/>
              <a:t>Interface formation: </a:t>
            </a:r>
            <a:r>
              <a:rPr lang="en-US" sz="1200" dirty="0"/>
              <a:t>If two components are present during denoising, the model can shape them so that complementary surfaces and atomic contacts appear as a direct consequence of the joint reverse process</a:t>
            </a:r>
          </a:p>
          <a:p>
            <a:pPr lvl="1"/>
            <a:r>
              <a:rPr lang="en-US" sz="1200" dirty="0"/>
              <a:t>Coupling happens through network architecture repeated information exchange between atom-level features and residue-level “token” features (cross attention pooling), so local atomic constraints and broader fold decisions influence each other during sampling</a:t>
            </a:r>
          </a:p>
          <a:p>
            <a:pPr lvl="1"/>
            <a:r>
              <a:rPr lang="en-US" sz="1200" dirty="0"/>
              <a:t>The same learned denoising operation is simultaneously making each component more structured and making the mutual arrangement more compatible</a:t>
            </a:r>
            <a:endParaRPr lang="en-SG" sz="1200" dirty="0"/>
          </a:p>
        </p:txBody>
      </p:sp>
    </p:spTree>
    <p:extLst>
      <p:ext uri="{BB962C8B-B14F-4D97-AF65-F5344CB8AC3E}">
        <p14:creationId xmlns:p14="http://schemas.microsoft.com/office/powerpoint/2010/main" val="1085664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8DCD-8AE7-179F-7E9A-4DE0A6F1B6A6}"/>
              </a:ext>
            </a:extLst>
          </p:cNvPr>
          <p:cNvSpPr>
            <a:spLocks noGrp="1"/>
          </p:cNvSpPr>
          <p:nvPr>
            <p:ph type="title"/>
          </p:nvPr>
        </p:nvSpPr>
        <p:spPr/>
        <p:txBody>
          <a:bodyPr/>
          <a:lstStyle/>
          <a:p>
            <a:r>
              <a:rPr lang="en-SG" dirty="0"/>
              <a:t>RFDiffusion3: Constraint enforcement</a:t>
            </a:r>
          </a:p>
        </p:txBody>
      </p:sp>
      <p:sp>
        <p:nvSpPr>
          <p:cNvPr id="3" name="Content Placeholder 2">
            <a:extLst>
              <a:ext uri="{FF2B5EF4-FFF2-40B4-BE49-F238E27FC236}">
                <a16:creationId xmlns:a16="http://schemas.microsoft.com/office/drawing/2014/main" id="{2E477F20-CFA1-83B9-EC19-D12E67075CA6}"/>
              </a:ext>
            </a:extLst>
          </p:cNvPr>
          <p:cNvSpPr>
            <a:spLocks noGrp="1"/>
          </p:cNvSpPr>
          <p:nvPr>
            <p:ph idx="1"/>
          </p:nvPr>
        </p:nvSpPr>
        <p:spPr/>
        <p:txBody>
          <a:bodyPr>
            <a:noAutofit/>
          </a:bodyPr>
          <a:lstStyle/>
          <a:p>
            <a:r>
              <a:rPr lang="en-US" sz="1000" dirty="0"/>
              <a:t>Constraints act directly on atoms, rather than through penalty terms</a:t>
            </a:r>
          </a:p>
          <a:p>
            <a:pPr lvl="1"/>
            <a:r>
              <a:rPr lang="en-US" sz="1000" dirty="0"/>
              <a:t>RFD2’s key limitation was that chemistry influenced backbone through losses and guidance, while diffusion itself stayed at residue frames</a:t>
            </a:r>
          </a:p>
          <a:p>
            <a:pPr lvl="1"/>
            <a:r>
              <a:rPr lang="en-US" sz="1000" dirty="0"/>
              <a:t>Constraints can be expressed as atomic facts, not abstract objectives</a:t>
            </a:r>
          </a:p>
          <a:p>
            <a:pPr lvl="2"/>
            <a:r>
              <a:rPr lang="en-US" sz="1000" dirty="0"/>
              <a:t>Because all polymer atoms are modeled explicitly, conditioning on complex sets of atom-level constraints is simpler and more effective, (e.g. hydrogen bonding roles, per-atom solvent accessibility labels)</a:t>
            </a:r>
          </a:p>
          <a:p>
            <a:pPr lvl="1"/>
            <a:r>
              <a:rPr lang="en-US" sz="1000" dirty="0"/>
              <a:t>Motifs and binding partners can be injected as exact coordinates</a:t>
            </a:r>
          </a:p>
          <a:p>
            <a:pPr lvl="1"/>
            <a:r>
              <a:rPr lang="en-SG" sz="1000" dirty="0"/>
              <a:t>Classifier-free guidance strengthens constraint adherence</a:t>
            </a:r>
          </a:p>
          <a:p>
            <a:pPr lvl="2"/>
            <a:r>
              <a:rPr lang="en-US" sz="1000" dirty="0"/>
              <a:t>At each denoising step, RFD3 can run one conditional forward pass and one unconditional forward pass, then take a weighted combination to bias samples toward satisfying the constraints. This is a direct, per-step steering mechanism, not a separate penalty </a:t>
            </a:r>
            <a:r>
              <a:rPr lang="en-US" sz="1000" dirty="0" err="1"/>
              <a:t>optimisation</a:t>
            </a:r>
            <a:r>
              <a:rPr lang="en-US" sz="1000" dirty="0"/>
              <a:t> loop</a:t>
            </a:r>
          </a:p>
          <a:p>
            <a:pPr lvl="1"/>
            <a:r>
              <a:rPr lang="en-US" sz="1000" dirty="0"/>
              <a:t>Primary enforcement mechanism is structural conditioning and guided denoising</a:t>
            </a:r>
          </a:p>
          <a:p>
            <a:r>
              <a:rPr lang="en-US" sz="1000" dirty="0"/>
              <a:t>Fixed atoms serve as physical anchors during generation</a:t>
            </a:r>
          </a:p>
          <a:p>
            <a:pPr lvl="1"/>
            <a:r>
              <a:rPr lang="en-SG" sz="1000" dirty="0"/>
              <a:t>When you fix atoms:</a:t>
            </a:r>
          </a:p>
          <a:p>
            <a:pPr lvl="2"/>
            <a:r>
              <a:rPr lang="en-US" sz="1000" dirty="0"/>
              <a:t>They define an invariant reference frame. The designable atoms are repeatedly updated around these fixed coordinates, so the model learns to “wrap” structure around the anchor rather than drifting arbitrarily in space</a:t>
            </a:r>
          </a:p>
          <a:p>
            <a:pPr lvl="2"/>
            <a:r>
              <a:rPr lang="en-US" sz="1000" dirty="0"/>
              <a:t>They reduce ambiguity early in the trajectory. Early diffusion steps are very underdetermined. Anchors constrain the space of plausible global layouts and docking modes, so later refinement has a much easier job</a:t>
            </a:r>
          </a:p>
          <a:p>
            <a:pPr lvl="2"/>
            <a:r>
              <a:rPr lang="en-US" sz="1000" dirty="0"/>
              <a:t>They preserve exact geometry where function demands it. For enzymes, small molecules, and nucleic acid recognition, small coordinate errors matter. Anchoring is the blunt but effective way to guarantee that the functional atoms do not move</a:t>
            </a:r>
          </a:p>
          <a:p>
            <a:pPr lvl="2"/>
            <a:r>
              <a:rPr lang="en-US" sz="1000" dirty="0"/>
              <a:t>Trimming a target down to the binding region often works well: you are giving the model a clean, fixed anchor with fewer irrelevant atoms competing for attention</a:t>
            </a:r>
          </a:p>
          <a:p>
            <a:r>
              <a:rPr lang="en-US" sz="1000" dirty="0"/>
              <a:t>Biases guide binding geometry, orientation, and contact formation</a:t>
            </a:r>
          </a:p>
          <a:p>
            <a:pPr lvl="1"/>
            <a:r>
              <a:rPr lang="en-US" sz="1000" dirty="0"/>
              <a:t>RFD3 offers multiple ways to ‘</a:t>
            </a:r>
            <a:r>
              <a:rPr lang="en-US" sz="1000" dirty="0" err="1"/>
              <a:t>bias’</a:t>
            </a:r>
            <a:r>
              <a:rPr lang="en-US" sz="1000" dirty="0"/>
              <a:t> without turning inference into an </a:t>
            </a:r>
            <a:r>
              <a:rPr lang="en-US" sz="1000" dirty="0" err="1"/>
              <a:t>optimisation</a:t>
            </a:r>
            <a:r>
              <a:rPr lang="en-US" sz="1000" dirty="0"/>
              <a:t> problem:</a:t>
            </a:r>
          </a:p>
          <a:p>
            <a:pPr lvl="2"/>
            <a:r>
              <a:rPr lang="en-US" sz="1000" dirty="0"/>
              <a:t>Classifier-free guidance (CFG) as a steering knob. Increasing guidance weight makes the denoising trajectory adhere more strongly to the conditioning information</a:t>
            </a:r>
          </a:p>
          <a:p>
            <a:pPr lvl="2"/>
            <a:r>
              <a:rPr lang="en-US" sz="1000" dirty="0"/>
              <a:t>Atomic hydrogen bond conditioning. The model can be told which partner atoms are donors or acceptors, so the generated protein places complementary donors or acceptors in the right places</a:t>
            </a:r>
          </a:p>
          <a:p>
            <a:pPr lvl="2"/>
            <a:r>
              <a:rPr lang="en-SG" sz="1000" dirty="0"/>
              <a:t>Per-atom solvent accessibility labels </a:t>
            </a:r>
            <a:r>
              <a:rPr lang="en-US" sz="1000" dirty="0"/>
              <a:t>to control how buried ligand atoms become, which indirectly but strongly biases pocket geometry and contact density</a:t>
            </a:r>
          </a:p>
          <a:p>
            <a:pPr lvl="2"/>
            <a:r>
              <a:rPr lang="en-US" sz="1000" dirty="0"/>
              <a:t>Center-of-mass and coarse placement biases. RFD3 can condition on where the protein’s center-of-mass should lie relative to a target or motif, which biases the overall orientation and approach vector before fine interface details form</a:t>
            </a:r>
          </a:p>
          <a:p>
            <a:pPr lvl="2"/>
            <a:r>
              <a:rPr lang="en-US" sz="1000" dirty="0"/>
              <a:t>Symmetry bias by symmetrizing the trajectory, constrain the global arrangement so interfaces and contacts must respect symmetry</a:t>
            </a:r>
          </a:p>
          <a:p>
            <a:pPr lvl="1"/>
            <a:r>
              <a:rPr lang="en-US" sz="1000" dirty="0"/>
              <a:t>‘</a:t>
            </a:r>
            <a:r>
              <a:rPr lang="en-US" sz="1000" dirty="0" err="1"/>
              <a:t>Bias’</a:t>
            </a:r>
            <a:r>
              <a:rPr lang="en-US" sz="1000" dirty="0"/>
              <a:t> in RFD3 is usually implemented as additional conditioning features plus CFG, which changes the denoising field at every step so that the random sample is continually pulled toward the desired interface geometry.</a:t>
            </a:r>
          </a:p>
          <a:p>
            <a:pPr lvl="1"/>
            <a:endParaRPr lang="en-US" sz="1000" dirty="0"/>
          </a:p>
          <a:p>
            <a:pPr lvl="2"/>
            <a:endParaRPr lang="en-US" sz="1000" dirty="0"/>
          </a:p>
        </p:txBody>
      </p:sp>
    </p:spTree>
    <p:extLst>
      <p:ext uri="{BB962C8B-B14F-4D97-AF65-F5344CB8AC3E}">
        <p14:creationId xmlns:p14="http://schemas.microsoft.com/office/powerpoint/2010/main" val="36143433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88DA-86F4-838A-D3AD-3221734FCEDD}"/>
              </a:ext>
            </a:extLst>
          </p:cNvPr>
          <p:cNvSpPr>
            <a:spLocks noGrp="1"/>
          </p:cNvSpPr>
          <p:nvPr>
            <p:ph type="title"/>
          </p:nvPr>
        </p:nvSpPr>
        <p:spPr/>
        <p:txBody>
          <a:bodyPr>
            <a:normAutofit fontScale="90000"/>
          </a:bodyPr>
          <a:lstStyle/>
          <a:p>
            <a:r>
              <a:rPr lang="en-SG" dirty="0"/>
              <a:t>Foundry: https://github.com/RosettaCommons/foundry</a:t>
            </a:r>
          </a:p>
        </p:txBody>
      </p:sp>
      <p:sp>
        <p:nvSpPr>
          <p:cNvPr id="3" name="Content Placeholder 2">
            <a:extLst>
              <a:ext uri="{FF2B5EF4-FFF2-40B4-BE49-F238E27FC236}">
                <a16:creationId xmlns:a16="http://schemas.microsoft.com/office/drawing/2014/main" id="{5E2BD239-19F0-A7CC-2105-1E4E0422FAD1}"/>
              </a:ext>
            </a:extLst>
          </p:cNvPr>
          <p:cNvSpPr>
            <a:spLocks noGrp="1"/>
          </p:cNvSpPr>
          <p:nvPr>
            <p:ph idx="1"/>
          </p:nvPr>
        </p:nvSpPr>
        <p:spPr/>
        <p:txBody>
          <a:bodyPr>
            <a:normAutofit fontScale="92500" lnSpcReduction="20000"/>
          </a:bodyPr>
          <a:lstStyle/>
          <a:p>
            <a:r>
              <a:rPr lang="en-US" dirty="0"/>
              <a:t>Foundry is the unified design pipeline built around </a:t>
            </a:r>
            <a:r>
              <a:rPr lang="en-US" dirty="0" err="1"/>
              <a:t>RFdiffusion</a:t>
            </a:r>
            <a:r>
              <a:rPr lang="en-US" dirty="0"/>
              <a:t> 3</a:t>
            </a:r>
          </a:p>
          <a:p>
            <a:pPr lvl="1"/>
            <a:r>
              <a:rPr lang="en-US" dirty="0"/>
              <a:t>An integrated system for end-to-end molecular design</a:t>
            </a:r>
          </a:p>
          <a:p>
            <a:r>
              <a:rPr lang="en-US" dirty="0" err="1"/>
              <a:t>RFdiffusion</a:t>
            </a:r>
            <a:r>
              <a:rPr lang="en-US" dirty="0"/>
              <a:t> 3 is the generative core</a:t>
            </a:r>
          </a:p>
          <a:p>
            <a:pPr lvl="1"/>
            <a:r>
              <a:rPr lang="en-US" dirty="0"/>
              <a:t>Produces full all atom structures</a:t>
            </a:r>
          </a:p>
          <a:p>
            <a:pPr lvl="1"/>
            <a:r>
              <a:rPr lang="en-US" dirty="0"/>
              <a:t>Handles folding, interfaces, and chemistry during generation</a:t>
            </a:r>
          </a:p>
          <a:p>
            <a:pPr lvl="1"/>
            <a:r>
              <a:rPr lang="en-US" dirty="0"/>
              <a:t>Acts as the engine of the pipeline</a:t>
            </a:r>
          </a:p>
          <a:p>
            <a:r>
              <a:rPr lang="en-US" dirty="0"/>
              <a:t>Foundry is the orchestration layer</a:t>
            </a:r>
          </a:p>
          <a:p>
            <a:pPr lvl="1"/>
            <a:r>
              <a:rPr lang="en-US" dirty="0"/>
              <a:t>Defines how </a:t>
            </a:r>
            <a:r>
              <a:rPr lang="en-US" dirty="0" err="1"/>
              <a:t>RFdiffusion</a:t>
            </a:r>
            <a:r>
              <a:rPr lang="en-US" dirty="0"/>
              <a:t> 3 is conditioned and run</a:t>
            </a:r>
          </a:p>
          <a:p>
            <a:pPr lvl="1"/>
            <a:r>
              <a:rPr lang="en-US" dirty="0"/>
              <a:t>Manages constraints, anchors, and design regions</a:t>
            </a:r>
          </a:p>
          <a:p>
            <a:pPr lvl="1"/>
            <a:r>
              <a:rPr lang="en-US" dirty="0"/>
              <a:t>Connects generation to downstream steps coherently</a:t>
            </a:r>
          </a:p>
          <a:p>
            <a:endParaRPr lang="en-US" dirty="0"/>
          </a:p>
          <a:p>
            <a:endParaRPr lang="en-SG" dirty="0"/>
          </a:p>
        </p:txBody>
      </p:sp>
      <p:sp>
        <p:nvSpPr>
          <p:cNvPr id="5" name="Rectangle 2">
            <a:extLst>
              <a:ext uri="{FF2B5EF4-FFF2-40B4-BE49-F238E27FC236}">
                <a16:creationId xmlns:a16="http://schemas.microsoft.com/office/drawing/2014/main" id="{7DCEF704-E358-576C-B69B-81A66A8D675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 integrated system for end to end molecular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9267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Foundry Exists</a:t>
            </a:r>
          </a:p>
        </p:txBody>
      </p:sp>
      <p:sp>
        <p:nvSpPr>
          <p:cNvPr id="3" name="Content Placeholder 2"/>
          <p:cNvSpPr>
            <a:spLocks noGrp="1"/>
          </p:cNvSpPr>
          <p:nvPr>
            <p:ph idx="1"/>
          </p:nvPr>
        </p:nvSpPr>
        <p:spPr>
          <a:xfrm>
            <a:off x="609600" y="1600201"/>
            <a:ext cx="10972800" cy="5085079"/>
          </a:xfrm>
        </p:spPr>
        <p:txBody>
          <a:bodyPr>
            <a:normAutofit fontScale="55000" lnSpcReduction="20000"/>
          </a:bodyPr>
          <a:lstStyle/>
          <a:p>
            <a:r>
              <a:rPr dirty="0"/>
              <a:t>All-atom generation requires unified pipelines</a:t>
            </a:r>
          </a:p>
          <a:p>
            <a:r>
              <a:rPr dirty="0"/>
              <a:t>Structure generation, sequence design, folding must align</a:t>
            </a:r>
          </a:p>
          <a:p>
            <a:r>
              <a:rPr dirty="0"/>
              <a:t>Foundry integrates RFD3, </a:t>
            </a:r>
            <a:r>
              <a:rPr dirty="0" err="1"/>
              <a:t>ProteinMPNN</a:t>
            </a:r>
            <a:r>
              <a:rPr dirty="0"/>
              <a:t>, R</a:t>
            </a:r>
            <a:r>
              <a:rPr lang="en-SG" dirty="0" err="1"/>
              <a:t>osetta</a:t>
            </a:r>
            <a:r>
              <a:rPr dirty="0"/>
              <a:t>F</a:t>
            </a:r>
            <a:r>
              <a:rPr lang="en-SG" dirty="0"/>
              <a:t>old3 (RF3)</a:t>
            </a:r>
          </a:p>
          <a:p>
            <a:r>
              <a:rPr lang="en-SG" dirty="0"/>
              <a:t>RFdiffusion3</a:t>
            </a:r>
          </a:p>
          <a:p>
            <a:pPr lvl="1"/>
            <a:r>
              <a:rPr lang="en-SG" dirty="0"/>
              <a:t>Generates atomic structures</a:t>
            </a:r>
          </a:p>
          <a:p>
            <a:pPr lvl="1"/>
            <a:r>
              <a:rPr lang="en-SG" dirty="0"/>
              <a:t>Handles constraints and interface formation</a:t>
            </a:r>
          </a:p>
          <a:p>
            <a:r>
              <a:rPr lang="en-SG" dirty="0" err="1"/>
              <a:t>ProteinMPNN</a:t>
            </a:r>
            <a:endParaRPr lang="en-SG" dirty="0"/>
          </a:p>
          <a:p>
            <a:pPr lvl="1"/>
            <a:r>
              <a:rPr lang="en-SG" dirty="0"/>
              <a:t>Assigns sequences compatible with generated backbones</a:t>
            </a:r>
          </a:p>
          <a:p>
            <a:pPr lvl="1"/>
            <a:r>
              <a:rPr lang="en-SG" dirty="0"/>
              <a:t>Respects atomic context from </a:t>
            </a:r>
            <a:r>
              <a:rPr lang="en-SG" dirty="0" err="1"/>
              <a:t>RFdiffusion</a:t>
            </a:r>
            <a:r>
              <a:rPr lang="en-SG" dirty="0"/>
              <a:t> output</a:t>
            </a:r>
          </a:p>
          <a:p>
            <a:r>
              <a:rPr lang="en-US" dirty="0"/>
              <a:t>RF3 is a structure predictor, similar in role to AlphaFold</a:t>
            </a:r>
          </a:p>
          <a:p>
            <a:pPr lvl="1"/>
            <a:r>
              <a:rPr lang="en-US" dirty="0"/>
              <a:t>Takes sequence (and sometimes initial coordinates) </a:t>
            </a:r>
          </a:p>
          <a:p>
            <a:pPr lvl="1"/>
            <a:r>
              <a:rPr lang="en-US" dirty="0"/>
              <a:t>Predicts a folded structure </a:t>
            </a:r>
          </a:p>
          <a:p>
            <a:pPr lvl="1"/>
            <a:r>
              <a:rPr lang="en-US" dirty="0"/>
              <a:t>Outputs confidence metrics</a:t>
            </a:r>
            <a:endParaRPr lang="en-SG" dirty="0"/>
          </a:p>
          <a:p>
            <a:r>
              <a:rPr lang="en-SG" dirty="0"/>
              <a:t>Structure validation</a:t>
            </a:r>
          </a:p>
          <a:p>
            <a:pPr lvl="1"/>
            <a:r>
              <a:rPr lang="en-SG" dirty="0"/>
              <a:t>Folding or relaxation tools aligned with generation assumptions</a:t>
            </a:r>
          </a:p>
          <a:p>
            <a:pPr lvl="1"/>
            <a:r>
              <a:rPr lang="en-SG" dirty="0"/>
              <a:t>Used for filtering, not rescue</a:t>
            </a:r>
          </a:p>
          <a:p>
            <a:r>
              <a:rPr lang="en-SG" dirty="0"/>
              <a:t>Constraint and metadata handling</a:t>
            </a:r>
          </a:p>
          <a:p>
            <a:pPr lvl="1"/>
            <a:r>
              <a:rPr lang="en-SG" dirty="0"/>
              <a:t>Tracks which atoms were fixed or biased</a:t>
            </a:r>
          </a:p>
          <a:p>
            <a:pPr lvl="1"/>
            <a:r>
              <a:rPr lang="en-SG" dirty="0"/>
              <a:t>Preserves design intent across steps</a:t>
            </a:r>
          </a:p>
          <a:p>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ABFD-FA1E-178C-A3D6-EEE7C0F54CB0}"/>
              </a:ext>
            </a:extLst>
          </p:cNvPr>
          <p:cNvSpPr>
            <a:spLocks noGrp="1"/>
          </p:cNvSpPr>
          <p:nvPr>
            <p:ph type="title"/>
          </p:nvPr>
        </p:nvSpPr>
        <p:spPr>
          <a:xfrm>
            <a:off x="609600" y="118851"/>
            <a:ext cx="10972800" cy="1143000"/>
          </a:xfrm>
        </p:spPr>
        <p:txBody>
          <a:bodyPr>
            <a:normAutofit fontScale="90000"/>
          </a:bodyPr>
          <a:lstStyle/>
          <a:p>
            <a:r>
              <a:rPr lang="en-SG" dirty="0"/>
              <a:t>Implementation:</a:t>
            </a:r>
            <a:br>
              <a:rPr lang="en-SG" dirty="0"/>
            </a:br>
            <a:r>
              <a:rPr lang="en-SG" dirty="0"/>
              <a:t>IPD Design Pipeline</a:t>
            </a:r>
          </a:p>
        </p:txBody>
      </p:sp>
      <p:sp>
        <p:nvSpPr>
          <p:cNvPr id="4" name="Rectangle 1">
            <a:extLst>
              <a:ext uri="{FF2B5EF4-FFF2-40B4-BE49-F238E27FC236}">
                <a16:creationId xmlns:a16="http://schemas.microsoft.com/office/drawing/2014/main" id="{A5653FA8-A0C7-6445-6606-FB4DBEC99F2C}"/>
              </a:ext>
            </a:extLst>
          </p:cNvPr>
          <p:cNvSpPr>
            <a:spLocks noGrp="1" noChangeArrowheads="1"/>
          </p:cNvSpPr>
          <p:nvPr>
            <p:ph idx="1"/>
          </p:nvPr>
        </p:nvSpPr>
        <p:spPr bwMode="auto">
          <a:xfrm>
            <a:off x="316579" y="1305738"/>
            <a:ext cx="10972799"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400" dirty="0">
                <a:latin typeface="+mj-lt"/>
              </a:rPr>
              <a:t>Input: Target Structure + Constraints</a:t>
            </a:r>
          </a:p>
          <a:p>
            <a:pPr marL="457200" indent="-457200" defTabSz="914400" eaLnBrk="0" fontAlgn="base" hangingPunct="0">
              <a:spcBef>
                <a:spcPct val="0"/>
              </a:spcBef>
              <a:spcAft>
                <a:spcPct val="0"/>
              </a:spcAft>
              <a:buAutoNum type="arabicPeriod"/>
            </a:pPr>
            <a:r>
              <a:rPr lang="en-US" altLang="en-US" sz="2400" dirty="0">
                <a:latin typeface="+mj-lt"/>
              </a:rPr>
              <a:t>RFDiffusion3 (Structure generation)</a:t>
            </a:r>
          </a:p>
          <a:p>
            <a:pPr marL="857250" lvl="1" indent="-457200" defTabSz="914400" eaLnBrk="0" fontAlgn="base" hangingPunct="0">
              <a:spcBef>
                <a:spcPct val="0"/>
              </a:spcBef>
              <a:spcAft>
                <a:spcPct val="0"/>
              </a:spcAft>
              <a:buAutoNum type="arabicPeriod"/>
            </a:pPr>
            <a:r>
              <a:rPr lang="en-SG" sz="1600" dirty="0"/>
              <a:t>RFD3 performs all-atom diffusion</a:t>
            </a:r>
          </a:p>
          <a:p>
            <a:pPr marL="857250" lvl="1" indent="-457200" defTabSz="914400" eaLnBrk="0" fontAlgn="base" hangingPunct="0">
              <a:spcBef>
                <a:spcPct val="0"/>
              </a:spcBef>
              <a:spcAft>
                <a:spcPct val="0"/>
              </a:spcAft>
              <a:buAutoNum type="arabicPeriod"/>
            </a:pPr>
            <a:r>
              <a:rPr lang="en-US" altLang="en-US" sz="1600" dirty="0">
                <a:latin typeface="+mj-lt"/>
              </a:rPr>
              <a:t>Outputs:</a:t>
            </a:r>
          </a:p>
          <a:p>
            <a:pPr marL="1257300" lvl="2" indent="-457200" defTabSz="914400" eaLnBrk="0" fontAlgn="base" hangingPunct="0">
              <a:spcBef>
                <a:spcPct val="0"/>
              </a:spcBef>
              <a:spcAft>
                <a:spcPct val="0"/>
              </a:spcAft>
              <a:buAutoNum type="arabicPeriod"/>
            </a:pPr>
            <a:r>
              <a:rPr lang="en-US" altLang="en-US" sz="1200" dirty="0">
                <a:latin typeface="+mj-lt"/>
              </a:rPr>
              <a:t>A full atomic structure backbone + side-chain atoms </a:t>
            </a:r>
          </a:p>
          <a:p>
            <a:pPr marL="1257300" lvl="2" indent="-457200" defTabSz="914400" eaLnBrk="0" fontAlgn="base" hangingPunct="0">
              <a:spcBef>
                <a:spcPct val="0"/>
              </a:spcBef>
              <a:spcAft>
                <a:spcPct val="0"/>
              </a:spcAft>
              <a:buAutoNum type="arabicPeriod"/>
            </a:pPr>
            <a:r>
              <a:rPr lang="en-US" altLang="en-US" sz="1200" dirty="0">
                <a:latin typeface="+mj-lt"/>
              </a:rPr>
              <a:t>Correct topology </a:t>
            </a:r>
          </a:p>
          <a:p>
            <a:pPr marL="1257300" lvl="2" indent="-457200" defTabSz="914400" eaLnBrk="0" fontAlgn="base" hangingPunct="0">
              <a:spcBef>
                <a:spcPct val="0"/>
              </a:spcBef>
              <a:spcAft>
                <a:spcPct val="0"/>
              </a:spcAft>
              <a:buAutoNum type="arabicPeriod"/>
            </a:pPr>
            <a:r>
              <a:rPr lang="en-US" altLang="en-US" sz="1200" dirty="0">
                <a:latin typeface="+mj-lt"/>
              </a:rPr>
              <a:t>But no meaningful amino acid identities yet</a:t>
            </a:r>
          </a:p>
          <a:p>
            <a:pPr marL="457200" indent="-457200" defTabSz="914400" eaLnBrk="0" fontAlgn="base" hangingPunct="0">
              <a:spcBef>
                <a:spcPct val="0"/>
              </a:spcBef>
              <a:spcAft>
                <a:spcPct val="0"/>
              </a:spcAft>
              <a:buFont typeface="Arial"/>
              <a:buAutoNum type="arabicPeriod"/>
            </a:pPr>
            <a:r>
              <a:rPr lang="en-SG" sz="2000" dirty="0" err="1"/>
              <a:t>ProteinMPNN</a:t>
            </a:r>
            <a:r>
              <a:rPr lang="en-SG" sz="2000" dirty="0"/>
              <a:t> (sequence design)</a:t>
            </a:r>
          </a:p>
          <a:p>
            <a:pPr marL="857250" lvl="1" indent="-457200" defTabSz="914400" eaLnBrk="0" fontAlgn="base" hangingPunct="0">
              <a:spcBef>
                <a:spcPct val="0"/>
              </a:spcBef>
              <a:spcAft>
                <a:spcPct val="0"/>
              </a:spcAft>
              <a:buAutoNum type="arabicPeriod"/>
            </a:pPr>
            <a:r>
              <a:rPr lang="en-US" altLang="en-US" sz="1600" dirty="0">
                <a:latin typeface="+mj-lt"/>
              </a:rPr>
              <a:t>takes the fixed backbone geometry </a:t>
            </a:r>
          </a:p>
          <a:p>
            <a:pPr marL="857250" lvl="1" indent="-457200" defTabSz="914400" eaLnBrk="0" fontAlgn="base" hangingPunct="0">
              <a:spcBef>
                <a:spcPct val="0"/>
              </a:spcBef>
              <a:spcAft>
                <a:spcPct val="0"/>
              </a:spcAft>
              <a:buAutoNum type="arabicPeriod"/>
            </a:pPr>
            <a:r>
              <a:rPr lang="en-US" altLang="en-US" sz="1600" dirty="0">
                <a:latin typeface="+mj-lt"/>
              </a:rPr>
              <a:t>predicts a probability distribution over amino acids per position</a:t>
            </a:r>
          </a:p>
          <a:p>
            <a:pPr marL="857250" lvl="1" indent="-457200" defTabSz="914400" eaLnBrk="0" fontAlgn="base" hangingPunct="0">
              <a:spcBef>
                <a:spcPct val="0"/>
              </a:spcBef>
              <a:spcAft>
                <a:spcPct val="0"/>
              </a:spcAft>
              <a:buAutoNum type="arabicPeriod"/>
            </a:pPr>
            <a:r>
              <a:rPr kumimoji="0" lang="en-US" altLang="en-US" sz="1600" i="0" u="none" strike="noStrike" cap="none" normalizeH="0" baseline="0" dirty="0">
                <a:ln>
                  <a:noFill/>
                </a:ln>
                <a:solidFill>
                  <a:schemeClr val="tx1"/>
                </a:solidFill>
                <a:effectLst/>
                <a:latin typeface="+mj-lt"/>
              </a:rPr>
              <a:t>Outputs 1 or many (usually hundreds) of candidate sequences per backbone</a:t>
            </a:r>
          </a:p>
          <a:p>
            <a:pPr marL="457200" indent="-457200" defTabSz="914400" eaLnBrk="0" fontAlgn="base" hangingPunct="0">
              <a:spcBef>
                <a:spcPct val="0"/>
              </a:spcBef>
              <a:spcAft>
                <a:spcPct val="0"/>
              </a:spcAft>
              <a:buAutoNum type="arabicPeriod"/>
            </a:pPr>
            <a:r>
              <a:rPr lang="en-US" altLang="en-US" sz="2000" dirty="0">
                <a:latin typeface="+mj-lt"/>
              </a:rPr>
              <a:t>RosettaFold3</a:t>
            </a:r>
          </a:p>
          <a:p>
            <a:pPr marL="857250" lvl="1" indent="-457200" defTabSz="914400" eaLnBrk="0" fontAlgn="base" hangingPunct="0">
              <a:spcBef>
                <a:spcPct val="0"/>
              </a:spcBef>
              <a:spcAft>
                <a:spcPct val="0"/>
              </a:spcAft>
              <a:buAutoNum type="arabicPeriod"/>
            </a:pPr>
            <a:r>
              <a:rPr lang="en-US" sz="1600" dirty="0"/>
              <a:t>RF3 is a structure predictor (like AlphaFold)</a:t>
            </a:r>
          </a:p>
          <a:p>
            <a:pPr marL="857250" lvl="1" indent="-457200" defTabSz="914400" eaLnBrk="0" fontAlgn="base" hangingPunct="0">
              <a:spcBef>
                <a:spcPct val="0"/>
              </a:spcBef>
              <a:spcAft>
                <a:spcPct val="0"/>
              </a:spcAft>
              <a:buAutoNum type="arabicPeriod"/>
            </a:pPr>
            <a:r>
              <a:rPr lang="en-US" sz="1600" dirty="0"/>
              <a:t>Takes sequence (and sometimes initial coordinates) </a:t>
            </a:r>
          </a:p>
          <a:p>
            <a:pPr marL="857250" lvl="1" indent="-457200" defTabSz="914400" eaLnBrk="0" fontAlgn="base" hangingPunct="0">
              <a:spcBef>
                <a:spcPct val="0"/>
              </a:spcBef>
              <a:spcAft>
                <a:spcPct val="0"/>
              </a:spcAft>
              <a:buAutoNum type="arabicPeriod"/>
            </a:pPr>
            <a:r>
              <a:rPr lang="en-US" sz="1600" dirty="0"/>
              <a:t>Predicts a folded structure </a:t>
            </a:r>
          </a:p>
          <a:p>
            <a:pPr marL="857250" lvl="1" indent="-457200" defTabSz="914400" eaLnBrk="0" fontAlgn="base" hangingPunct="0">
              <a:spcBef>
                <a:spcPct val="0"/>
              </a:spcBef>
              <a:spcAft>
                <a:spcPct val="0"/>
              </a:spcAft>
              <a:buAutoNum type="arabicPeriod"/>
            </a:pPr>
            <a:r>
              <a:rPr lang="en-US" sz="1600" dirty="0"/>
              <a:t>Outputs </a:t>
            </a:r>
            <a:r>
              <a:rPr lang="en-US" sz="1600"/>
              <a:t>confidence metrics</a:t>
            </a:r>
            <a:endParaRPr kumimoji="0" lang="en-US" altLang="en-US" sz="1600" i="0" u="none" strike="noStrike" cap="none" normalizeH="0" baseline="0" dirty="0">
              <a:ln>
                <a:noFill/>
              </a:ln>
              <a:solidFill>
                <a:schemeClr val="tx1"/>
              </a:solidFill>
              <a:effectLst/>
              <a:latin typeface="+mj-lt"/>
            </a:endParaRPr>
          </a:p>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mj-lt"/>
              </a:rPr>
              <a:t>Final Outputs:</a:t>
            </a:r>
          </a:p>
          <a:p>
            <a:pPr lvl="1" defTabSz="914400" eaLnBrk="0" fontAlgn="base" hangingPunct="0">
              <a:spcBef>
                <a:spcPct val="0"/>
              </a:spcBef>
              <a:spcAft>
                <a:spcPct val="0"/>
              </a:spcAft>
            </a:pPr>
            <a:r>
              <a:rPr lang="en-US" altLang="en-US" sz="2000" dirty="0">
                <a:latin typeface="+mj-lt"/>
              </a:rPr>
              <a:t>Protein sequences (ranked)</a:t>
            </a:r>
          </a:p>
          <a:p>
            <a:pPr lvl="1" defTabSz="914400"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mj-lt"/>
              </a:rPr>
              <a:t>Predicted folded structure (</a:t>
            </a:r>
            <a:r>
              <a:rPr kumimoji="0" lang="en-US" altLang="en-US" sz="2000" i="0" u="none" strike="noStrike" cap="none" normalizeH="0" baseline="0" dirty="0" err="1">
                <a:ln>
                  <a:noFill/>
                </a:ln>
                <a:solidFill>
                  <a:schemeClr val="tx1"/>
                </a:solidFill>
                <a:effectLst/>
                <a:latin typeface="+mj-lt"/>
              </a:rPr>
              <a:t>pdb</a:t>
            </a:r>
            <a:r>
              <a:rPr kumimoji="0" lang="en-US" altLang="en-US" sz="2000" i="0" u="none" strike="noStrike" cap="none" normalizeH="0" baseline="0" dirty="0">
                <a:ln>
                  <a:noFill/>
                </a:ln>
                <a:solidFill>
                  <a:schemeClr val="tx1"/>
                </a:solidFill>
                <a:effectLst/>
                <a:latin typeface="+mj-lt"/>
              </a:rPr>
              <a:t>)</a:t>
            </a:r>
          </a:p>
          <a:p>
            <a:pPr lvl="1" defTabSz="914400" eaLnBrk="0" fontAlgn="base" hangingPunct="0">
              <a:spcBef>
                <a:spcPct val="0"/>
              </a:spcBef>
              <a:spcAft>
                <a:spcPct val="0"/>
              </a:spcAft>
            </a:pPr>
            <a:r>
              <a:rPr lang="en-US" altLang="en-US" sz="2000" dirty="0">
                <a:latin typeface="+mj-lt"/>
              </a:rPr>
              <a:t>Confidence/quality metrics</a:t>
            </a:r>
            <a:r>
              <a:rPr kumimoji="0" lang="en-US" altLang="en-US" sz="2000"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1135216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EF50D-DA00-A08E-98E2-FBFA88798BA6}"/>
              </a:ext>
            </a:extLst>
          </p:cNvPr>
          <p:cNvSpPr>
            <a:spLocks noGrp="1"/>
          </p:cNvSpPr>
          <p:nvPr>
            <p:ph type="title"/>
          </p:nvPr>
        </p:nvSpPr>
        <p:spPr/>
        <p:txBody>
          <a:bodyPr/>
          <a:lstStyle/>
          <a:p>
            <a:r>
              <a:rPr lang="en-SG" dirty="0" err="1"/>
              <a:t>MutaCraft</a:t>
            </a:r>
            <a:r>
              <a:rPr lang="en-SG" dirty="0"/>
              <a:t> vs </a:t>
            </a:r>
            <a:r>
              <a:rPr lang="en-SG" dirty="0" err="1"/>
              <a:t>BindCraft</a:t>
            </a:r>
            <a:r>
              <a:rPr lang="en-SG" dirty="0"/>
              <a:t> Benchmark</a:t>
            </a:r>
          </a:p>
        </p:txBody>
      </p:sp>
      <p:sp>
        <p:nvSpPr>
          <p:cNvPr id="3" name="Content Placeholder 2">
            <a:extLst>
              <a:ext uri="{FF2B5EF4-FFF2-40B4-BE49-F238E27FC236}">
                <a16:creationId xmlns:a16="http://schemas.microsoft.com/office/drawing/2014/main" id="{40BD0D38-E20B-C32F-ACBE-52DE363D5573}"/>
              </a:ext>
            </a:extLst>
          </p:cNvPr>
          <p:cNvSpPr>
            <a:spLocks noGrp="1"/>
          </p:cNvSpPr>
          <p:nvPr>
            <p:ph idx="1"/>
          </p:nvPr>
        </p:nvSpPr>
        <p:spPr/>
        <p:txBody>
          <a:bodyPr>
            <a:normAutofit/>
          </a:bodyPr>
          <a:lstStyle/>
          <a:p>
            <a:r>
              <a:rPr lang="en-SG" dirty="0"/>
              <a:t>In the </a:t>
            </a:r>
            <a:r>
              <a:rPr lang="en-SG" dirty="0" err="1"/>
              <a:t>BindCraft</a:t>
            </a:r>
            <a:r>
              <a:rPr lang="en-SG" dirty="0"/>
              <a:t> paper, </a:t>
            </a:r>
            <a:r>
              <a:rPr lang="en-US" dirty="0"/>
              <a:t>Binding affinity was measured in </a:t>
            </a:r>
            <a:r>
              <a:rPr lang="en-SG" dirty="0"/>
              <a:t>apparent dissociation constant (</a:t>
            </a:r>
            <a:r>
              <a:rPr lang="en-SG" dirty="0" err="1"/>
              <a:t>Kd</a:t>
            </a:r>
            <a:r>
              <a:rPr lang="en-SG" dirty="0"/>
              <a:t>): </a:t>
            </a:r>
          </a:p>
          <a:p>
            <a:pPr lvl="1"/>
            <a:r>
              <a:rPr lang="en-US" dirty="0"/>
              <a:t>Specific molar concentration of the binder at which half of the target protein’s binding sites are occupied at equilibrium</a:t>
            </a:r>
          </a:p>
          <a:p>
            <a:pPr lvl="1"/>
            <a:r>
              <a:rPr lang="en-US" dirty="0"/>
              <a:t>Measured in </a:t>
            </a:r>
            <a:r>
              <a:rPr lang="en-SG" dirty="0"/>
              <a:t>nanomolar(nm):</a:t>
            </a:r>
          </a:p>
          <a:p>
            <a:pPr lvl="2"/>
            <a:r>
              <a:rPr lang="en-US" dirty="0"/>
              <a:t>number of moles of binder per liter of solution</a:t>
            </a:r>
            <a:endParaRPr lang="en-SG" dirty="0"/>
          </a:p>
          <a:p>
            <a:r>
              <a:rPr lang="en-SG" dirty="0"/>
              <a:t>The worst-performing target protein was CD45 (720 </a:t>
            </a:r>
            <a:r>
              <a:rPr lang="en-SG" dirty="0" err="1"/>
              <a:t>nM</a:t>
            </a:r>
            <a:r>
              <a:rPr lang="en-SG" dirty="0"/>
              <a:t>)</a:t>
            </a:r>
          </a:p>
          <a:p>
            <a:r>
              <a:rPr lang="en-SG" dirty="0"/>
              <a:t>The best-performing target protein was Der f 7 (12.8 </a:t>
            </a:r>
            <a:r>
              <a:rPr lang="en-SG" dirty="0" err="1"/>
              <a:t>nM</a:t>
            </a:r>
            <a:r>
              <a:rPr lang="en-SG" dirty="0"/>
              <a:t>)</a:t>
            </a:r>
          </a:p>
          <a:p>
            <a:pPr lvl="1"/>
            <a:endParaRPr lang="en-SG" dirty="0"/>
          </a:p>
        </p:txBody>
      </p:sp>
    </p:spTree>
    <p:extLst>
      <p:ext uri="{BB962C8B-B14F-4D97-AF65-F5344CB8AC3E}">
        <p14:creationId xmlns:p14="http://schemas.microsoft.com/office/powerpoint/2010/main" val="2519465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9692-8D6E-9F67-5629-DB9BC84A36CA}"/>
              </a:ext>
            </a:extLst>
          </p:cNvPr>
          <p:cNvSpPr>
            <a:spLocks noGrp="1"/>
          </p:cNvSpPr>
          <p:nvPr>
            <p:ph type="title"/>
          </p:nvPr>
        </p:nvSpPr>
        <p:spPr/>
        <p:txBody>
          <a:bodyPr/>
          <a:lstStyle/>
          <a:p>
            <a:r>
              <a:rPr lang="en-SG" dirty="0" err="1"/>
              <a:t>MutaCraft</a:t>
            </a:r>
            <a:r>
              <a:rPr lang="en-SG" dirty="0"/>
              <a:t> vs </a:t>
            </a:r>
            <a:r>
              <a:rPr lang="en-SG" dirty="0" err="1"/>
              <a:t>BindCraft</a:t>
            </a:r>
            <a:r>
              <a:rPr lang="en-SG" dirty="0"/>
              <a:t> Benchmark</a:t>
            </a:r>
          </a:p>
        </p:txBody>
      </p:sp>
      <p:sp>
        <p:nvSpPr>
          <p:cNvPr id="3" name="Content Placeholder 2">
            <a:extLst>
              <a:ext uri="{FF2B5EF4-FFF2-40B4-BE49-F238E27FC236}">
                <a16:creationId xmlns:a16="http://schemas.microsoft.com/office/drawing/2014/main" id="{C9B4F6EB-C242-72F0-9078-7358E5A4DED5}"/>
              </a:ext>
            </a:extLst>
          </p:cNvPr>
          <p:cNvSpPr>
            <a:spLocks noGrp="1"/>
          </p:cNvSpPr>
          <p:nvPr>
            <p:ph idx="1"/>
          </p:nvPr>
        </p:nvSpPr>
        <p:spPr/>
        <p:txBody>
          <a:bodyPr/>
          <a:lstStyle/>
          <a:p>
            <a:r>
              <a:rPr lang="en-SG" dirty="0"/>
              <a:t>I tested </a:t>
            </a:r>
            <a:r>
              <a:rPr lang="en-SG" dirty="0" err="1"/>
              <a:t>MutaCraft’s</a:t>
            </a:r>
            <a:r>
              <a:rPr lang="en-SG" dirty="0"/>
              <a:t> performance vs </a:t>
            </a:r>
            <a:r>
              <a:rPr lang="en-SG" dirty="0" err="1"/>
              <a:t>BindCraft</a:t>
            </a:r>
            <a:r>
              <a:rPr lang="en-SG" dirty="0"/>
              <a:t> on both these proteins to show that it can improve performance in the best and worst-case</a:t>
            </a:r>
          </a:p>
          <a:p>
            <a:r>
              <a:rPr lang="en-SG" dirty="0"/>
              <a:t>Same hyperparameters (</a:t>
            </a:r>
            <a:r>
              <a:rPr lang="en-SG" dirty="0" err="1"/>
              <a:t>num</a:t>
            </a:r>
            <a:r>
              <a:rPr lang="en-SG" dirty="0"/>
              <a:t> AF2 models, </a:t>
            </a:r>
            <a:r>
              <a:rPr lang="en-SG" dirty="0" err="1"/>
              <a:t>num</a:t>
            </a:r>
            <a:r>
              <a:rPr lang="en-SG" dirty="0"/>
              <a:t> recycles)</a:t>
            </a:r>
          </a:p>
          <a:p>
            <a:r>
              <a:rPr lang="en-SG" dirty="0"/>
              <a:t>For </a:t>
            </a:r>
            <a:r>
              <a:rPr lang="en-SG" dirty="0" err="1"/>
              <a:t>MutaCraft</a:t>
            </a:r>
            <a:r>
              <a:rPr lang="en-SG" dirty="0"/>
              <a:t>, regular </a:t>
            </a:r>
            <a:r>
              <a:rPr lang="en-SG" dirty="0" err="1"/>
              <a:t>BindCraft</a:t>
            </a:r>
            <a:r>
              <a:rPr lang="en-SG" dirty="0"/>
              <a:t> was run for 3 trajectories, and the best binder was selected for the input binder (warm start)</a:t>
            </a:r>
          </a:p>
          <a:p>
            <a:endParaRPr lang="en-SG" dirty="0"/>
          </a:p>
        </p:txBody>
      </p:sp>
    </p:spTree>
    <p:extLst>
      <p:ext uri="{BB962C8B-B14F-4D97-AF65-F5344CB8AC3E}">
        <p14:creationId xmlns:p14="http://schemas.microsoft.com/office/powerpoint/2010/main" val="13502409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7293E-5EBA-A860-B475-F76030DEDC6B}"/>
              </a:ext>
            </a:extLst>
          </p:cNvPr>
          <p:cNvSpPr>
            <a:spLocks noGrp="1"/>
          </p:cNvSpPr>
          <p:nvPr>
            <p:ph type="title"/>
          </p:nvPr>
        </p:nvSpPr>
        <p:spPr/>
        <p:txBody>
          <a:bodyPr/>
          <a:lstStyle/>
          <a:p>
            <a:r>
              <a:rPr lang="en-SG" dirty="0" err="1"/>
              <a:t>MutaCraft</a:t>
            </a:r>
            <a:r>
              <a:rPr lang="en-SG" dirty="0"/>
              <a:t> vs </a:t>
            </a:r>
            <a:r>
              <a:rPr lang="en-SG" dirty="0" err="1"/>
              <a:t>BindCraft</a:t>
            </a:r>
            <a:r>
              <a:rPr lang="en-SG" dirty="0"/>
              <a:t> Results</a:t>
            </a:r>
          </a:p>
        </p:txBody>
      </p:sp>
      <p:graphicFrame>
        <p:nvGraphicFramePr>
          <p:cNvPr id="4" name="Content Placeholder 3">
            <a:extLst>
              <a:ext uri="{FF2B5EF4-FFF2-40B4-BE49-F238E27FC236}">
                <a16:creationId xmlns:a16="http://schemas.microsoft.com/office/drawing/2014/main" id="{BDD0656C-B3C7-0A31-236E-3412769B737F}"/>
              </a:ext>
            </a:extLst>
          </p:cNvPr>
          <p:cNvGraphicFramePr>
            <a:graphicFrameLocks noGrp="1"/>
          </p:cNvGraphicFramePr>
          <p:nvPr>
            <p:ph idx="1"/>
            <p:extLst>
              <p:ext uri="{D42A27DB-BD31-4B8C-83A1-F6EECF244321}">
                <p14:modId xmlns:p14="http://schemas.microsoft.com/office/powerpoint/2010/main" val="415690574"/>
              </p:ext>
            </p:extLst>
          </p:nvPr>
        </p:nvGraphicFramePr>
        <p:xfrm>
          <a:off x="288230" y="2037444"/>
          <a:ext cx="11406820" cy="725805"/>
        </p:xfrm>
        <a:graphic>
          <a:graphicData uri="http://schemas.openxmlformats.org/drawingml/2006/table">
            <a:tbl>
              <a:tblPr>
                <a:tableStyleId>{35758FB7-9AC5-4552-8A53-C91805E547FA}</a:tableStyleId>
              </a:tblPr>
              <a:tblGrid>
                <a:gridCol w="750423">
                  <a:extLst>
                    <a:ext uri="{9D8B030D-6E8A-4147-A177-3AD203B41FA5}">
                      <a16:colId xmlns:a16="http://schemas.microsoft.com/office/drawing/2014/main" val="1324010951"/>
                    </a:ext>
                  </a:extLst>
                </a:gridCol>
                <a:gridCol w="900898">
                  <a:extLst>
                    <a:ext uri="{9D8B030D-6E8A-4147-A177-3AD203B41FA5}">
                      <a16:colId xmlns:a16="http://schemas.microsoft.com/office/drawing/2014/main" val="3449661472"/>
                    </a:ext>
                  </a:extLst>
                </a:gridCol>
                <a:gridCol w="750423">
                  <a:extLst>
                    <a:ext uri="{9D8B030D-6E8A-4147-A177-3AD203B41FA5}">
                      <a16:colId xmlns:a16="http://schemas.microsoft.com/office/drawing/2014/main" val="1103784361"/>
                    </a:ext>
                  </a:extLst>
                </a:gridCol>
                <a:gridCol w="750423">
                  <a:extLst>
                    <a:ext uri="{9D8B030D-6E8A-4147-A177-3AD203B41FA5}">
                      <a16:colId xmlns:a16="http://schemas.microsoft.com/office/drawing/2014/main" val="1749669530"/>
                    </a:ext>
                  </a:extLst>
                </a:gridCol>
                <a:gridCol w="750423">
                  <a:extLst>
                    <a:ext uri="{9D8B030D-6E8A-4147-A177-3AD203B41FA5}">
                      <a16:colId xmlns:a16="http://schemas.microsoft.com/office/drawing/2014/main" val="1294364085"/>
                    </a:ext>
                  </a:extLst>
                </a:gridCol>
                <a:gridCol w="750423">
                  <a:extLst>
                    <a:ext uri="{9D8B030D-6E8A-4147-A177-3AD203B41FA5}">
                      <a16:colId xmlns:a16="http://schemas.microsoft.com/office/drawing/2014/main" val="1470310654"/>
                    </a:ext>
                  </a:extLst>
                </a:gridCol>
                <a:gridCol w="750423">
                  <a:extLst>
                    <a:ext uri="{9D8B030D-6E8A-4147-A177-3AD203B41FA5}">
                      <a16:colId xmlns:a16="http://schemas.microsoft.com/office/drawing/2014/main" val="4292230258"/>
                    </a:ext>
                  </a:extLst>
                </a:gridCol>
                <a:gridCol w="750423">
                  <a:extLst>
                    <a:ext uri="{9D8B030D-6E8A-4147-A177-3AD203B41FA5}">
                      <a16:colId xmlns:a16="http://schemas.microsoft.com/office/drawing/2014/main" val="1806705407"/>
                    </a:ext>
                  </a:extLst>
                </a:gridCol>
                <a:gridCol w="750423">
                  <a:extLst>
                    <a:ext uri="{9D8B030D-6E8A-4147-A177-3AD203B41FA5}">
                      <a16:colId xmlns:a16="http://schemas.microsoft.com/office/drawing/2014/main" val="3685962928"/>
                    </a:ext>
                  </a:extLst>
                </a:gridCol>
                <a:gridCol w="750423">
                  <a:extLst>
                    <a:ext uri="{9D8B030D-6E8A-4147-A177-3AD203B41FA5}">
                      <a16:colId xmlns:a16="http://schemas.microsoft.com/office/drawing/2014/main" val="16860055"/>
                    </a:ext>
                  </a:extLst>
                </a:gridCol>
                <a:gridCol w="750423">
                  <a:extLst>
                    <a:ext uri="{9D8B030D-6E8A-4147-A177-3AD203B41FA5}">
                      <a16:colId xmlns:a16="http://schemas.microsoft.com/office/drawing/2014/main" val="631732564"/>
                    </a:ext>
                  </a:extLst>
                </a:gridCol>
                <a:gridCol w="750423">
                  <a:extLst>
                    <a:ext uri="{9D8B030D-6E8A-4147-A177-3AD203B41FA5}">
                      <a16:colId xmlns:a16="http://schemas.microsoft.com/office/drawing/2014/main" val="3455176722"/>
                    </a:ext>
                  </a:extLst>
                </a:gridCol>
                <a:gridCol w="750423">
                  <a:extLst>
                    <a:ext uri="{9D8B030D-6E8A-4147-A177-3AD203B41FA5}">
                      <a16:colId xmlns:a16="http://schemas.microsoft.com/office/drawing/2014/main" val="3932683795"/>
                    </a:ext>
                  </a:extLst>
                </a:gridCol>
                <a:gridCol w="750423">
                  <a:extLst>
                    <a:ext uri="{9D8B030D-6E8A-4147-A177-3AD203B41FA5}">
                      <a16:colId xmlns:a16="http://schemas.microsoft.com/office/drawing/2014/main" val="1681953143"/>
                    </a:ext>
                  </a:extLst>
                </a:gridCol>
                <a:gridCol w="750423">
                  <a:extLst>
                    <a:ext uri="{9D8B030D-6E8A-4147-A177-3AD203B41FA5}">
                      <a16:colId xmlns:a16="http://schemas.microsoft.com/office/drawing/2014/main" val="1470270370"/>
                    </a:ext>
                  </a:extLst>
                </a:gridCol>
              </a:tblGrid>
              <a:tr h="190500">
                <a:tc>
                  <a:txBody>
                    <a:bodyPr/>
                    <a:lstStyle/>
                    <a:p>
                      <a:pPr algn="l" fontAlgn="b">
                        <a:buNone/>
                      </a:pPr>
                      <a:r>
                        <a:rPr lang="en-SG" sz="1100" b="0" u="none" strike="noStrike">
                          <a:solidFill>
                            <a:srgbClr val="000000"/>
                          </a:solidFill>
                          <a:effectLst/>
                        </a:rPr>
                        <a:t>Algorithm</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highlight>
                            <a:srgbClr val="FFFF00"/>
                          </a:highlight>
                        </a:rPr>
                        <a:t>plddt_mean</a:t>
                      </a:r>
                      <a:endParaRPr lang="en-SG"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rPr>
                        <a:t>plddt_max</a:t>
                      </a:r>
                      <a:endParaRPr lang="en-SG"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plddt_min</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plddt_q25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plddt_q50</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a:solidFill>
                            <a:srgbClr val="000000"/>
                          </a:solidFill>
                          <a:effectLst/>
                        </a:rPr>
                        <a:t>plddt_q75</a:t>
                      </a:r>
                      <a:endParaRPr lang="en-SG"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highlight>
                            <a:srgbClr val="FFFF00"/>
                          </a:highlight>
                        </a:rPr>
                        <a:t>ipTM_mean</a:t>
                      </a:r>
                      <a:endParaRPr lang="en-SG"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ipTM_max</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ipTM_min</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ipTM_q25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ipTM_q50</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ipTM_q75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highlight>
                            <a:srgbClr val="FFFF00"/>
                          </a:highlight>
                        </a:rPr>
                        <a:t>duration_mean</a:t>
                      </a:r>
                      <a:endParaRPr lang="en-SG"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AlphaFold2_calls_mean</a:t>
                      </a:r>
                      <a:endParaRPr lang="en-SG"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34694247"/>
                  </a:ext>
                </a:extLst>
              </a:tr>
              <a:tr h="190500">
                <a:tc>
                  <a:txBody>
                    <a:bodyPr/>
                    <a:lstStyle/>
                    <a:p>
                      <a:pPr algn="l" fontAlgn="b">
                        <a:buNone/>
                      </a:pPr>
                      <a:r>
                        <a:rPr lang="en-SG" sz="1100" b="0" u="none" strike="noStrike">
                          <a:solidFill>
                            <a:srgbClr val="000000"/>
                          </a:solidFill>
                          <a:effectLst/>
                        </a:rPr>
                        <a:t>BindCraft</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0.522</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dirty="0">
                          <a:solidFill>
                            <a:srgbClr val="000000"/>
                          </a:solidFill>
                          <a:effectLst/>
                        </a:rPr>
                        <a:t>0.58</a:t>
                      </a:r>
                      <a:endParaRPr lang="en-SG"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0.47</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0.4925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0.5475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0.414</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0.46</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0.36</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0.3925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0.415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0.4375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538.8</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75</a:t>
                      </a:r>
                      <a:endParaRPr lang="en-SG"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60409104"/>
                  </a:ext>
                </a:extLst>
              </a:tr>
              <a:tr h="190500">
                <a:tc>
                  <a:txBody>
                    <a:bodyPr/>
                    <a:lstStyle/>
                    <a:p>
                      <a:pPr algn="l" fontAlgn="b">
                        <a:buNone/>
                      </a:pPr>
                      <a:r>
                        <a:rPr lang="en-SG" sz="1100" b="0" u="none" strike="noStrike">
                          <a:solidFill>
                            <a:srgbClr val="000000"/>
                          </a:solidFill>
                          <a:effectLst/>
                        </a:rPr>
                        <a:t>MutaCraft</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0.585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0.63</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0.54</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0.5625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0.585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0.6075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0.485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0.51</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0.46</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0.4725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0.485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0.4975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434.4</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dirty="0">
                          <a:solidFill>
                            <a:srgbClr val="000000"/>
                          </a:solidFill>
                          <a:effectLst/>
                        </a:rPr>
                        <a:t>78</a:t>
                      </a:r>
                      <a:endParaRPr lang="en-SG"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4170472"/>
                  </a:ext>
                </a:extLst>
              </a:tr>
            </a:tbl>
          </a:graphicData>
        </a:graphic>
      </p:graphicFrame>
      <p:sp>
        <p:nvSpPr>
          <p:cNvPr id="6" name="Content Placeholder 2">
            <a:extLst>
              <a:ext uri="{FF2B5EF4-FFF2-40B4-BE49-F238E27FC236}">
                <a16:creationId xmlns:a16="http://schemas.microsoft.com/office/drawing/2014/main" id="{FFC41EC4-D8CE-866B-2974-82DC8A516CF7}"/>
              </a:ext>
            </a:extLst>
          </p:cNvPr>
          <p:cNvSpPr txBox="1">
            <a:spLocks/>
          </p:cNvSpPr>
          <p:nvPr/>
        </p:nvSpPr>
        <p:spPr>
          <a:xfrm>
            <a:off x="496956" y="1420950"/>
            <a:ext cx="10972800" cy="525152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SG" dirty="0"/>
              <a:t>CD45 (worst)</a:t>
            </a:r>
          </a:p>
          <a:p>
            <a:endParaRPr lang="en-SG" dirty="0"/>
          </a:p>
          <a:p>
            <a:endParaRPr lang="en-SG" dirty="0"/>
          </a:p>
          <a:p>
            <a:endParaRPr lang="en-SG" dirty="0"/>
          </a:p>
          <a:p>
            <a:endParaRPr lang="en-SG" dirty="0"/>
          </a:p>
          <a:p>
            <a:r>
              <a:rPr lang="en-SG" dirty="0"/>
              <a:t>Der f 7 (best)</a:t>
            </a:r>
          </a:p>
          <a:p>
            <a:endParaRPr lang="en-SG" dirty="0"/>
          </a:p>
          <a:p>
            <a:endParaRPr lang="en-SG" dirty="0"/>
          </a:p>
          <a:p>
            <a:endParaRPr lang="en-SG" dirty="0"/>
          </a:p>
          <a:p>
            <a:pPr marL="0" indent="0">
              <a:buNone/>
            </a:pPr>
            <a:endParaRPr lang="en-SG" dirty="0"/>
          </a:p>
        </p:txBody>
      </p:sp>
      <p:graphicFrame>
        <p:nvGraphicFramePr>
          <p:cNvPr id="9" name="Table 8">
            <a:extLst>
              <a:ext uri="{FF2B5EF4-FFF2-40B4-BE49-F238E27FC236}">
                <a16:creationId xmlns:a16="http://schemas.microsoft.com/office/drawing/2014/main" id="{E9ED7D10-1861-D975-1E0F-9F3760B0A9AA}"/>
              </a:ext>
            </a:extLst>
          </p:cNvPr>
          <p:cNvGraphicFramePr>
            <a:graphicFrameLocks noGrp="1"/>
          </p:cNvGraphicFramePr>
          <p:nvPr>
            <p:extLst>
              <p:ext uri="{D42A27DB-BD31-4B8C-83A1-F6EECF244321}">
                <p14:modId xmlns:p14="http://schemas.microsoft.com/office/powerpoint/2010/main" val="2118321959"/>
              </p:ext>
            </p:extLst>
          </p:nvPr>
        </p:nvGraphicFramePr>
        <p:xfrm>
          <a:off x="288230" y="5142727"/>
          <a:ext cx="11598975" cy="725805"/>
        </p:xfrm>
        <a:graphic>
          <a:graphicData uri="http://schemas.openxmlformats.org/drawingml/2006/table">
            <a:tbl>
              <a:tblPr>
                <a:tableStyleId>{775DCB02-9BB8-47FD-8907-85C794F793BA}</a:tableStyleId>
              </a:tblPr>
              <a:tblGrid>
                <a:gridCol w="773265">
                  <a:extLst>
                    <a:ext uri="{9D8B030D-6E8A-4147-A177-3AD203B41FA5}">
                      <a16:colId xmlns:a16="http://schemas.microsoft.com/office/drawing/2014/main" val="1635957977"/>
                    </a:ext>
                  </a:extLst>
                </a:gridCol>
                <a:gridCol w="773265">
                  <a:extLst>
                    <a:ext uri="{9D8B030D-6E8A-4147-A177-3AD203B41FA5}">
                      <a16:colId xmlns:a16="http://schemas.microsoft.com/office/drawing/2014/main" val="3899065300"/>
                    </a:ext>
                  </a:extLst>
                </a:gridCol>
                <a:gridCol w="773265">
                  <a:extLst>
                    <a:ext uri="{9D8B030D-6E8A-4147-A177-3AD203B41FA5}">
                      <a16:colId xmlns:a16="http://schemas.microsoft.com/office/drawing/2014/main" val="2750784056"/>
                    </a:ext>
                  </a:extLst>
                </a:gridCol>
                <a:gridCol w="773265">
                  <a:extLst>
                    <a:ext uri="{9D8B030D-6E8A-4147-A177-3AD203B41FA5}">
                      <a16:colId xmlns:a16="http://schemas.microsoft.com/office/drawing/2014/main" val="3103556666"/>
                    </a:ext>
                  </a:extLst>
                </a:gridCol>
                <a:gridCol w="773265">
                  <a:extLst>
                    <a:ext uri="{9D8B030D-6E8A-4147-A177-3AD203B41FA5}">
                      <a16:colId xmlns:a16="http://schemas.microsoft.com/office/drawing/2014/main" val="712384116"/>
                    </a:ext>
                  </a:extLst>
                </a:gridCol>
                <a:gridCol w="773265">
                  <a:extLst>
                    <a:ext uri="{9D8B030D-6E8A-4147-A177-3AD203B41FA5}">
                      <a16:colId xmlns:a16="http://schemas.microsoft.com/office/drawing/2014/main" val="3139531429"/>
                    </a:ext>
                  </a:extLst>
                </a:gridCol>
                <a:gridCol w="773265">
                  <a:extLst>
                    <a:ext uri="{9D8B030D-6E8A-4147-A177-3AD203B41FA5}">
                      <a16:colId xmlns:a16="http://schemas.microsoft.com/office/drawing/2014/main" val="861616427"/>
                    </a:ext>
                  </a:extLst>
                </a:gridCol>
                <a:gridCol w="773265">
                  <a:extLst>
                    <a:ext uri="{9D8B030D-6E8A-4147-A177-3AD203B41FA5}">
                      <a16:colId xmlns:a16="http://schemas.microsoft.com/office/drawing/2014/main" val="3672768560"/>
                    </a:ext>
                  </a:extLst>
                </a:gridCol>
                <a:gridCol w="773265">
                  <a:extLst>
                    <a:ext uri="{9D8B030D-6E8A-4147-A177-3AD203B41FA5}">
                      <a16:colId xmlns:a16="http://schemas.microsoft.com/office/drawing/2014/main" val="315977822"/>
                    </a:ext>
                  </a:extLst>
                </a:gridCol>
                <a:gridCol w="773265">
                  <a:extLst>
                    <a:ext uri="{9D8B030D-6E8A-4147-A177-3AD203B41FA5}">
                      <a16:colId xmlns:a16="http://schemas.microsoft.com/office/drawing/2014/main" val="3377920883"/>
                    </a:ext>
                  </a:extLst>
                </a:gridCol>
                <a:gridCol w="773265">
                  <a:extLst>
                    <a:ext uri="{9D8B030D-6E8A-4147-A177-3AD203B41FA5}">
                      <a16:colId xmlns:a16="http://schemas.microsoft.com/office/drawing/2014/main" val="2849777436"/>
                    </a:ext>
                  </a:extLst>
                </a:gridCol>
                <a:gridCol w="773265">
                  <a:extLst>
                    <a:ext uri="{9D8B030D-6E8A-4147-A177-3AD203B41FA5}">
                      <a16:colId xmlns:a16="http://schemas.microsoft.com/office/drawing/2014/main" val="3728583169"/>
                    </a:ext>
                  </a:extLst>
                </a:gridCol>
                <a:gridCol w="773265">
                  <a:extLst>
                    <a:ext uri="{9D8B030D-6E8A-4147-A177-3AD203B41FA5}">
                      <a16:colId xmlns:a16="http://schemas.microsoft.com/office/drawing/2014/main" val="52692332"/>
                    </a:ext>
                  </a:extLst>
                </a:gridCol>
                <a:gridCol w="773265">
                  <a:extLst>
                    <a:ext uri="{9D8B030D-6E8A-4147-A177-3AD203B41FA5}">
                      <a16:colId xmlns:a16="http://schemas.microsoft.com/office/drawing/2014/main" val="2181837808"/>
                    </a:ext>
                  </a:extLst>
                </a:gridCol>
                <a:gridCol w="773265">
                  <a:extLst>
                    <a:ext uri="{9D8B030D-6E8A-4147-A177-3AD203B41FA5}">
                      <a16:colId xmlns:a16="http://schemas.microsoft.com/office/drawing/2014/main" val="2429881849"/>
                    </a:ext>
                  </a:extLst>
                </a:gridCol>
              </a:tblGrid>
              <a:tr h="190500">
                <a:tc>
                  <a:txBody>
                    <a:bodyPr/>
                    <a:lstStyle/>
                    <a:p>
                      <a:pPr algn="l" fontAlgn="b">
                        <a:buNone/>
                      </a:pPr>
                      <a:r>
                        <a:rPr lang="en-SG" sz="1100" b="0" u="none" strike="noStrike">
                          <a:solidFill>
                            <a:srgbClr val="000000"/>
                          </a:solidFill>
                          <a:effectLst/>
                        </a:rPr>
                        <a:t>Algorithm</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highlight>
                            <a:srgbClr val="FFFF00"/>
                          </a:highlight>
                        </a:rPr>
                        <a:t>plddt_mean</a:t>
                      </a:r>
                      <a:endParaRPr lang="en-SG"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plddt_max</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plddt_min</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plddt_q25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plddt_q50</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a:solidFill>
                            <a:srgbClr val="000000"/>
                          </a:solidFill>
                          <a:effectLst/>
                        </a:rPr>
                        <a:t>plddt_q75</a:t>
                      </a:r>
                      <a:endParaRPr lang="en-SG"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highlight>
                            <a:srgbClr val="FFFF00"/>
                          </a:highlight>
                        </a:rPr>
                        <a:t>ipTM_mean</a:t>
                      </a:r>
                      <a:endParaRPr lang="en-SG"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ipTM_max</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rPr>
                        <a:t>ipTM_min</a:t>
                      </a:r>
                      <a:endParaRPr lang="en-SG"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ipTM_q25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ipTM_q50</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ipTM_q75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SG" sz="1100" b="0" u="none" strike="noStrike" dirty="0" err="1">
                          <a:solidFill>
                            <a:srgbClr val="000000"/>
                          </a:solidFill>
                          <a:effectLst/>
                          <a:highlight>
                            <a:srgbClr val="FFFF00"/>
                          </a:highlight>
                        </a:rPr>
                        <a:t>duration_mean</a:t>
                      </a:r>
                      <a:endParaRPr lang="en-SG"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SG" sz="1100" b="0" u="none" strike="noStrike">
                          <a:solidFill>
                            <a:srgbClr val="000000"/>
                          </a:solidFill>
                          <a:effectLst/>
                        </a:rPr>
                        <a:t>AlphaFold2_calls_mean</a:t>
                      </a:r>
                      <a:endParaRPr lang="en-SG"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49018968"/>
                  </a:ext>
                </a:extLst>
              </a:tr>
              <a:tr h="190500">
                <a:tc>
                  <a:txBody>
                    <a:bodyPr/>
                    <a:lstStyle/>
                    <a:p>
                      <a:pPr algn="l" fontAlgn="b">
                        <a:buNone/>
                      </a:pPr>
                      <a:r>
                        <a:rPr lang="en-SG" sz="1100" b="0" u="none" strike="noStrike">
                          <a:solidFill>
                            <a:srgbClr val="000000"/>
                          </a:solidFill>
                          <a:effectLst/>
                        </a:rPr>
                        <a:t>BindCraft</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0.678</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0.73</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0.61</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0.655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0.685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0.7075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0.433</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0.49</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0.38</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0.4025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0.43</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0.465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431</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dirty="0">
                          <a:solidFill>
                            <a:srgbClr val="000000"/>
                          </a:solidFill>
                          <a:effectLst/>
                        </a:rPr>
                        <a:t>71.2</a:t>
                      </a:r>
                      <a:endParaRPr lang="en-SG"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88513585"/>
                  </a:ext>
                </a:extLst>
              </a:tr>
              <a:tr h="190500">
                <a:tc>
                  <a:txBody>
                    <a:bodyPr/>
                    <a:lstStyle/>
                    <a:p>
                      <a:pPr algn="l" fontAlgn="b">
                        <a:buNone/>
                      </a:pPr>
                      <a:r>
                        <a:rPr lang="en-SG" sz="1100" b="0" u="none" strike="noStrike">
                          <a:solidFill>
                            <a:srgbClr val="000000"/>
                          </a:solidFill>
                          <a:effectLst/>
                        </a:rPr>
                        <a:t>MutaCraft</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0.766</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0.8</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0.73</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0.7525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0.765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0.78</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0.476</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0.52</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0.44</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0.4625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0.4875</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a:solidFill>
                            <a:srgbClr val="000000"/>
                          </a:solidFill>
                          <a:effectLst/>
                        </a:rPr>
                        <a:t>354.6</a:t>
                      </a:r>
                      <a:endParaRPr lang="en-SG"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SG" sz="1100" b="0" u="none" strike="noStrike" dirty="0">
                          <a:solidFill>
                            <a:srgbClr val="000000"/>
                          </a:solidFill>
                          <a:effectLst/>
                        </a:rPr>
                        <a:t>70</a:t>
                      </a:r>
                      <a:endParaRPr lang="en-SG"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31636157"/>
                  </a:ext>
                </a:extLst>
              </a:tr>
            </a:tbl>
          </a:graphicData>
        </a:graphic>
      </p:graphicFrame>
      <p:sp>
        <p:nvSpPr>
          <p:cNvPr id="10" name="TextBox 9">
            <a:extLst>
              <a:ext uri="{FF2B5EF4-FFF2-40B4-BE49-F238E27FC236}">
                <a16:creationId xmlns:a16="http://schemas.microsoft.com/office/drawing/2014/main" id="{81BDF9E9-9DC7-4C61-722D-23088892FCD1}"/>
              </a:ext>
            </a:extLst>
          </p:cNvPr>
          <p:cNvSpPr txBox="1"/>
          <p:nvPr/>
        </p:nvSpPr>
        <p:spPr>
          <a:xfrm>
            <a:off x="4300750" y="1097784"/>
            <a:ext cx="3472489" cy="646331"/>
          </a:xfrm>
          <a:prstGeom prst="rect">
            <a:avLst/>
          </a:prstGeom>
          <a:noFill/>
        </p:spPr>
        <p:txBody>
          <a:bodyPr wrap="none" rtlCol="0">
            <a:spAutoFit/>
          </a:bodyPr>
          <a:lstStyle/>
          <a:p>
            <a:r>
              <a:rPr lang="en-SG" dirty="0"/>
              <a:t>For </a:t>
            </a:r>
            <a:r>
              <a:rPr lang="en-SG" dirty="0" err="1"/>
              <a:t>plddt</a:t>
            </a:r>
            <a:r>
              <a:rPr lang="en-SG" dirty="0"/>
              <a:t> and </a:t>
            </a:r>
            <a:r>
              <a:rPr lang="en-SG" dirty="0" err="1"/>
              <a:t>iptm</a:t>
            </a:r>
            <a:r>
              <a:rPr lang="en-SG" dirty="0"/>
              <a:t>, higher is better</a:t>
            </a:r>
          </a:p>
          <a:p>
            <a:endParaRPr lang="en-SG" dirty="0"/>
          </a:p>
        </p:txBody>
      </p:sp>
    </p:spTree>
    <p:extLst>
      <p:ext uri="{BB962C8B-B14F-4D97-AF65-F5344CB8AC3E}">
        <p14:creationId xmlns:p14="http://schemas.microsoft.com/office/powerpoint/2010/main" val="430437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201</TotalTime>
  <Words>3862</Words>
  <Application>Microsoft Office PowerPoint</Application>
  <PresentationFormat>Widescreen</PresentationFormat>
  <Paragraphs>502</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 Narrow</vt:lpstr>
      <vt:lpstr>Arial</vt:lpstr>
      <vt:lpstr>Calibri</vt:lpstr>
      <vt:lpstr>Office Theme</vt:lpstr>
      <vt:lpstr>RFdiffusion 1 → 2 → 3 Evolution</vt:lpstr>
      <vt:lpstr>Computational Protein Design</vt:lpstr>
      <vt:lpstr>Traditional Protein Design Approaches</vt:lpstr>
      <vt:lpstr>Protein Design Before Diffusion</vt:lpstr>
      <vt:lpstr>What Diffusion Models Are</vt:lpstr>
      <vt:lpstr>How Diffusion Models Are Trained</vt:lpstr>
      <vt:lpstr>What Diffusion Models Are</vt:lpstr>
      <vt:lpstr>Why Diffusion Works Well for Proteins</vt:lpstr>
      <vt:lpstr>RFdiffusion: Core Idea</vt:lpstr>
      <vt:lpstr>RFdiffusion vs Traditional Heuristic Pipelines</vt:lpstr>
      <vt:lpstr>BindCraft (AlphaFold-Guided Mutation)</vt:lpstr>
      <vt:lpstr>BindCraft vs RFdiffusion</vt:lpstr>
      <vt:lpstr>BoltzGen and Related Generative Models</vt:lpstr>
      <vt:lpstr>PepMLM and Sequence-First Models</vt:lpstr>
      <vt:lpstr>Diffusion vs Sequence-Only Models</vt:lpstr>
      <vt:lpstr>Design Paradigms Compared</vt:lpstr>
      <vt:lpstr>RFDiffusion Evolution Summary</vt:lpstr>
      <vt:lpstr>RFDiffusion Evolution Summary</vt:lpstr>
      <vt:lpstr>RFDiffusion Evolution Summary</vt:lpstr>
      <vt:lpstr>RFdiffusion1 (2023)</vt:lpstr>
      <vt:lpstr>RFdiffusion1: How it Works</vt:lpstr>
      <vt:lpstr>RFdiffusion2 (April 2025): Motivation</vt:lpstr>
      <vt:lpstr>RFdiffusion2: Motivation</vt:lpstr>
      <vt:lpstr>RFdiffusion2: Key Idea</vt:lpstr>
      <vt:lpstr>RFdiffusion2: Key Idea</vt:lpstr>
      <vt:lpstr>RFdiffusion2: Key Idea</vt:lpstr>
      <vt:lpstr>RFdiffusion2: Limitations</vt:lpstr>
      <vt:lpstr>RFdiffusion3 (Dec 2025): An All-atom leap</vt:lpstr>
      <vt:lpstr>RFdiffusion3: How it Works</vt:lpstr>
      <vt:lpstr>RFdiffusion3: Training process (all-atom learning) </vt:lpstr>
      <vt:lpstr>RFdiffusion3: Generation (inference) process</vt:lpstr>
      <vt:lpstr>RFDiffusion3: Reverse diffusion</vt:lpstr>
      <vt:lpstr>RFDiffusion3: Constraint enforcement</vt:lpstr>
      <vt:lpstr>Foundry: https://github.com/RosettaCommons/foundry</vt:lpstr>
      <vt:lpstr>Why Foundry Exists</vt:lpstr>
      <vt:lpstr>Implementation: IPD Design Pipeline</vt:lpstr>
      <vt:lpstr>MutaCraft vs BindCraft Benchmark</vt:lpstr>
      <vt:lpstr>MutaCraft vs BindCraft Benchmark</vt:lpstr>
      <vt:lpstr>MutaCraft vs BindCraft Results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Kayler Tee</cp:lastModifiedBy>
  <cp:revision>21</cp:revision>
  <dcterms:created xsi:type="dcterms:W3CDTF">2013-01-27T09:14:16Z</dcterms:created>
  <dcterms:modified xsi:type="dcterms:W3CDTF">2026-01-14T09:08:25Z</dcterms:modified>
  <cp:category/>
</cp:coreProperties>
</file>