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"/>
    <p:sldId id="272" r:id="rId3"/>
    <p:sldId id="274" r:id="rId4"/>
    <p:sldId id="270" r:id="rId5"/>
    <p:sldId id="267" r:id="rId6"/>
    <p:sldId id="269" r:id="rId7"/>
    <p:sldId id="273" r:id="rId8"/>
    <p:sldId id="256" r:id="rId9"/>
    <p:sldId id="257" r:id="rId10"/>
    <p:sldId id="276" r:id="rId11"/>
    <p:sldId id="259" r:id="rId12"/>
    <p:sldId id="260" r:id="rId13"/>
    <p:sldId id="261" r:id="rId14"/>
    <p:sldId id="262" r:id="rId15"/>
    <p:sldId id="275" r:id="rId16"/>
    <p:sldId id="263" r:id="rId17"/>
    <p:sldId id="264" r:id="rId18"/>
    <p:sldId id="26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4" d="100"/>
          <a:sy n="144" d="100"/>
        </p:scale>
        <p:origin x="198" y="11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EB94F-DD74-0558-6521-523918D435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 err="1"/>
              <a:t>MutaCraft</a:t>
            </a:r>
            <a:endParaRPr lang="en-S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0FFD60-BA5C-D68F-5C9D-401C2B25DA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SG" b="1" dirty="0"/>
              <a:t>Hybrid ‘Mutation + De Novo’ Binder Generation</a:t>
            </a:r>
            <a:endParaRPr lang="en-SG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4389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353B3-1E64-BB14-D65A-2905B1BEB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err="1"/>
              <a:t>MutaCraft</a:t>
            </a:r>
            <a:r>
              <a:rPr lang="en-SG" dirty="0"/>
              <a:t> Rationale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6EB6B-D446-A4AD-4922-A37C49072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23731"/>
            <a:ext cx="10972800" cy="4525963"/>
          </a:xfrm>
        </p:spPr>
        <p:txBody>
          <a:bodyPr/>
          <a:lstStyle/>
          <a:p>
            <a:r>
              <a:rPr lang="en-SG" dirty="0"/>
              <a:t>De novo binder generation can be costly as it generates random binders, </a:t>
            </a:r>
            <a:r>
              <a:rPr lang="en-US" dirty="0"/>
              <a:t>may drift away from </a:t>
            </a:r>
            <a:r>
              <a:rPr lang="en-SG" dirty="0"/>
              <a:t>designs that can actually exist in the real world</a:t>
            </a:r>
          </a:p>
          <a:p>
            <a:r>
              <a:rPr lang="en-SG" dirty="0"/>
              <a:t>Pure Mutational binder generation may not explore global minimum</a:t>
            </a:r>
          </a:p>
          <a:p>
            <a:r>
              <a:rPr lang="en-SG" dirty="0"/>
              <a:t>Hybrid approach to get the best of both worlds:</a:t>
            </a:r>
          </a:p>
          <a:p>
            <a:pPr lvl="1"/>
            <a:r>
              <a:rPr lang="en-SG" dirty="0"/>
              <a:t>Preserve trusted residues to save computation, while keeping random exploration to find global min</a:t>
            </a:r>
          </a:p>
        </p:txBody>
      </p:sp>
      <p:pic>
        <p:nvPicPr>
          <p:cNvPr id="1026" name="Picture 2" descr="Local &amp; Global Minima Explained with Examples - Analytics Yogi">
            <a:extLst>
              <a:ext uri="{FF2B5EF4-FFF2-40B4-BE49-F238E27FC236}">
                <a16:creationId xmlns:a16="http://schemas.microsoft.com/office/drawing/2014/main" id="{74DB61FB-691E-4816-1133-5DA297DE1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1326" y="4833082"/>
            <a:ext cx="3092725" cy="194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651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F08E8-7A16-525F-F3BD-369357EA4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62339"/>
            <a:ext cx="10972800" cy="1143000"/>
          </a:xfrm>
        </p:spPr>
        <p:txBody>
          <a:bodyPr/>
          <a:lstStyle/>
          <a:p>
            <a:r>
              <a:rPr lang="en-SG" dirty="0" err="1"/>
              <a:t>MutaCraft</a:t>
            </a:r>
            <a:r>
              <a:rPr lang="en-SG" dirty="0"/>
              <a:t> Procedure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09B40-1E19-4E4D-E15B-ADE57F088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776253"/>
            <a:ext cx="10972800" cy="4525963"/>
          </a:xfrm>
        </p:spPr>
        <p:txBody>
          <a:bodyPr/>
          <a:lstStyle/>
          <a:p>
            <a:pPr marL="0" indent="0">
              <a:buNone/>
            </a:pPr>
            <a:r>
              <a:rPr lang="en-SG" dirty="0"/>
              <a:t>Doesn’t make use of </a:t>
            </a:r>
            <a:r>
              <a:rPr lang="en-SG" dirty="0" err="1"/>
              <a:t>BindCraft</a:t>
            </a:r>
            <a:r>
              <a:rPr lang="en-SG" dirty="0"/>
              <a:t> code/scripts, uses a new procedure: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User inputs Target Protein and Template Binder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 err="1"/>
              <a:t>MutaCraft</a:t>
            </a:r>
            <a:r>
              <a:rPr lang="en-SG" dirty="0"/>
              <a:t> masks subset of residues in Template Binder to preserve them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Perform 4-stage AlphaFold2 optimisation passes (edited from </a:t>
            </a:r>
            <a:r>
              <a:rPr lang="en-SG" dirty="0" err="1"/>
              <a:t>BindCraft</a:t>
            </a:r>
            <a:r>
              <a:rPr lang="en-SG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Evaluate and keep best binders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B0FC8E3-E2BF-4713-C618-DE0A80833146}"/>
              </a:ext>
            </a:extLst>
          </p:cNvPr>
          <p:cNvSpPr/>
          <p:nvPr/>
        </p:nvSpPr>
        <p:spPr>
          <a:xfrm>
            <a:off x="6917634" y="4658138"/>
            <a:ext cx="927653" cy="927653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rgbClr val="FF0000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CEFF35D-77FA-4412-83B8-0C00FBBFE728}"/>
              </a:ext>
            </a:extLst>
          </p:cNvPr>
          <p:cNvSpPr/>
          <p:nvPr/>
        </p:nvSpPr>
        <p:spPr>
          <a:xfrm>
            <a:off x="7997687" y="4658138"/>
            <a:ext cx="927653" cy="927653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rgbClr val="FF0000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982DD90-1652-BB11-6F48-38A2D6EA1DD5}"/>
              </a:ext>
            </a:extLst>
          </p:cNvPr>
          <p:cNvSpPr/>
          <p:nvPr/>
        </p:nvSpPr>
        <p:spPr>
          <a:xfrm>
            <a:off x="9077740" y="4658137"/>
            <a:ext cx="927653" cy="92765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21595FA-9A3F-D652-682A-24C86B73F2F2}"/>
              </a:ext>
            </a:extLst>
          </p:cNvPr>
          <p:cNvSpPr/>
          <p:nvPr/>
        </p:nvSpPr>
        <p:spPr>
          <a:xfrm>
            <a:off x="10260495" y="4658138"/>
            <a:ext cx="927653" cy="92765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C59B1F-5660-2FC1-0786-360F1E91F47B}"/>
              </a:ext>
            </a:extLst>
          </p:cNvPr>
          <p:cNvSpPr txBox="1"/>
          <p:nvPr/>
        </p:nvSpPr>
        <p:spPr>
          <a:xfrm>
            <a:off x="6264964" y="5869366"/>
            <a:ext cx="2607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Template Binder as Seed: Keep these residues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0DD9C0-DE01-94D6-196F-9371A9128F4F}"/>
              </a:ext>
            </a:extLst>
          </p:cNvPr>
          <p:cNvSpPr txBox="1"/>
          <p:nvPr/>
        </p:nvSpPr>
        <p:spPr>
          <a:xfrm>
            <a:off x="9306338" y="5871476"/>
            <a:ext cx="1908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Change the rest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34D63F0-9314-9DE9-8916-9376987749F8}"/>
              </a:ext>
            </a:extLst>
          </p:cNvPr>
          <p:cNvCxnSpPr/>
          <p:nvPr/>
        </p:nvCxnSpPr>
        <p:spPr>
          <a:xfrm flipH="1" flipV="1">
            <a:off x="7593495" y="5585791"/>
            <a:ext cx="112644" cy="218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DEEA8BD-7B0B-CA41-5747-80A9A9BE5991}"/>
              </a:ext>
            </a:extLst>
          </p:cNvPr>
          <p:cNvCxnSpPr/>
          <p:nvPr/>
        </p:nvCxnSpPr>
        <p:spPr>
          <a:xfrm flipV="1">
            <a:off x="7845287" y="5585791"/>
            <a:ext cx="231913" cy="218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5980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3CB31-6C03-E550-26AD-C11D5F98F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Test Run: Human Lysozyme Binder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87DFA-9303-C8C2-84F3-926E8F126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95664"/>
            <a:ext cx="10972800" cy="4525963"/>
          </a:xfrm>
        </p:spPr>
        <p:txBody>
          <a:bodyPr/>
          <a:lstStyle/>
          <a:p>
            <a:r>
              <a:rPr lang="en-SG" dirty="0"/>
              <a:t>1OP9.pdb: </a:t>
            </a:r>
            <a:r>
              <a:rPr lang="en-US" dirty="0"/>
              <a:t>Complex of human lysozyme with camelid VHH HL6 antibody fragment</a:t>
            </a:r>
          </a:p>
          <a:p>
            <a:r>
              <a:rPr lang="en-US" dirty="0"/>
              <a:t>Target protein: Human lysozyme </a:t>
            </a:r>
          </a:p>
          <a:p>
            <a:pPr lvl="1"/>
            <a:r>
              <a:rPr lang="en-US" dirty="0"/>
              <a:t>Chosen as it’s a small, and well-studied, stable protein</a:t>
            </a:r>
          </a:p>
          <a:p>
            <a:r>
              <a:rPr lang="en-US" dirty="0"/>
              <a:t>Binder template: HL6</a:t>
            </a:r>
          </a:p>
          <a:p>
            <a:r>
              <a:rPr lang="en-US" dirty="0"/>
              <a:t>I tested </a:t>
            </a:r>
            <a:r>
              <a:rPr lang="en-US" dirty="0" err="1"/>
              <a:t>MutaCraft</a:t>
            </a:r>
            <a:r>
              <a:rPr lang="en-US" dirty="0"/>
              <a:t> by letting it generate binders using HL6 as the seed, then evaluated them</a:t>
            </a:r>
          </a:p>
          <a:p>
            <a:endParaRPr lang="en-SG" dirty="0"/>
          </a:p>
          <a:p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D602AB-5C31-8439-135E-136E32989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70" y="4927927"/>
            <a:ext cx="1638922" cy="12976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06FC82-9C3D-5CEE-98BC-91D561A7E283}"/>
              </a:ext>
            </a:extLst>
          </p:cNvPr>
          <p:cNvSpPr txBox="1"/>
          <p:nvPr/>
        </p:nvSpPr>
        <p:spPr>
          <a:xfrm>
            <a:off x="344557" y="6225555"/>
            <a:ext cx="1967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Target: Lysozyme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33EDAA-FBA5-DD0F-E52B-C21AFAABF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241" y="5014912"/>
            <a:ext cx="1415498" cy="11903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AB960F-B6FA-53CA-B482-56E6E19B3AC8}"/>
              </a:ext>
            </a:extLst>
          </p:cNvPr>
          <p:cNvSpPr txBox="1"/>
          <p:nvPr/>
        </p:nvSpPr>
        <p:spPr>
          <a:xfrm>
            <a:off x="2814016" y="6190322"/>
            <a:ext cx="19679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Binder Template: HL6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997927B-FA9F-4F1F-A702-19DB2D5ADD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6247" y="4594989"/>
            <a:ext cx="2372967" cy="161022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6D49D87-5DBE-0691-3238-E22789C415F8}"/>
              </a:ext>
            </a:extLst>
          </p:cNvPr>
          <p:cNvSpPr txBox="1"/>
          <p:nvPr/>
        </p:nvSpPr>
        <p:spPr>
          <a:xfrm>
            <a:off x="7004438" y="6410265"/>
            <a:ext cx="3623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My </a:t>
            </a:r>
            <a:r>
              <a:rPr lang="en-SG" dirty="0" err="1"/>
              <a:t>MutaCraft</a:t>
            </a:r>
            <a:r>
              <a:rPr lang="en-SG" dirty="0"/>
              <a:t> generated Binder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14886D38-0455-C149-5A25-422B99F87CB6}"/>
              </a:ext>
            </a:extLst>
          </p:cNvPr>
          <p:cNvSpPr/>
          <p:nvPr/>
        </p:nvSpPr>
        <p:spPr>
          <a:xfrm>
            <a:off x="5062330" y="5466522"/>
            <a:ext cx="1737693" cy="50358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70138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/>
              <a:t>Results (Re-predicted &amp; Scored using AF2 &amp; Rosetta)</a:t>
            </a:r>
            <a:endParaRPr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35FB309-292A-18FA-A2EF-1F519664F3F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9600" y="1169504"/>
          <a:ext cx="10972794" cy="2506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2">
                  <a:extLst>
                    <a:ext uri="{9D8B030D-6E8A-4147-A177-3AD203B41FA5}">
                      <a16:colId xmlns:a16="http://schemas.microsoft.com/office/drawing/2014/main" val="2269963892"/>
                    </a:ext>
                  </a:extLst>
                </a:gridCol>
                <a:gridCol w="1567542">
                  <a:extLst>
                    <a:ext uri="{9D8B030D-6E8A-4147-A177-3AD203B41FA5}">
                      <a16:colId xmlns:a16="http://schemas.microsoft.com/office/drawing/2014/main" val="158728091"/>
                    </a:ext>
                  </a:extLst>
                </a:gridCol>
                <a:gridCol w="1567542">
                  <a:extLst>
                    <a:ext uri="{9D8B030D-6E8A-4147-A177-3AD203B41FA5}">
                      <a16:colId xmlns:a16="http://schemas.microsoft.com/office/drawing/2014/main" val="458009381"/>
                    </a:ext>
                  </a:extLst>
                </a:gridCol>
                <a:gridCol w="1567542">
                  <a:extLst>
                    <a:ext uri="{9D8B030D-6E8A-4147-A177-3AD203B41FA5}">
                      <a16:colId xmlns:a16="http://schemas.microsoft.com/office/drawing/2014/main" val="729818614"/>
                    </a:ext>
                  </a:extLst>
                </a:gridCol>
                <a:gridCol w="1567542">
                  <a:extLst>
                    <a:ext uri="{9D8B030D-6E8A-4147-A177-3AD203B41FA5}">
                      <a16:colId xmlns:a16="http://schemas.microsoft.com/office/drawing/2014/main" val="424228616"/>
                    </a:ext>
                  </a:extLst>
                </a:gridCol>
                <a:gridCol w="1567542">
                  <a:extLst>
                    <a:ext uri="{9D8B030D-6E8A-4147-A177-3AD203B41FA5}">
                      <a16:colId xmlns:a16="http://schemas.microsoft.com/office/drawing/2014/main" val="4208959858"/>
                    </a:ext>
                  </a:extLst>
                </a:gridCol>
                <a:gridCol w="1567542">
                  <a:extLst>
                    <a:ext uri="{9D8B030D-6E8A-4147-A177-3AD203B41FA5}">
                      <a16:colId xmlns:a16="http://schemas.microsoft.com/office/drawing/2014/main" val="41161321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Binder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8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plddt_mean</a:t>
                      </a:r>
                      <a:endParaRPr lang="en-SG" sz="18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algn="l" fontAlgn="b">
                        <a:buNone/>
                      </a:pPr>
                      <a:r>
                        <a:rPr lang="en-SG" dirty="0"/>
                        <a:t>Higher is better</a:t>
                      </a:r>
                      <a:endParaRPr lang="en-SG" sz="18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8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ptm_mean</a:t>
                      </a:r>
                      <a:endParaRPr lang="en-SG" sz="18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algn="l" fontAlgn="b">
                        <a:buNone/>
                      </a:pPr>
                      <a:r>
                        <a:rPr lang="en-SG" dirty="0"/>
                        <a:t>Higher is better</a:t>
                      </a:r>
                      <a:endParaRPr lang="en-SG" sz="18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8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i_ptm_mean</a:t>
                      </a:r>
                      <a:endParaRPr lang="en-SG" sz="18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algn="l" fontAlgn="b">
                        <a:buNone/>
                      </a:pPr>
                      <a:r>
                        <a:rPr lang="en-SG" dirty="0"/>
                        <a:t>Higher is better</a:t>
                      </a:r>
                      <a:endParaRPr lang="en-SG" sz="18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8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pae_mean</a:t>
                      </a:r>
                      <a:endParaRPr lang="en-SG" sz="18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Lower is better</a:t>
                      </a:r>
                      <a:endParaRPr lang="en-SG" sz="18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8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i_pae_mean</a:t>
                      </a:r>
                      <a:endParaRPr lang="en-SG" sz="18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algn="l" fontAlgn="b">
                        <a:buNone/>
                      </a:pPr>
                      <a:r>
                        <a:rPr lang="en-SG" dirty="0"/>
                        <a:t>Lower is better</a:t>
                      </a:r>
                      <a:endParaRPr lang="en-SG" sz="18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8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loss_mean</a:t>
                      </a:r>
                      <a:endParaRPr lang="en-SG" sz="18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algn="l" fontAlgn="b">
                        <a:buNone/>
                      </a:pPr>
                      <a:r>
                        <a:rPr lang="en-SG" dirty="0"/>
                        <a:t>Lower is better</a:t>
                      </a:r>
                      <a:endParaRPr lang="en-SG" sz="18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4468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HL6 camel VHH template (Original Binder)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0.397544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0.439117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0.154836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0.766483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0.881567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6.450178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66580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Best </a:t>
                      </a:r>
                      <a:r>
                        <a:rPr lang="en-SG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MutaCraft</a:t>
                      </a: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Binder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0.494419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0.44309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0.155191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0.761355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0.853633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5.961434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62779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Improvement Percentage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24.3%</a:t>
                      </a:r>
                      <a:r>
                        <a:rPr lang="en-SG" sz="36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☑</a:t>
                      </a:r>
                      <a:endParaRPr lang="en-SG" sz="3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0.9%</a:t>
                      </a:r>
                      <a:r>
                        <a:rPr lang="en-SG" sz="36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☑</a:t>
                      </a:r>
                      <a:endParaRPr lang="en-SG" sz="3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0.22%</a:t>
                      </a:r>
                      <a:r>
                        <a:rPr lang="en-SG" sz="36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☑</a:t>
                      </a:r>
                      <a:endParaRPr lang="en-SG" sz="3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0.669%</a:t>
                      </a:r>
                      <a:r>
                        <a:rPr lang="en-SG" sz="36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☑</a:t>
                      </a:r>
                      <a:endParaRPr lang="en-SG" sz="3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3.2%</a:t>
                      </a:r>
                      <a:r>
                        <a:rPr lang="en-SG" sz="36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☑</a:t>
                      </a:r>
                      <a:endParaRPr lang="en-SG" sz="3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7.6%</a:t>
                      </a:r>
                      <a:r>
                        <a:rPr lang="en-SG" sz="36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☑</a:t>
                      </a:r>
                      <a:endParaRPr lang="en-SG" sz="3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3802211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F24CF73-D4E8-5019-2104-81ADCF54AED7}"/>
              </a:ext>
            </a:extLst>
          </p:cNvPr>
          <p:cNvSpPr txBox="1"/>
          <p:nvPr/>
        </p:nvSpPr>
        <p:spPr>
          <a:xfrm>
            <a:off x="371061" y="3698956"/>
            <a:ext cx="1169901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400" dirty="0"/>
              <a:t>I re-predicted the binder &amp; complex w/ AF2, then scored w/ AF2 &amp; Rosetta: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400" dirty="0" err="1"/>
              <a:t>MutaCraft’s</a:t>
            </a:r>
            <a:r>
              <a:rPr lang="en-SG" sz="2400" dirty="0"/>
              <a:t> binder shows Improvement across all metrics: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pLDDT</a:t>
            </a:r>
            <a:r>
              <a:rPr lang="en-US" sz="2400" dirty="0"/>
              <a:t> (predicted Local Distance Difference Test): Binder residue-level confidence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pTM</a:t>
            </a:r>
            <a:r>
              <a:rPr lang="en-US" sz="2400" dirty="0"/>
              <a:t> (predicted TM-score): Confidence in the binder’s global fold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i_ptm</a:t>
            </a:r>
            <a:r>
              <a:rPr lang="en-US" sz="2400" dirty="0"/>
              <a:t>: </a:t>
            </a:r>
            <a:r>
              <a:rPr lang="en-US" sz="2400" dirty="0" err="1"/>
              <a:t>pTM</a:t>
            </a:r>
            <a:r>
              <a:rPr lang="en-US" sz="2400" dirty="0"/>
              <a:t> at Interface (where target and binder meet)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pAE</a:t>
            </a:r>
            <a:r>
              <a:rPr lang="en-US" sz="2400" dirty="0"/>
              <a:t> (predicted Alignment Error): Positional error between target and binder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i_pAE</a:t>
            </a:r>
            <a:r>
              <a:rPr lang="en-US" sz="2400" dirty="0"/>
              <a:t>: </a:t>
            </a:r>
            <a:r>
              <a:rPr lang="en-US" sz="2400" dirty="0" err="1"/>
              <a:t>pAE</a:t>
            </a:r>
            <a:r>
              <a:rPr lang="en-US" sz="2400" dirty="0"/>
              <a:t> at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AlphaFold loss: Aggregate design objective used during </a:t>
            </a:r>
            <a:r>
              <a:rPr lang="en-US" sz="2400" dirty="0" err="1"/>
              <a:t>optimisation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SG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273D43-1D49-0CAF-6D0E-82C0A7546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331" y="1717351"/>
            <a:ext cx="707749" cy="5951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7D3C8F-D5FD-1BAD-C503-02CD40B59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275" y="2574509"/>
            <a:ext cx="510605" cy="346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529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C7D52-D362-C341-1572-4B18CFBCE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Results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70939-AEFA-80FA-4DDD-D144C2A5F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the hybrid design pulls ahead: </a:t>
            </a:r>
          </a:p>
          <a:p>
            <a:pPr lvl="1"/>
            <a:r>
              <a:rPr lang="en-US" dirty="0"/>
              <a:t>Seed-guided </a:t>
            </a:r>
            <a:r>
              <a:rPr lang="en-US" dirty="0" err="1"/>
              <a:t>initialisation</a:t>
            </a:r>
            <a:r>
              <a:rPr lang="en-US" dirty="0"/>
              <a:t> preserved Template Binder’s hotspot contacts</a:t>
            </a:r>
          </a:p>
          <a:p>
            <a:pPr lvl="1"/>
            <a:r>
              <a:rPr lang="en-US" dirty="0"/>
              <a:t>The KL prior kept them stable during Stage 1 (Kullback-Leibler (KL) </a:t>
            </a:r>
            <a:r>
              <a:rPr lang="en-US" dirty="0" err="1"/>
              <a:t>regularisation</a:t>
            </a:r>
            <a:r>
              <a:rPr lang="en-US" dirty="0"/>
              <a:t> term keeps the distribution near the seed early on)</a:t>
            </a:r>
          </a:p>
          <a:p>
            <a:pPr lvl="1"/>
            <a:r>
              <a:rPr lang="en-US" dirty="0"/>
              <a:t>Semi-greedy mutations repaired low-confidence loops</a:t>
            </a:r>
          </a:p>
          <a:p>
            <a:pPr lvl="1"/>
            <a:r>
              <a:rPr lang="en-US" dirty="0"/>
              <a:t>Resulting in: Confidence up and Error down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67097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Future </a:t>
            </a:r>
            <a:r>
              <a:rPr lang="en-SG" dirty="0"/>
              <a:t>Improvements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Reinforcement learning loops: </a:t>
            </a:r>
            <a:endParaRPr lang="en-SG" dirty="0"/>
          </a:p>
          <a:p>
            <a:pPr lvl="1"/>
            <a:r>
              <a:rPr dirty="0"/>
              <a:t>Introduce policy-gradient or RL fine-tuning where mutation proposals are rewarded with AlphaFold confidence</a:t>
            </a:r>
            <a:r>
              <a:rPr lang="en-SG" dirty="0"/>
              <a:t>/</a:t>
            </a:r>
            <a:r>
              <a:rPr dirty="0"/>
              <a:t>interface metrics. </a:t>
            </a:r>
            <a:endParaRPr lang="en-SG" dirty="0"/>
          </a:p>
          <a:p>
            <a:pPr lvl="1"/>
            <a:r>
              <a:rPr lang="en-SG" dirty="0"/>
              <a:t>L</a:t>
            </a:r>
            <a:r>
              <a:rPr dirty="0"/>
              <a:t>earn which </a:t>
            </a:r>
            <a:r>
              <a:rPr lang="en-SG" dirty="0"/>
              <a:t>mutations</a:t>
            </a:r>
            <a:r>
              <a:rPr dirty="0"/>
              <a:t> consistently improve binding instead of following fixed schedules.</a:t>
            </a:r>
            <a:endParaRPr lang="en-SG" dirty="0"/>
          </a:p>
          <a:p>
            <a:r>
              <a:rPr dirty="0"/>
              <a:t>Evolutionary / genetic refinement: </a:t>
            </a:r>
            <a:endParaRPr lang="en-SG" dirty="0"/>
          </a:p>
          <a:p>
            <a:pPr lvl="1"/>
            <a:r>
              <a:rPr dirty="0"/>
              <a:t>Maintain </a:t>
            </a:r>
            <a:r>
              <a:rPr lang="en-SG" dirty="0"/>
              <a:t>good </a:t>
            </a:r>
            <a:r>
              <a:rPr dirty="0"/>
              <a:t>binders, recombine guided/unguided regions, apply targeted mutations to carry forward useful </a:t>
            </a:r>
            <a:r>
              <a:rPr lang="en-SG" dirty="0"/>
              <a:t>changes</a:t>
            </a:r>
            <a:r>
              <a:rPr dirty="0"/>
              <a:t>. </a:t>
            </a:r>
            <a:r>
              <a:rPr lang="en-SG" dirty="0"/>
              <a:t>Avoid discarding </a:t>
            </a:r>
            <a:r>
              <a:rPr dirty="0"/>
              <a:t>partial successes when restarts happen</a:t>
            </a:r>
            <a:r>
              <a:rPr lang="en-SG" dirty="0"/>
              <a:t>.</a:t>
            </a:r>
          </a:p>
          <a:p>
            <a:r>
              <a:rPr dirty="0"/>
              <a:t>Benchmark </a:t>
            </a:r>
            <a:r>
              <a:rPr lang="en-SG" dirty="0" err="1"/>
              <a:t>MutaCraft</a:t>
            </a:r>
            <a:r>
              <a:rPr dirty="0"/>
              <a:t> vs </a:t>
            </a:r>
            <a:r>
              <a:rPr dirty="0" err="1"/>
              <a:t>BindCraft</a:t>
            </a:r>
            <a:r>
              <a:rPr dirty="0"/>
              <a:t> cost: </a:t>
            </a:r>
            <a:endParaRPr lang="en-SG" dirty="0"/>
          </a:p>
          <a:p>
            <a:pPr lvl="1"/>
            <a:r>
              <a:rPr lang="en-SG" dirty="0"/>
              <a:t>See if </a:t>
            </a:r>
            <a:r>
              <a:rPr lang="en-SG" dirty="0" err="1"/>
              <a:t>MutaCraft</a:t>
            </a:r>
            <a:r>
              <a:rPr lang="en-SG" dirty="0"/>
              <a:t> is less computationally demanding/faster than </a:t>
            </a:r>
            <a:r>
              <a:rPr lang="en-SG" dirty="0" err="1"/>
              <a:t>BindCraft</a:t>
            </a:r>
            <a:endParaRPr lang="en-SG" dirty="0"/>
          </a:p>
          <a:p>
            <a:r>
              <a:rPr lang="en-SG" dirty="0"/>
              <a:t>Independent evaluation w/ Boltz2, etc.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Mutacraft Hybrid Binder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 err="1"/>
              <a:t>Mutacraft</a:t>
            </a:r>
            <a:r>
              <a:rPr dirty="0"/>
              <a:t> implements a hybrid binder design workflow that couples AlphaFold2 structure refinement with semi-random sequence exploration to iteratively improve binders against a chosen target.</a:t>
            </a:r>
          </a:p>
          <a:p>
            <a:pPr>
              <a:defRPr sz="1800"/>
            </a:pPr>
            <a:r>
              <a:rPr dirty="0"/>
              <a:t>The workflow is most useful when a template binder exists; it preserves trusted residues while still probing new sequence space, reducing risk compared to purely de novo designs.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Hybrid?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Pure de novo hallucination offers maximum freedom but can drift away from experimentally validated scaffolds, leading to unstable binders or loss of key contacts.</a:t>
            </a:r>
          </a:p>
          <a:p>
            <a:pPr>
              <a:defRPr sz="1800"/>
            </a:pPr>
            <a:r>
              <a:rPr dirty="0"/>
              <a:t>Pure transplanting of a known binder explores too narrowly; it rarely discovers improved interface contacts or tighter binding interactions.</a:t>
            </a:r>
          </a:p>
          <a:p>
            <a:pPr>
              <a:defRPr sz="1800"/>
            </a:pPr>
            <a:r>
              <a:rPr dirty="0"/>
              <a:t>The hybrid strategy keeps a controllable fraction of residues near the seed while allowing AlphaFold2 to explore novel positions, capturing the strengths of both extremes.</a:t>
            </a:r>
          </a:p>
          <a:p>
            <a:pPr>
              <a:defRPr sz="1800"/>
            </a:pPr>
            <a:r>
              <a:rPr dirty="0"/>
              <a:t>Case study: camelid VHH HL6 fragment (chain A of PDB 1OP9) targeting human lysozyme (chain B).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63F42-B7C5-CBD3-4B6C-A46C53C4E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New additions that are not in </a:t>
            </a:r>
            <a:r>
              <a:rPr lang="en-SG" dirty="0" err="1"/>
              <a:t>BindCraft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5D10E-75C8-26DA-7184-01ED9BAF5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Hybrid </a:t>
            </a:r>
            <a:r>
              <a:rPr lang="en-US" dirty="0" err="1"/>
              <a:t>initialisation</a:t>
            </a:r>
            <a:r>
              <a:rPr lang="en-US" dirty="0"/>
              <a:t>: Stage 1 mixes seed logits with random noise according to the guided mask and </a:t>
            </a:r>
            <a:r>
              <a:rPr lang="en-SG" dirty="0"/>
              <a:t> </a:t>
            </a:r>
            <a:r>
              <a:rPr lang="en-SG" i="1" dirty="0" err="1"/>
              <a:t>guided_seed_ratio</a:t>
            </a:r>
            <a:r>
              <a:rPr lang="en-US" dirty="0"/>
              <a:t>. Standard </a:t>
            </a:r>
            <a:r>
              <a:rPr lang="en-US" dirty="0" err="1"/>
              <a:t>BindCraft</a:t>
            </a:r>
            <a:r>
              <a:rPr lang="en-US" dirty="0"/>
              <a:t> doesn’t do this seed/random blending.</a:t>
            </a:r>
          </a:p>
          <a:p>
            <a:r>
              <a:rPr lang="en-US" dirty="0"/>
              <a:t>Guided mask + KL prior: We can designate a fraction of residues as guided; for those, a Kullback-Leibler (KL) </a:t>
            </a:r>
            <a:r>
              <a:rPr lang="en-US" dirty="0" err="1"/>
              <a:t>regularisation</a:t>
            </a:r>
            <a:r>
              <a:rPr lang="en-US" dirty="0"/>
              <a:t> term keeps the distribution near the seed early on. </a:t>
            </a:r>
            <a:r>
              <a:rPr lang="en-US" dirty="0" err="1"/>
              <a:t>BindCraft</a:t>
            </a:r>
            <a:r>
              <a:rPr lang="en-US" dirty="0"/>
              <a:t> doesn’t have this seed-preserving prior.</a:t>
            </a:r>
          </a:p>
          <a:p>
            <a:r>
              <a:rPr lang="en-SG" i="1" dirty="0" err="1"/>
              <a:t>guided_seed_ratio_schedule</a:t>
            </a:r>
            <a:r>
              <a:rPr lang="en-SG" i="1" dirty="0"/>
              <a:t> </a:t>
            </a:r>
            <a:r>
              <a:rPr lang="en-US" dirty="0"/>
              <a:t>controls: The linear decay between </a:t>
            </a:r>
            <a:r>
              <a:rPr lang="en-SG" i="1" dirty="0"/>
              <a:t>GUIDED_SEED_RATIO_START </a:t>
            </a:r>
            <a:r>
              <a:rPr lang="en-US" dirty="0"/>
              <a:t>and </a:t>
            </a:r>
            <a:r>
              <a:rPr lang="en-SG" i="1" dirty="0"/>
              <a:t>GUIDED_SEED_RATIO_END </a:t>
            </a:r>
            <a:r>
              <a:rPr lang="en-US" dirty="0"/>
              <a:t>that switches guided positions from seed-heavy to more random over Stage 1.</a:t>
            </a:r>
          </a:p>
          <a:p>
            <a:r>
              <a:rPr lang="en-US" dirty="0"/>
              <a:t>Stage 4 seed bias option: Semi-greedy mutations can bias proposals toward seed residues on guided positions (</a:t>
            </a:r>
            <a:r>
              <a:rPr lang="en-US" i="1" dirty="0"/>
              <a:t>BIAS_STAGE4</a:t>
            </a:r>
            <a:r>
              <a:rPr lang="en-US" dirty="0"/>
              <a:t>). That gives the hybrid design a way to gently revert toward the seed when sampling. The default </a:t>
            </a:r>
            <a:r>
              <a:rPr lang="en-US" dirty="0" err="1"/>
              <a:t>BindCraft</a:t>
            </a:r>
            <a:r>
              <a:rPr lang="en-US" dirty="0"/>
              <a:t> stage doesn’t incorporate seed-aware sampling.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15066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Extract the template sequence from selected chains and trim/pad it to match the binder slot that AlphaFold dynamically allocates (prints both requested and actual lengths).</a:t>
            </a:r>
          </a:p>
          <a:p>
            <a:pPr>
              <a:defRPr sz="1800"/>
            </a:pPr>
            <a:r>
              <a:rPr dirty="0"/>
              <a:t>Construct the guided mask and hybrid logits so seed-protected residues remain template-biased while the remaining positions start from diversified logits.</a:t>
            </a:r>
          </a:p>
          <a:p>
            <a:pPr>
              <a:defRPr sz="1800"/>
            </a:pPr>
            <a:r>
              <a:rPr dirty="0"/>
              <a:t>Run the four staged AlphaFold2 </a:t>
            </a:r>
            <a:r>
              <a:rPr dirty="0" err="1"/>
              <a:t>optimi</a:t>
            </a:r>
            <a:r>
              <a:rPr lang="en-SG" dirty="0"/>
              <a:t>s</a:t>
            </a:r>
            <a:r>
              <a:rPr dirty="0" err="1"/>
              <a:t>ation</a:t>
            </a:r>
            <a:r>
              <a:rPr dirty="0"/>
              <a:t> passes (logits, </a:t>
            </a:r>
            <a:r>
              <a:rPr dirty="0" err="1"/>
              <a:t>softmax</a:t>
            </a:r>
            <a:r>
              <a:rPr dirty="0"/>
              <a:t> anneal, straight-through, semi-greedy) to sculpt the candidate binder sequence.</a:t>
            </a:r>
          </a:p>
          <a:p>
            <a:pPr>
              <a:defRPr sz="1800"/>
            </a:pPr>
            <a:r>
              <a:rPr dirty="0"/>
              <a:t>Collect metrics, track the best-performing sequences, and write outputs for downstream evaluation or experimental design.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Hybrid </a:t>
            </a:r>
            <a:r>
              <a:rPr dirty="0" err="1"/>
              <a:t>Initiali</a:t>
            </a:r>
            <a:r>
              <a:rPr lang="en-SG" dirty="0"/>
              <a:t>s</a:t>
            </a:r>
            <a:r>
              <a:rPr dirty="0" err="1"/>
              <a:t>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lang="en-US" sz="1800" dirty="0"/>
              <a:t>Logits are the raw, </a:t>
            </a:r>
            <a:r>
              <a:rPr lang="en-US" sz="1800" dirty="0" err="1"/>
              <a:t>unnormalised</a:t>
            </a:r>
            <a:r>
              <a:rPr lang="en-US" sz="1800" dirty="0"/>
              <a:t> scores output by a model before applying a </a:t>
            </a:r>
            <a:r>
              <a:rPr lang="en-US" sz="1800" dirty="0" err="1"/>
              <a:t>softmax</a:t>
            </a:r>
            <a:r>
              <a:rPr lang="en-US" sz="1800" dirty="0"/>
              <a:t>. For each position in the sequence, we have a 20-dimensional logit vector (one score per amino acid)</a:t>
            </a:r>
          </a:p>
          <a:p>
            <a:pPr>
              <a:defRPr sz="1800"/>
            </a:pPr>
            <a:r>
              <a:rPr lang="en-US" sz="1800" dirty="0"/>
              <a:t>Start with a mix of seed and random logits:</a:t>
            </a:r>
          </a:p>
          <a:p>
            <a:pPr>
              <a:defRPr sz="1800"/>
            </a:pPr>
            <a:r>
              <a:rPr lang="en-US" sz="1800" dirty="0"/>
              <a:t>Guided positions are the residues we want to preserve from the seed binder (typically hotspots or structural anchors)</a:t>
            </a:r>
            <a:endParaRPr lang="en-SG" i="1" dirty="0"/>
          </a:p>
          <a:p>
            <a:pPr>
              <a:defRPr sz="1800"/>
            </a:pPr>
            <a:r>
              <a:rPr i="1" dirty="0" err="1"/>
              <a:t>guided_mask</a:t>
            </a:r>
            <a:r>
              <a:rPr i="1" dirty="0"/>
              <a:t> </a:t>
            </a:r>
            <a:r>
              <a:rPr dirty="0"/>
              <a:t>randomly marks a user-defined fraction of residues (default 50%) as </a:t>
            </a:r>
            <a:r>
              <a:rPr lang="en-SG" dirty="0"/>
              <a:t>guided,</a:t>
            </a:r>
            <a:r>
              <a:rPr dirty="0"/>
              <a:t> these positions start near the template and receive KL </a:t>
            </a:r>
            <a:r>
              <a:rPr dirty="0" err="1"/>
              <a:t>regulari</a:t>
            </a:r>
            <a:r>
              <a:rPr lang="en-SG" dirty="0"/>
              <a:t>s</a:t>
            </a:r>
            <a:r>
              <a:rPr dirty="0" err="1"/>
              <a:t>ation</a:t>
            </a:r>
            <a:r>
              <a:rPr dirty="0"/>
              <a:t> early on.</a:t>
            </a:r>
            <a:r>
              <a:rPr lang="en-SG" dirty="0"/>
              <a:t> (</a:t>
            </a:r>
            <a:r>
              <a:rPr lang="en-SG" sz="1800" dirty="0"/>
              <a:t>Kullback-Leibler divergence </a:t>
            </a:r>
            <a:r>
              <a:rPr lang="en-SG" dirty="0"/>
              <a:t>measures how far the current distribution deviates from reference, keep guided sites close to reference through a KL penalty)</a:t>
            </a:r>
            <a:endParaRPr dirty="0"/>
          </a:p>
          <a:p>
            <a:pPr>
              <a:defRPr sz="1800"/>
            </a:pPr>
            <a:r>
              <a:rPr lang="en-SG" sz="1800" i="1" dirty="0" err="1"/>
              <a:t>guided_seed_ratio</a:t>
            </a:r>
            <a:r>
              <a:rPr lang="en-SG" sz="1800" i="1" dirty="0"/>
              <a:t> </a:t>
            </a:r>
            <a:r>
              <a:rPr lang="en-US" sz="1800" dirty="0"/>
              <a:t>is the linear decay used to mix the seed logits with random noise during Stage 1. At iteration t (out of </a:t>
            </a:r>
            <a:r>
              <a:rPr lang="en-US" sz="1800" dirty="0" err="1"/>
              <a:t>t_max</a:t>
            </a:r>
            <a:r>
              <a:rPr lang="en-US" sz="1800" dirty="0"/>
              <a:t> steps) it returns </a:t>
            </a:r>
            <a:r>
              <a:rPr lang="en-US" sz="1800" dirty="0" err="1"/>
              <a:t>seed_ratio</a:t>
            </a:r>
            <a:r>
              <a:rPr lang="en-US" sz="1800" dirty="0"/>
              <a:t>(t) = </a:t>
            </a:r>
            <a:r>
              <a:rPr lang="en-US" sz="1800" dirty="0" err="1"/>
              <a:t>seed_ratio_start</a:t>
            </a:r>
            <a:r>
              <a:rPr lang="en-US" sz="1800" dirty="0"/>
              <a:t>+ (</a:t>
            </a:r>
            <a:r>
              <a:rPr lang="en-US" sz="1800" dirty="0" err="1"/>
              <a:t>seed_ratio_end</a:t>
            </a:r>
            <a:r>
              <a:rPr lang="en-US" sz="1800" dirty="0"/>
              <a:t> – </a:t>
            </a:r>
            <a:r>
              <a:rPr lang="en-US" sz="1800" dirty="0" err="1"/>
              <a:t>seed_ratio_start</a:t>
            </a:r>
            <a:r>
              <a:rPr lang="en-US" sz="1800" dirty="0"/>
              <a:t>) * (t / </a:t>
            </a:r>
            <a:r>
              <a:rPr lang="en-US" sz="1800" dirty="0" err="1"/>
              <a:t>t_max</a:t>
            </a:r>
            <a:r>
              <a:rPr lang="en-US" sz="1800" dirty="0"/>
              <a:t>) With defaults  </a:t>
            </a:r>
            <a:r>
              <a:rPr lang="en-US" sz="1800" dirty="0" err="1"/>
              <a:t>seed_ratio_start</a:t>
            </a:r>
            <a:r>
              <a:rPr lang="en-US" sz="1800" dirty="0"/>
              <a:t> = 0.9 and  </a:t>
            </a:r>
            <a:r>
              <a:rPr lang="en-US" sz="1800" dirty="0" err="1"/>
              <a:t>seed_ratio_end</a:t>
            </a:r>
            <a:r>
              <a:rPr lang="en-US" sz="1800" dirty="0"/>
              <a:t> = 0.2, the guided residues start 90 % seed / 10 % random and gradually relax toward 20 % seed / 80 % random by the end of Stage 1. Unguided positions ignore this (α=0), so they’re purely random from the beginning </a:t>
            </a:r>
          </a:p>
          <a:p>
            <a:pPr>
              <a:defRPr sz="1800"/>
            </a:pPr>
            <a:r>
              <a:rPr i="1" dirty="0" err="1"/>
              <a:t>init_mixed_logits</a:t>
            </a:r>
            <a:r>
              <a:rPr i="1" dirty="0"/>
              <a:t> </a:t>
            </a:r>
            <a:r>
              <a:rPr dirty="0"/>
              <a:t>blends seed logits with Gaussian noise so </a:t>
            </a:r>
            <a:r>
              <a:rPr lang="en-SG" dirty="0"/>
              <a:t>guided</a:t>
            </a:r>
            <a:r>
              <a:rPr dirty="0"/>
              <a:t> residues remain near the template and free residues start de novo.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1: Logits Refinement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Stage 1 includes 50 base iterations plus 25 extra logits refinements, during which the seed/noise blend is </a:t>
            </a:r>
            <a:r>
              <a:rPr dirty="0" err="1"/>
              <a:t>optimi</a:t>
            </a:r>
            <a:r>
              <a:rPr lang="en-SG" dirty="0"/>
              <a:t>s</a:t>
            </a:r>
            <a:r>
              <a:rPr dirty="0"/>
              <a:t>ed via AF2 gradients.</a:t>
            </a:r>
          </a:p>
          <a:p>
            <a:pPr>
              <a:defRPr sz="1800"/>
            </a:pPr>
            <a:r>
              <a:rPr dirty="0"/>
              <a:t>Callbacks before and after each AF2 step respectively re-blend logits with the seed and apply KL gradients when enabled, keeping guided residues anchored early in training.</a:t>
            </a:r>
          </a:p>
          <a:p>
            <a:pPr>
              <a:defRPr sz="1800"/>
            </a:pPr>
            <a:r>
              <a:rPr dirty="0"/>
              <a:t>Per-iteration metrics (loss, interface contact scores, </a:t>
            </a:r>
            <a:r>
              <a:rPr dirty="0" err="1"/>
              <a:t>pLDDT</a:t>
            </a:r>
            <a:r>
              <a:rPr dirty="0"/>
              <a:t>) are logged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Stage</a:t>
            </a:r>
            <a:r>
              <a:rPr lang="en-SG" dirty="0"/>
              <a:t> 2: </a:t>
            </a:r>
            <a:r>
              <a:rPr lang="en-SG" dirty="0" err="1"/>
              <a:t>Softmax</a:t>
            </a:r>
            <a:r>
              <a:rPr lang="en-SG" dirty="0"/>
              <a:t> Anneal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565" y="1255644"/>
            <a:ext cx="10972800" cy="4983161"/>
          </a:xfrm>
        </p:spPr>
        <p:txBody>
          <a:bodyPr>
            <a:noAutofit/>
          </a:bodyPr>
          <a:lstStyle/>
          <a:p>
            <a:pPr>
              <a:defRPr sz="1800"/>
            </a:pPr>
            <a:r>
              <a:rPr lang="en-US" sz="1800" dirty="0" err="1"/>
              <a:t>Softmax</a:t>
            </a:r>
            <a:r>
              <a:rPr lang="en-US" sz="1800" dirty="0"/>
              <a:t> temperature is a scalar multiplier applied to logits before </a:t>
            </a:r>
            <a:r>
              <a:rPr lang="en-US" sz="1800" dirty="0" err="1"/>
              <a:t>softmax</a:t>
            </a:r>
            <a:r>
              <a:rPr lang="en-US" sz="1800" dirty="0"/>
              <a:t> to control how ‘sharp’ or ‘flat’ the resulting probability distribution is:</a:t>
            </a:r>
          </a:p>
          <a:p>
            <a:pPr lvl="1">
              <a:defRPr sz="1800"/>
            </a:pPr>
            <a:r>
              <a:rPr lang="en-US" sz="1800" dirty="0" err="1"/>
              <a:t>softmax</a:t>
            </a:r>
            <a:r>
              <a:rPr lang="en-US" sz="1800" dirty="0"/>
              <a:t>(logits / T) with T &gt; 1 (high temperature) spreads probability mass more evenly (more exploration)</a:t>
            </a:r>
          </a:p>
          <a:p>
            <a:pPr lvl="1">
              <a:defRPr sz="1800"/>
            </a:pPr>
            <a:r>
              <a:rPr lang="en-US" sz="1800" dirty="0"/>
              <a:t>T &lt; 1 sharpens the distribution, concentrating probability on the largest logits (make use of current best option)</a:t>
            </a:r>
          </a:p>
          <a:p>
            <a:pPr lvl="1">
              <a:defRPr sz="1800"/>
            </a:pPr>
            <a:r>
              <a:rPr lang="en-US" sz="1800" dirty="0"/>
              <a:t>As T → 0, </a:t>
            </a:r>
            <a:r>
              <a:rPr lang="en-US" sz="1800" dirty="0" err="1"/>
              <a:t>softmax</a:t>
            </a:r>
            <a:r>
              <a:rPr lang="en-US" sz="1800" dirty="0"/>
              <a:t> approaches an argmax; as T → ∞, it approaches a uniform distribution. (argmax returns the input value that yields that largest output value of a function. For a vector x, argmax(x) is the position where x reaches its maximum value. In sequence design, applying argmax to the amino-acid logits picks the single residue with highest score at each position.)</a:t>
            </a:r>
            <a:endParaRPr lang="en-SG" sz="1800" dirty="0"/>
          </a:p>
          <a:p>
            <a:r>
              <a:rPr lang="en-SG" sz="1800" dirty="0"/>
              <a:t>Simulated annealing </a:t>
            </a:r>
            <a:r>
              <a:rPr lang="en-US" sz="1800" dirty="0"/>
              <a:t>is a probabilistic technique for approximating the global optimum of a given function, slowly decreasing the probability of accepting worse solutions as the solution space is explored.</a:t>
            </a:r>
            <a:endParaRPr lang="en-SG" sz="1800" dirty="0"/>
          </a:p>
          <a:p>
            <a:pPr>
              <a:defRPr sz="1800"/>
            </a:pPr>
            <a:r>
              <a:rPr sz="1800" dirty="0"/>
              <a:t>Stage 2 performs a 45-step </a:t>
            </a:r>
            <a:r>
              <a:rPr lang="en-SG" sz="1800" dirty="0" err="1"/>
              <a:t>softmax</a:t>
            </a:r>
            <a:r>
              <a:rPr lang="en-SG" sz="1800" dirty="0"/>
              <a:t> </a:t>
            </a:r>
            <a:r>
              <a:rPr sz="1800" dirty="0"/>
              <a:t>temperature anneal from 1.0 to 0.05, sharpening amino-acid probabilities and encouraging decisive residue selection at each position.</a:t>
            </a:r>
            <a:endParaRPr lang="en-SG" sz="1800" dirty="0"/>
          </a:p>
          <a:p>
            <a:pPr lvl="1">
              <a:defRPr sz="1800"/>
            </a:pPr>
            <a:r>
              <a:rPr lang="en-US" sz="1800" dirty="0"/>
              <a:t>At high temperature the distribution is diffuse (more exploratory), as we lower it, the distribution sharpens toward the top-scoring residues.</a:t>
            </a:r>
          </a:p>
          <a:p>
            <a:pPr lvl="1">
              <a:defRPr sz="1800"/>
            </a:pPr>
            <a:r>
              <a:rPr lang="en-US" sz="1800" dirty="0"/>
              <a:t>Gradual temperature cooling makes the sequence commit to specific amino acids while still letting gradients adjust the logits</a:t>
            </a:r>
          </a:p>
          <a:p>
            <a:pPr>
              <a:defRPr sz="1800"/>
            </a:pPr>
            <a:r>
              <a:rPr lang="en-US" sz="1800" dirty="0"/>
              <a:t>By the end of Stage 2, we now have fairly sharp probabilities</a:t>
            </a:r>
          </a:p>
        </p:txBody>
      </p:sp>
      <p:pic>
        <p:nvPicPr>
          <p:cNvPr id="3074" name="Picture 2" descr="Deep Dive into Softmax Regression | Towards Data Science">
            <a:extLst>
              <a:ext uri="{FF2B5EF4-FFF2-40B4-BE49-F238E27FC236}">
                <a16:creationId xmlns:a16="http://schemas.microsoft.com/office/drawing/2014/main" id="{39726DA6-2E3F-4561-D934-9CB1C6974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2071" y="110264"/>
            <a:ext cx="1887752" cy="1017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48BC4-14B7-062E-9CAD-5E84BAF9E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7595"/>
            <a:ext cx="10972800" cy="1143000"/>
          </a:xfrm>
        </p:spPr>
        <p:txBody>
          <a:bodyPr/>
          <a:lstStyle/>
          <a:p>
            <a:r>
              <a:rPr lang="en-SG" dirty="0"/>
              <a:t>Stage 3: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68B37-2B07-6DDA-4CA8-41C4B881C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687" y="977349"/>
            <a:ext cx="10972800" cy="4525963"/>
          </a:xfrm>
        </p:spPr>
        <p:txBody>
          <a:bodyPr>
            <a:noAutofit/>
          </a:bodyPr>
          <a:lstStyle/>
          <a:p>
            <a:r>
              <a:rPr lang="en-US" sz="1600" dirty="0"/>
              <a:t>Stage 3 is a bridge between continuous </a:t>
            </a:r>
            <a:r>
              <a:rPr lang="en-US" sz="1600" dirty="0" err="1"/>
              <a:t>optimisation</a:t>
            </a:r>
            <a:r>
              <a:rPr lang="en-US" sz="1600" dirty="0"/>
              <a:t> and the fully discrete semi-greedy search that follow</a:t>
            </a:r>
          </a:p>
          <a:p>
            <a:r>
              <a:rPr lang="en-US" sz="1600" dirty="0"/>
              <a:t>Stage 3 uses a straight-through estimator to convert each position into a one-hot amino acid choice (hard, almost discrete)</a:t>
            </a:r>
          </a:p>
          <a:p>
            <a:r>
              <a:rPr lang="en-US" sz="1600" dirty="0"/>
              <a:t>Forward pass: Use a hard one-hot vector (the argmax choice)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1600" dirty="0"/>
              <a:t>Start from the current logits (post Stage 2).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1600" dirty="0"/>
              <a:t>Apply a very low-temperature </a:t>
            </a:r>
            <a:r>
              <a:rPr lang="en-US" sz="1600" dirty="0" err="1"/>
              <a:t>softmax</a:t>
            </a:r>
            <a:r>
              <a:rPr lang="en-US" sz="1600" dirty="0"/>
              <a:t> (~=10⁻²) and take argmax at each position to get a one-hot amino-acid choice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1600" dirty="0"/>
              <a:t>Feed this hard sequence into AlphaFold to get structure predictions and the loss</a:t>
            </a:r>
          </a:p>
          <a:p>
            <a:r>
              <a:rPr lang="en-SG" sz="1600" dirty="0"/>
              <a:t>Backward pass: Substitute </a:t>
            </a:r>
            <a:r>
              <a:rPr lang="en-US" sz="1600" dirty="0"/>
              <a:t>derivative of the underlying </a:t>
            </a:r>
            <a:r>
              <a:rPr lang="en-US" sz="1600" dirty="0" err="1"/>
              <a:t>softmax</a:t>
            </a:r>
            <a:r>
              <a:rPr lang="en-US" sz="1600" dirty="0"/>
              <a:t> so the gradients behave as if the probabilities were still continuous</a:t>
            </a:r>
          </a:p>
          <a:p>
            <a:pPr lvl="1"/>
            <a:r>
              <a:rPr lang="en-US" sz="1600" dirty="0"/>
              <a:t>To backpropagate, pretend the discrete step was the original </a:t>
            </a:r>
            <a:r>
              <a:rPr lang="en-US" sz="1600" dirty="0" err="1"/>
              <a:t>softmax</a:t>
            </a:r>
            <a:r>
              <a:rPr lang="en-US" sz="1600" dirty="0"/>
              <a:t>: use the straight-through estimator so gradients are computed </a:t>
            </a:r>
            <a:r>
              <a:rPr lang="en-US" sz="1600" dirty="0" err="1"/>
              <a:t>w.r.t.</a:t>
            </a:r>
            <a:r>
              <a:rPr lang="en-US" sz="1600" dirty="0"/>
              <a:t> the logits as if the </a:t>
            </a:r>
            <a:r>
              <a:rPr lang="en-US" sz="1600" dirty="0" err="1"/>
              <a:t>softmax</a:t>
            </a:r>
            <a:r>
              <a:rPr lang="en-US" sz="1600" dirty="0"/>
              <a:t> were continuous</a:t>
            </a:r>
          </a:p>
          <a:p>
            <a:pPr lvl="1"/>
            <a:r>
              <a:rPr lang="en-US" sz="1600" dirty="0"/>
              <a:t>Replace the true derivative of the hard argmax (which is zero almost everywhere) with the derivative of a </a:t>
            </a:r>
            <a:r>
              <a:rPr lang="en-US" sz="1600" dirty="0" err="1"/>
              <a:t>softmax</a:t>
            </a:r>
            <a:r>
              <a:rPr lang="en-US" sz="1600" dirty="0"/>
              <a:t> at very low temperature</a:t>
            </a:r>
          </a:p>
          <a:p>
            <a:pPr lvl="2"/>
            <a:r>
              <a:rPr lang="en-SG" sz="1600" dirty="0"/>
              <a:t>Substitute“∂ argmax / ∂ logits” (zero) with “∂ </a:t>
            </a:r>
            <a:r>
              <a:rPr lang="en-SG" sz="1600" dirty="0" err="1"/>
              <a:t>softmax</a:t>
            </a:r>
            <a:r>
              <a:rPr lang="en-SG" sz="1600" dirty="0"/>
              <a:t> / ∂ logits”</a:t>
            </a:r>
            <a:endParaRPr lang="en-US" sz="1600" dirty="0"/>
          </a:p>
          <a:p>
            <a:pPr lvl="1"/>
            <a:r>
              <a:rPr lang="en-US" sz="1600" dirty="0"/>
              <a:t>The </a:t>
            </a:r>
            <a:r>
              <a:rPr lang="en-US" sz="1600" dirty="0" err="1"/>
              <a:t>optimiser</a:t>
            </a:r>
            <a:r>
              <a:rPr lang="en-US" sz="1600" dirty="0"/>
              <a:t> updates the logits based on those gradients.</a:t>
            </a:r>
          </a:p>
          <a:p>
            <a:pPr lvl="1"/>
            <a:r>
              <a:rPr lang="en-US" sz="1600" dirty="0"/>
              <a:t>After the update, reapply the hardening (argmax at low temperature) for the next forward pass</a:t>
            </a:r>
          </a:p>
          <a:p>
            <a:pPr lvl="1"/>
            <a:r>
              <a:rPr lang="en-US" sz="1600" dirty="0"/>
              <a:t>This lets AlphaFold’s gradient signal reach the logits, nudging them even though the sequence you fed into the model is discrete</a:t>
            </a:r>
          </a:p>
          <a:p>
            <a:pPr lvl="1"/>
            <a:r>
              <a:rPr lang="en-US" sz="1600" dirty="0"/>
              <a:t>Once the update is applied, we re-</a:t>
            </a:r>
            <a:r>
              <a:rPr lang="en-US" sz="1600" dirty="0" err="1"/>
              <a:t>discretise</a:t>
            </a:r>
            <a:r>
              <a:rPr lang="en-US" sz="1600" dirty="0"/>
              <a:t> for the next forward pass</a:t>
            </a:r>
          </a:p>
          <a:p>
            <a:r>
              <a:rPr lang="en-US" sz="1600" dirty="0"/>
              <a:t>At the end of Stage 3, we have a concrete, low-entropy sequence: each position has a specific amino acid locked in from the straight‑through passes, and the accompanying logits are already tuned by AF2’s gradients. It hands Stage 4 a discrete binder that’s been polished by differentiable </a:t>
            </a:r>
            <a:r>
              <a:rPr lang="en-US" sz="1600" dirty="0" err="1"/>
              <a:t>optimisation</a:t>
            </a:r>
            <a:r>
              <a:rPr lang="en-US" sz="1600" dirty="0"/>
              <a:t>, ready for semi-greedy mutation refinements.</a:t>
            </a:r>
          </a:p>
          <a:p>
            <a:endParaRPr lang="en-SG" sz="1600" dirty="0"/>
          </a:p>
        </p:txBody>
      </p:sp>
      <p:pic>
        <p:nvPicPr>
          <p:cNvPr id="2050" name="Picture 2" descr="Gradient Descent vs. Backpropagation: What's the Difference?">
            <a:extLst>
              <a:ext uri="{FF2B5EF4-FFF2-40B4-BE49-F238E27FC236}">
                <a16:creationId xmlns:a16="http://schemas.microsoft.com/office/drawing/2014/main" id="{B319EAA8-8657-0524-8F84-63A51DCE3E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6592" y="171253"/>
            <a:ext cx="1742799" cy="863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7369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119270"/>
            <a:ext cx="10972800" cy="1143000"/>
          </a:xfrm>
        </p:spPr>
        <p:txBody>
          <a:bodyPr/>
          <a:lstStyle/>
          <a:p>
            <a:r>
              <a:rPr dirty="0"/>
              <a:t>Stage 4: Semi-greedy</a:t>
            </a:r>
            <a:r>
              <a:rPr lang="en-SG" dirty="0"/>
              <a:t> Refinement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14836"/>
            <a:ext cx="10972800" cy="5605842"/>
          </a:xfrm>
        </p:spPr>
        <p:txBody>
          <a:bodyPr>
            <a:noAutofit/>
          </a:bodyPr>
          <a:lstStyle/>
          <a:p>
            <a:pPr>
              <a:defRPr sz="1800"/>
            </a:pPr>
            <a:r>
              <a:rPr sz="1600" dirty="0"/>
              <a:t>Stage 4 executes a semi-greedy search: mutate roughly 5% of the binder positions per proposal, optionally biasing guided residues toward the seed amino acid.</a:t>
            </a:r>
            <a:endParaRPr lang="en-SG" sz="1600" dirty="0"/>
          </a:p>
          <a:p>
            <a:pPr lvl="1">
              <a:defRPr sz="1800"/>
            </a:pPr>
            <a:r>
              <a:rPr lang="en-SG" sz="1600" dirty="0"/>
              <a:t>Semi-greedy: Greedy=Make the best immediate choice at every step, Semi-greedy=Pick the best choice out of a few proposals</a:t>
            </a:r>
          </a:p>
          <a:p>
            <a:pPr lvl="2">
              <a:defRPr sz="1800"/>
            </a:pPr>
            <a:r>
              <a:rPr lang="en-US" sz="1600" dirty="0"/>
              <a:t>Greedy selection: each iteration keeps only the single best-scoring candidate among all mutations we tried, so the working sequence never gets worse</a:t>
            </a:r>
          </a:p>
          <a:p>
            <a:pPr lvl="2">
              <a:defRPr sz="1800"/>
            </a:pPr>
            <a:r>
              <a:rPr lang="en-US" sz="1600" dirty="0"/>
              <a:t>Semi (batch) proposals</a:t>
            </a:r>
            <a:r>
              <a:rPr lang="en-US" sz="1600" b="1" dirty="0"/>
              <a:t>:</a:t>
            </a:r>
            <a:r>
              <a:rPr lang="en-US" sz="1600" dirty="0"/>
              <a:t> instead of mutating one residue at a time like a strict greedy hill climb, we sample small batches of positions and try several mutation combinations per iteration. We choose the best of those batches. </a:t>
            </a:r>
            <a:endParaRPr sz="1600" dirty="0"/>
          </a:p>
          <a:p>
            <a:r>
              <a:rPr lang="en-US" sz="1600" dirty="0"/>
              <a:t>Pick mutation sites smartly:</a:t>
            </a:r>
          </a:p>
          <a:p>
            <a:pPr lvl="1"/>
            <a:r>
              <a:rPr lang="en-US" sz="1600" dirty="0"/>
              <a:t> Compute binder </a:t>
            </a:r>
            <a:r>
              <a:rPr lang="en-US" sz="1600" dirty="0" err="1"/>
              <a:t>pLDDT</a:t>
            </a:r>
            <a:r>
              <a:rPr lang="en-US" sz="1600" dirty="0"/>
              <a:t> from the latest AF2 run. Positions with lower </a:t>
            </a:r>
            <a:r>
              <a:rPr lang="en-US" sz="1600" dirty="0" err="1"/>
              <a:t>pLDDT</a:t>
            </a:r>
            <a:r>
              <a:rPr lang="en-US" sz="1600" dirty="0"/>
              <a:t> get higher mutation probability, focusing edits where the model is least certain. We mutate ≈MUT_RATE × </a:t>
            </a:r>
            <a:r>
              <a:rPr lang="en-US" sz="1600" dirty="0" err="1"/>
              <a:t>binder_len</a:t>
            </a:r>
            <a:r>
              <a:rPr lang="en-US" sz="1600" dirty="0"/>
              <a:t> residues per trial (at least one).</a:t>
            </a:r>
          </a:p>
          <a:p>
            <a:r>
              <a:rPr lang="en-US" sz="1600" b="1" dirty="0"/>
              <a:t>Generate proposals.</a:t>
            </a:r>
            <a:r>
              <a:rPr lang="en-US" sz="1600" dirty="0"/>
              <a:t> For each of several tries (roughly twice the number of mutations) we:</a:t>
            </a:r>
          </a:p>
          <a:p>
            <a:pPr lvl="1"/>
            <a:r>
              <a:rPr lang="en-US" sz="1600" dirty="0"/>
              <a:t>sample a set of positions from this </a:t>
            </a:r>
            <a:r>
              <a:rPr lang="en-US" sz="1600" dirty="0" err="1"/>
              <a:t>pLDDT</a:t>
            </a:r>
            <a:r>
              <a:rPr lang="en-US" sz="1600" dirty="0"/>
              <a:t>-weighted distribution,</a:t>
            </a:r>
          </a:p>
          <a:p>
            <a:pPr lvl="1"/>
            <a:r>
              <a:rPr lang="en-US" sz="1600" dirty="0"/>
              <a:t>mutate each by drawing an amino acid from the current </a:t>
            </a:r>
            <a:r>
              <a:rPr lang="en-US" sz="1600" dirty="0" err="1"/>
              <a:t>softmax</a:t>
            </a:r>
            <a:r>
              <a:rPr lang="en-US" sz="1600" dirty="0"/>
              <a:t> distribution (with optional seed bias on guided sites)</a:t>
            </a:r>
          </a:p>
          <a:p>
            <a:pPr lvl="1"/>
            <a:r>
              <a:rPr lang="en-US" sz="1600" dirty="0"/>
              <a:t>evaluate the candidate by running AF2 in hard mode (low temperature).</a:t>
            </a:r>
          </a:p>
          <a:p>
            <a:r>
              <a:rPr lang="en-US" sz="1600" b="1" dirty="0"/>
              <a:t>Keep the best candidate.</a:t>
            </a:r>
            <a:r>
              <a:rPr lang="en-US" sz="1600" dirty="0"/>
              <a:t> Among the proposals we retain the one with lowest loss, replacing the current sequence if it improves (or if the previous loss was </a:t>
            </a:r>
            <a:r>
              <a:rPr lang="en-US" sz="1600" dirty="0" err="1"/>
              <a:t>NaN</a:t>
            </a:r>
            <a:r>
              <a:rPr lang="en-US" sz="1600" dirty="0"/>
              <a:t>/∞). This repeats for </a:t>
            </a:r>
            <a:r>
              <a:rPr lang="en-US" sz="1600" i="1" dirty="0"/>
              <a:t>STAGE4_ITERS</a:t>
            </a:r>
            <a:r>
              <a:rPr lang="en-US" sz="1600" dirty="0"/>
              <a:t>.</a:t>
            </a:r>
          </a:p>
          <a:p>
            <a:r>
              <a:rPr lang="en-US" sz="1600" b="1" dirty="0"/>
              <a:t>Log metrics.</a:t>
            </a:r>
            <a:r>
              <a:rPr lang="en-US" sz="1600" dirty="0"/>
              <a:t> Each accepted or rejected move is recorded; the global best sequence/binder is tracked across the stage.</a:t>
            </a:r>
            <a:br>
              <a:rPr lang="en-US" sz="1600" dirty="0"/>
            </a:br>
            <a:endParaRPr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Upon completion, </a:t>
            </a:r>
            <a:r>
              <a:rPr dirty="0" err="1"/>
              <a:t>Mutacraft</a:t>
            </a:r>
            <a:r>
              <a:rPr dirty="0"/>
              <a:t> saves the best binder sequence (</a:t>
            </a:r>
            <a:r>
              <a:rPr i="1" dirty="0" err="1"/>
              <a:t>best_binder.fasta</a:t>
            </a:r>
            <a:r>
              <a:rPr dirty="0"/>
              <a:t>), the </a:t>
            </a:r>
            <a:r>
              <a:rPr lang="en-SG" dirty="0"/>
              <a:t>AF2 </a:t>
            </a:r>
            <a:r>
              <a:rPr dirty="0"/>
              <a:t>predicted binder-target complex (</a:t>
            </a:r>
            <a:r>
              <a:rPr i="1" dirty="0"/>
              <a:t>best_complex.pdb</a:t>
            </a:r>
            <a:r>
              <a:rPr lang="en-SG" dirty="0"/>
              <a:t>, Chain A is target, B is binder</a:t>
            </a:r>
            <a:r>
              <a:rPr dirty="0"/>
              <a:t>), and the full metrics table (</a:t>
            </a:r>
            <a:r>
              <a:rPr i="1" dirty="0"/>
              <a:t>metrics.csv</a:t>
            </a:r>
            <a:r>
              <a:rPr dirty="0"/>
              <a:t>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Adjusting the guided fraction, </a:t>
            </a:r>
            <a:r>
              <a:rPr lang="en-SG" i="1" dirty="0" err="1"/>
              <a:t>guided_seed_ratio</a:t>
            </a:r>
            <a:r>
              <a:rPr dirty="0"/>
              <a:t>, and KL prior allows precise control over how much of the template is preserved versus reinvented.</a:t>
            </a:r>
          </a:p>
          <a:p>
            <a:pPr>
              <a:defRPr sz="1800"/>
            </a:pPr>
            <a:r>
              <a:rPr dirty="0"/>
              <a:t>The staged AlphaFold2 process plus semi-greedy refinement yields binders that remain structurally plausible while exploring new sequence variants, ready for further analysis or experimental follow-up.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2299</Words>
  <Application>Microsoft Office PowerPoint</Application>
  <PresentationFormat>Widescreen</PresentationFormat>
  <Paragraphs>155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 Narrow</vt:lpstr>
      <vt:lpstr>Arial</vt:lpstr>
      <vt:lpstr>Calibri</vt:lpstr>
      <vt:lpstr>Office Theme</vt:lpstr>
      <vt:lpstr>MutaCraft</vt:lpstr>
      <vt:lpstr>MutaCraft Rationale</vt:lpstr>
      <vt:lpstr>MutaCraft Procedure</vt:lpstr>
      <vt:lpstr>Test Run: Human Lysozyme Binder</vt:lpstr>
      <vt:lpstr>Results (Re-predicted &amp; Scored using AF2 &amp; Rosetta)</vt:lpstr>
      <vt:lpstr>Results Analysis</vt:lpstr>
      <vt:lpstr>Future Improvements</vt:lpstr>
      <vt:lpstr>Mutacraft Hybrid Binder Design</vt:lpstr>
      <vt:lpstr>Why Hybrid?</vt:lpstr>
      <vt:lpstr>New additions that are not in BindCraft</vt:lpstr>
      <vt:lpstr>Workflow Overview</vt:lpstr>
      <vt:lpstr>Hybrid Initialisation</vt:lpstr>
      <vt:lpstr>Stage 1: Logits Refinement</vt:lpstr>
      <vt:lpstr>Stage 2: Softmax Anneal </vt:lpstr>
      <vt:lpstr>Stage 3:</vt:lpstr>
      <vt:lpstr>Stage 4: Semi-greedy Refinement</vt:lpstr>
      <vt:lpstr>Outputs</vt:lpstr>
      <vt:lpstr>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Kayler Tee</cp:lastModifiedBy>
  <cp:revision>57</cp:revision>
  <dcterms:created xsi:type="dcterms:W3CDTF">2013-01-27T09:14:16Z</dcterms:created>
  <dcterms:modified xsi:type="dcterms:W3CDTF">2025-11-06T06:56:04Z</dcterms:modified>
  <cp:category/>
</cp:coreProperties>
</file>