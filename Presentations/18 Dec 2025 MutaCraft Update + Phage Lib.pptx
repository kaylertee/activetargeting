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4" r:id="rId4"/>
    <p:sldId id="270" r:id="rId5"/>
    <p:sldId id="267" r:id="rId6"/>
    <p:sldId id="290" r:id="rId7"/>
    <p:sldId id="275" r:id="rId8"/>
    <p:sldId id="289" r:id="rId9"/>
    <p:sldId id="276" r:id="rId10"/>
    <p:sldId id="277" r:id="rId11"/>
    <p:sldId id="278" r:id="rId12"/>
    <p:sldId id="279" r:id="rId13"/>
    <p:sldId id="291" r:id="rId14"/>
    <p:sldId id="280" r:id="rId15"/>
    <p:sldId id="281" r:id="rId16"/>
    <p:sldId id="282" r:id="rId17"/>
    <p:sldId id="292" r:id="rId18"/>
    <p:sldId id="283" r:id="rId19"/>
    <p:sldId id="284" r:id="rId20"/>
    <p:sldId id="285" r:id="rId21"/>
    <p:sldId id="286" r:id="rId22"/>
    <p:sldId id="287" r:id="rId23"/>
    <p:sldId id="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9BDB-4539-CA49-9A71-6AB78B578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EBC4A-2BC3-9721-3384-A03886EDD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066C-5519-36BD-3B04-B4DE521D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BDC9-7F72-30F5-97ED-80A19DB0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0284-3109-3CD5-09EE-5C046827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165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23A-2C58-2837-4F72-BB6A4203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5397-2966-81DC-9170-353D86B5E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0AE58-FA7B-4BF5-5113-65B066BA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6C06-56F9-93A7-761C-378A3D53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0963-14B9-C10A-62EE-079A6956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271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FF9F-B3A5-4F9A-2CAC-7CA97D82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19864-909B-673D-8D77-292B7158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EF69-92A2-3280-3819-F1A97984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3DCB-B761-B732-4426-0BF35179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4401A-DBA5-F1E5-D1EB-CF87B594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84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32B-5EE4-21B4-4AB8-EA4E610D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494E3-F53E-95DB-973A-71D088820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8FD78-5E8B-D8A9-B115-ED3EAF282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1A96C-F1A6-64BB-D858-F70F8545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0C72F-5C9C-6AD3-D8D8-A54FAAFE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C994C-F213-2881-57BE-E244AA25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985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DAA7-A970-82F5-E5FF-088AFC42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316BC-FA7F-621F-E150-289532524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68CD4-301A-33E8-7C73-3E59A7E7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4D122-2627-E42D-6409-F44B49F62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2B32B-A844-A5F6-74B9-D0ED9106A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B128C-88C2-56DC-046F-0A9881BE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42409-9D6C-91DC-0032-89AAE8AC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3F4DB-C3FE-376D-EFC0-1BEFFE95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710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A3AF-8FC3-235C-C975-27FCAE09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4788D-AEA5-19C5-00F9-258622C8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BFB62-A49C-218A-BC19-F30981C9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2581B-9DAD-02EE-8B1A-9AA4D336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147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C317C-70D3-453B-C49A-01138FC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AF6AA-4CB6-2FC4-3376-BAB8CB58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4C082-69BC-AE5B-F55A-ADE6C6E8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89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FFAC-DB3F-B8ED-A661-B61183A7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74A9-F083-D2B6-161C-6120CC57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3B0D3-AF3B-C5CF-B6C9-AC94145FB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DA81F-426C-6AFE-75E3-7AB323E8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9D64-3B7A-1D5D-3AB9-A3AC7893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AC2AB-D410-ADF1-227A-C00900DA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560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C64A-D2C1-D903-83D4-042C1812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944F8-DB98-45E3-BE8A-77EC07DB8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2CF2-FEB3-8D7A-71FB-D970F3B0F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7CC4E-0ADF-962F-740E-9B545463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AE4AD-4C9C-45D0-DC17-DEAA2840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B7C38-7FF5-C548-C70E-D38DA313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938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888B-535E-1494-76FE-3A7FAE45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6F6CE-3775-123E-1E35-260C5B796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C501-0172-E860-22B2-C860BA14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5E6DA-2836-7EA7-0FB8-A50566D18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EF47-FBBF-266E-9903-456A26DA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274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35DD1-D276-E1AA-3F53-A14C422AE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2AB73-F2DE-812D-40EB-608998C9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4975-0342-F902-4654-E8D84CC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C2BB0-A929-0D2E-46A2-5A397F2D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4AB9-F87A-BF34-C435-7BA85218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4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311B3-F62E-7E01-1294-8B094CB1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E1BB5-5352-573B-9956-0BBE865F3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BAD4-BB8C-ADAD-95D9-747011CCE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1B01E-37F9-407A-8414-C4043999C224}" type="datetimeFigureOut">
              <a:rPr lang="en-SG" smtClean="0"/>
              <a:t>18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86C15-8DE3-ED29-4F50-85880D5D1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5C484-DEAF-46E2-57B5-C1BC12B1E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994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2061820_De_Novo_Generation_and_Prioritization_of_Target-Binding_Peptide_Motifs_from_Sequence_Alone" TargetMode="External"/><Relationship Id="rId2" Type="http://schemas.openxmlformats.org/officeDocument/2006/relationships/hyperlink" Target="https://pmc.ncbi.nlm.nih.gov/articles/PMC1173685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hort_linear_motif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1736853" TargetMode="External"/><Relationship Id="rId3" Type="http://schemas.openxmlformats.org/officeDocument/2006/relationships/hyperlink" Target="https://en.wikipedia.org/wiki/Protein%E2%80%93protein_interaction" TargetMode="External"/><Relationship Id="rId7" Type="http://schemas.openxmlformats.org/officeDocument/2006/relationships/hyperlink" Target="https://en.wikipedia.org/wiki/Binding_energy" TargetMode="External"/><Relationship Id="rId2" Type="http://schemas.openxmlformats.org/officeDocument/2006/relationships/hyperlink" Target="https://en.wikipedia.org/wiki/Protein_primary_struct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mino_acid" TargetMode="External"/><Relationship Id="rId5" Type="http://schemas.openxmlformats.org/officeDocument/2006/relationships/hyperlink" Target="https://en.wikipedia.org/wiki/Secondary_structure" TargetMode="External"/><Relationship Id="rId10" Type="http://schemas.openxmlformats.org/officeDocument/2006/relationships/hyperlink" Target="https://en.wikipedia.org/wiki/Short_linear_motif" TargetMode="External"/><Relationship Id="rId4" Type="http://schemas.openxmlformats.org/officeDocument/2006/relationships/hyperlink" Target="https://en.wikipedia.org/wiki/Intrinsically_unstructured_proteins" TargetMode="External"/><Relationship Id="rId9" Type="http://schemas.openxmlformats.org/officeDocument/2006/relationships/hyperlink" Target="https://www.researchgate.net/publication/372061820_De_Novo_Generation_and_Prioritization_of_Target-Binding_Peptide_Motifs_from_Sequence_Alon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4783-3E02-3278-D22D-BC6E7029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A872-B849-8B2E-AFB1-6A36D8733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Update (Benchmark vs </a:t>
            </a:r>
            <a:r>
              <a:rPr lang="en-SG" dirty="0" err="1"/>
              <a:t>BindCraft</a:t>
            </a:r>
            <a:r>
              <a:rPr lang="en-SG" dirty="0"/>
              <a:t>)</a:t>
            </a:r>
          </a:p>
          <a:p>
            <a:r>
              <a:rPr lang="en-SG" dirty="0"/>
              <a:t>Custom Phage Library (7-12 binder length) suggestions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074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53B3-1E64-BB14-D65A-2905B1BE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EB6B-D446-A4AD-4922-A37C4907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89600"/>
            <a:ext cx="10972800" cy="4525963"/>
          </a:xfrm>
        </p:spPr>
        <p:txBody>
          <a:bodyPr/>
          <a:lstStyle/>
          <a:p>
            <a:r>
              <a:rPr lang="en-SG" dirty="0"/>
              <a:t>De novo binder generation can be costly as it generates random binders, </a:t>
            </a:r>
            <a:r>
              <a:rPr lang="en-US" dirty="0"/>
              <a:t>may drift away from </a:t>
            </a:r>
            <a:r>
              <a:rPr lang="en-SG" dirty="0"/>
              <a:t>designs that can actually exist in the real world, wasting compute.</a:t>
            </a:r>
          </a:p>
          <a:p>
            <a:r>
              <a:rPr lang="en-SG" dirty="0"/>
              <a:t>Pure Mutational binder generation may not explore global minimum</a:t>
            </a:r>
          </a:p>
          <a:p>
            <a:r>
              <a:rPr lang="en-SG" dirty="0"/>
              <a:t>Hybrid approach to get the best of both worlds:</a:t>
            </a:r>
          </a:p>
          <a:p>
            <a:pPr lvl="1"/>
            <a:r>
              <a:rPr lang="en-SG" dirty="0"/>
              <a:t>Preserve trusted residues to save computation, while keeping random exploration to find global min</a:t>
            </a:r>
          </a:p>
        </p:txBody>
      </p:sp>
      <p:pic>
        <p:nvPicPr>
          <p:cNvPr id="1026" name="Picture 2" descr="Local &amp; Global Minima Explained with Examples - Analytics Yogi">
            <a:extLst>
              <a:ext uri="{FF2B5EF4-FFF2-40B4-BE49-F238E27FC236}">
                <a16:creationId xmlns:a16="http://schemas.microsoft.com/office/drawing/2014/main" id="{74DB61FB-691E-4816-1133-5DA297DE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326" y="4833082"/>
            <a:ext cx="3092725" cy="194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08E8-7A16-525F-F3BD-369357EA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5572"/>
            <a:ext cx="10972800" cy="1143000"/>
          </a:xfrm>
        </p:spPr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9B40-1E19-4E4D-E15B-ADE57F08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3403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Doesn’t make use of </a:t>
            </a:r>
            <a:r>
              <a:rPr lang="en-SG" dirty="0" err="1"/>
              <a:t>BindCraft</a:t>
            </a:r>
            <a:r>
              <a:rPr lang="en-SG" dirty="0"/>
              <a:t> code/scripts, uses a new procedure: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User inputs Target Protein and Template Binder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 err="1"/>
              <a:t>MutaCraft</a:t>
            </a:r>
            <a:r>
              <a:rPr lang="en-SG" dirty="0"/>
              <a:t> masks subset of residues in Template Binder to preserve them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Perform 4-stage AlphaFold2 optimisation passes (edited from </a:t>
            </a:r>
            <a:r>
              <a:rPr lang="en-SG" dirty="0" err="1"/>
              <a:t>BindCraft</a:t>
            </a:r>
            <a:r>
              <a:rPr lang="en-SG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Evaluate and keep best binders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0FC8E3-E2BF-4713-C618-DE0A80833146}"/>
              </a:ext>
            </a:extLst>
          </p:cNvPr>
          <p:cNvSpPr/>
          <p:nvPr/>
        </p:nvSpPr>
        <p:spPr>
          <a:xfrm>
            <a:off x="6129128" y="4658136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EFF35D-77FA-4412-83B8-0C00FBBFE728}"/>
              </a:ext>
            </a:extLst>
          </p:cNvPr>
          <p:cNvSpPr/>
          <p:nvPr/>
        </p:nvSpPr>
        <p:spPr>
          <a:xfrm>
            <a:off x="8776249" y="4658136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82DD90-1652-BB11-6F48-38A2D6EA1DD5}"/>
              </a:ext>
            </a:extLst>
          </p:cNvPr>
          <p:cNvSpPr/>
          <p:nvPr/>
        </p:nvSpPr>
        <p:spPr>
          <a:xfrm>
            <a:off x="7454344" y="4658136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1595FA-9A3F-D652-682A-24C86B73F2F2}"/>
              </a:ext>
            </a:extLst>
          </p:cNvPr>
          <p:cNvSpPr/>
          <p:nvPr/>
        </p:nvSpPr>
        <p:spPr>
          <a:xfrm>
            <a:off x="10260495" y="465813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59B1F-5660-2FC1-0786-360F1E91F47B}"/>
              </a:ext>
            </a:extLst>
          </p:cNvPr>
          <p:cNvSpPr txBox="1"/>
          <p:nvPr/>
        </p:nvSpPr>
        <p:spPr>
          <a:xfrm>
            <a:off x="6592954" y="5907486"/>
            <a:ext cx="2607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00FF00"/>
                </a:highlight>
              </a:rPr>
              <a:t>Template Binder as Seed</a:t>
            </a:r>
            <a:r>
              <a:rPr lang="en-SG" dirty="0"/>
              <a:t>: Keep these residues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DD9C0-DE01-94D6-196F-9371A9128F4F}"/>
              </a:ext>
            </a:extLst>
          </p:cNvPr>
          <p:cNvSpPr txBox="1"/>
          <p:nvPr/>
        </p:nvSpPr>
        <p:spPr>
          <a:xfrm>
            <a:off x="9306338" y="5871476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Change the </a:t>
            </a:r>
            <a:r>
              <a:rPr lang="en-SG" dirty="0">
                <a:solidFill>
                  <a:schemeClr val="bg1"/>
                </a:solidFill>
                <a:highlight>
                  <a:srgbClr val="000080"/>
                </a:highlight>
              </a:rPr>
              <a:t>rest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4D63F0-9314-9DE9-8916-9376987749F8}"/>
              </a:ext>
            </a:extLst>
          </p:cNvPr>
          <p:cNvCxnSpPr/>
          <p:nvPr/>
        </p:nvCxnSpPr>
        <p:spPr>
          <a:xfrm flipH="1" flipV="1">
            <a:off x="6679095" y="5651760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EEA8BD-7B0B-CA41-5747-80A9A9BE5991}"/>
              </a:ext>
            </a:extLst>
          </p:cNvPr>
          <p:cNvCxnSpPr/>
          <p:nvPr/>
        </p:nvCxnSpPr>
        <p:spPr>
          <a:xfrm flipV="1">
            <a:off x="8617224" y="5693482"/>
            <a:ext cx="231913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BAA3E2-006A-53BB-F0AE-CC0E15984B6A}"/>
              </a:ext>
            </a:extLst>
          </p:cNvPr>
          <p:cNvCxnSpPr/>
          <p:nvPr/>
        </p:nvCxnSpPr>
        <p:spPr>
          <a:xfrm flipV="1">
            <a:off x="10393009" y="5651760"/>
            <a:ext cx="231913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98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CB31-6C03-E550-26AD-C11D5F98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376" y="21347"/>
            <a:ext cx="10515600" cy="1325563"/>
          </a:xfrm>
        </p:spPr>
        <p:txBody>
          <a:bodyPr/>
          <a:lstStyle/>
          <a:p>
            <a:r>
              <a:rPr lang="en-SG" dirty="0"/>
              <a:t>Test Run: Human Lysozyme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7DFA-9303-C8C2-84F3-926E8F12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664"/>
            <a:ext cx="10972800" cy="4525963"/>
          </a:xfrm>
        </p:spPr>
        <p:txBody>
          <a:bodyPr/>
          <a:lstStyle/>
          <a:p>
            <a:r>
              <a:rPr lang="en-SG" dirty="0"/>
              <a:t>1OP9.pdb: </a:t>
            </a:r>
            <a:r>
              <a:rPr lang="en-US" dirty="0"/>
              <a:t>Complex of human lysozyme with camelid VHH HL6 antibody fragment</a:t>
            </a:r>
          </a:p>
          <a:p>
            <a:r>
              <a:rPr lang="en-US" dirty="0"/>
              <a:t>Target protein: Human lysozyme </a:t>
            </a:r>
          </a:p>
          <a:p>
            <a:pPr lvl="1"/>
            <a:r>
              <a:rPr lang="en-US" dirty="0"/>
              <a:t>Chosen as it’s a small, and well-studied, stable protein</a:t>
            </a:r>
          </a:p>
          <a:p>
            <a:r>
              <a:rPr lang="en-US" dirty="0"/>
              <a:t>Binder template: HL6</a:t>
            </a:r>
          </a:p>
          <a:p>
            <a:r>
              <a:rPr lang="en-US" dirty="0"/>
              <a:t>I tested </a:t>
            </a:r>
            <a:r>
              <a:rPr lang="en-US" dirty="0" err="1"/>
              <a:t>MutaCraft</a:t>
            </a:r>
            <a:r>
              <a:rPr lang="en-US" dirty="0"/>
              <a:t> by letting it generate binders using HL6 as the seed, then evaluated them</a:t>
            </a:r>
          </a:p>
          <a:p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602AB-5C31-8439-135E-136E3298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70" y="4927927"/>
            <a:ext cx="1638922" cy="1297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6FC82-9C3D-5CEE-98BC-91D561A7E283}"/>
              </a:ext>
            </a:extLst>
          </p:cNvPr>
          <p:cNvSpPr txBox="1"/>
          <p:nvPr/>
        </p:nvSpPr>
        <p:spPr>
          <a:xfrm>
            <a:off x="344557" y="6225555"/>
            <a:ext cx="19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Target: Lysozyme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3EDAA-FBA5-DD0F-E52B-C21AFAAB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241" y="5014912"/>
            <a:ext cx="1415498" cy="1190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AB960F-B6FA-53CA-B482-56E6E19B3AC8}"/>
              </a:ext>
            </a:extLst>
          </p:cNvPr>
          <p:cNvSpPr txBox="1"/>
          <p:nvPr/>
        </p:nvSpPr>
        <p:spPr>
          <a:xfrm>
            <a:off x="2814016" y="6190322"/>
            <a:ext cx="1967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Binder Template: HL6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7927B-FA9F-4F1F-A702-19DB2D5AD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247" y="4594989"/>
            <a:ext cx="2372967" cy="1610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49D87-5DBE-0691-3238-E22789C415F8}"/>
              </a:ext>
            </a:extLst>
          </p:cNvPr>
          <p:cNvSpPr txBox="1"/>
          <p:nvPr/>
        </p:nvSpPr>
        <p:spPr>
          <a:xfrm>
            <a:off x="7004438" y="6410265"/>
            <a:ext cx="362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My </a:t>
            </a:r>
            <a:r>
              <a:rPr lang="en-SG" dirty="0" err="1"/>
              <a:t>MutaCraft</a:t>
            </a:r>
            <a:r>
              <a:rPr lang="en-SG" dirty="0"/>
              <a:t> generated Binder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86D38-0455-C149-5A25-422B99F87CB6}"/>
              </a:ext>
            </a:extLst>
          </p:cNvPr>
          <p:cNvSpPr/>
          <p:nvPr/>
        </p:nvSpPr>
        <p:spPr>
          <a:xfrm>
            <a:off x="5062330" y="5466522"/>
            <a:ext cx="1737693" cy="50358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013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7" y="165152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Results (vs template binder)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5FB309-292A-18FA-A2EF-1F519664F3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169504"/>
          <a:ext cx="10972794" cy="278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26996389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15872809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5800938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72981861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4228616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08959858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116132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plddt_mean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loss_mean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46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HL6 camel VHH template (Original Binder)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0.397544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0.439117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0.154836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0.766483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0.881567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6.450178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658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</a:t>
                      </a:r>
                      <a:r>
                        <a:rPr lang="en-SG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MutaCraft</a:t>
                      </a: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0.494419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0.44309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0.155191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0.761355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0.853633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5.961434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277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Improvement Percentage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24.3%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8022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24CF73-D4E8-5019-2104-81ADCF54AED7}"/>
              </a:ext>
            </a:extLst>
          </p:cNvPr>
          <p:cNvSpPr txBox="1"/>
          <p:nvPr/>
        </p:nvSpPr>
        <p:spPr>
          <a:xfrm>
            <a:off x="343765" y="3862729"/>
            <a:ext cx="11699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/>
              <a:t>I re-predicted the binder &amp; complex w/ AF2, then scored w/ AF2 &amp; Rosetta: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 err="1"/>
              <a:t>MutaCraft’s</a:t>
            </a:r>
            <a:r>
              <a:rPr lang="en-SG" sz="2400" dirty="0"/>
              <a:t> binder shows Improvement across all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pLDDT</a:t>
            </a:r>
            <a:r>
              <a:rPr lang="en-US" sz="2400" dirty="0"/>
              <a:t> (predicted Local Distance Difference Test): Binder residue-level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pTM</a:t>
            </a:r>
            <a:r>
              <a:rPr lang="en-US" sz="2400" dirty="0"/>
              <a:t> (predicted TM-score): Confidence in the binder’s global 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i_ptm</a:t>
            </a:r>
            <a:r>
              <a:rPr lang="en-US" sz="2400" dirty="0"/>
              <a:t>: </a:t>
            </a:r>
            <a:r>
              <a:rPr lang="en-US" sz="2400" dirty="0" err="1"/>
              <a:t>pTM</a:t>
            </a:r>
            <a:r>
              <a:rPr lang="en-US" sz="2400" dirty="0"/>
              <a:t> at Interface (where target and binder meet)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pAE</a:t>
            </a:r>
            <a:r>
              <a:rPr lang="en-US" sz="2400" dirty="0"/>
              <a:t> (predicted Alignment Error): Positional error between target and binder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i_pAE</a:t>
            </a:r>
            <a:r>
              <a:rPr lang="en-US" sz="2400" dirty="0"/>
              <a:t>: </a:t>
            </a:r>
            <a:r>
              <a:rPr lang="en-US" sz="2400" dirty="0" err="1"/>
              <a:t>pAE</a:t>
            </a:r>
            <a:r>
              <a:rPr lang="en-US" sz="2400" dirty="0"/>
              <a:t> at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AlphaFold loss: Aggregate design objective used during </a:t>
            </a:r>
            <a:r>
              <a:rPr lang="en-US" sz="2400" dirty="0" err="1"/>
              <a:t>optimisation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73D43-1D49-0CAF-6D0E-82C0A754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73" y="2032365"/>
            <a:ext cx="707749" cy="595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D3C8F-D5FD-1BAD-C503-02CD40B59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46" y="2889909"/>
            <a:ext cx="510605" cy="3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2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4999-4029-4E0C-7C9E-F832BEB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A46C-21BE-9994-0B1E-A185FFFE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58" y="171778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Results (vs </a:t>
            </a:r>
            <a:r>
              <a:rPr lang="en-SG" dirty="0" err="1"/>
              <a:t>MutaCraft</a:t>
            </a:r>
            <a:r>
              <a:rPr lang="en-SG" dirty="0"/>
              <a:t> trajectories) (same binder lengths)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B7955-F5AC-3C12-950A-DC82DF8DFBA8}"/>
              </a:ext>
            </a:extLst>
          </p:cNvPr>
          <p:cNvSpPr txBox="1"/>
          <p:nvPr/>
        </p:nvSpPr>
        <p:spPr>
          <a:xfrm>
            <a:off x="157457" y="4870174"/>
            <a:ext cx="12034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 ran 3 trajectories of </a:t>
            </a:r>
            <a:r>
              <a:rPr lang="en-SG" dirty="0" err="1"/>
              <a:t>BindCraft</a:t>
            </a:r>
            <a:r>
              <a:rPr lang="en-SG" dirty="0"/>
              <a:t>, and 1 run of </a:t>
            </a:r>
            <a:r>
              <a:rPr lang="en-SG" dirty="0" err="1"/>
              <a:t>MutaCraft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Comparison done without re-predicting structure, data is straight from output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 err="1"/>
              <a:t>MutaCraft</a:t>
            </a:r>
            <a:r>
              <a:rPr lang="en-SG" dirty="0"/>
              <a:t> shows an improvement across all metrics, in terms of confidence/loss of generated binder, and compute speed &amp; cost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788D4BD-A169-07F3-F316-405F3E53A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050318"/>
              </p:ext>
            </p:extLst>
          </p:nvPr>
        </p:nvGraphicFramePr>
        <p:xfrm>
          <a:off x="299391" y="1497341"/>
          <a:ext cx="11656334" cy="3167470"/>
        </p:xfrm>
        <a:graphic>
          <a:graphicData uri="http://schemas.openxmlformats.org/drawingml/2006/table">
            <a:tbl>
              <a:tblPr/>
              <a:tblGrid>
                <a:gridCol w="1086394">
                  <a:extLst>
                    <a:ext uri="{9D8B030D-6E8A-4147-A177-3AD203B41FA5}">
                      <a16:colId xmlns:a16="http://schemas.microsoft.com/office/drawing/2014/main" val="816198451"/>
                    </a:ext>
                  </a:extLst>
                </a:gridCol>
                <a:gridCol w="4017406">
                  <a:extLst>
                    <a:ext uri="{9D8B030D-6E8A-4147-A177-3AD203B41FA5}">
                      <a16:colId xmlns:a16="http://schemas.microsoft.com/office/drawing/2014/main" val="329547939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21327131"/>
                    </a:ext>
                  </a:extLst>
                </a:gridCol>
                <a:gridCol w="1437767">
                  <a:extLst>
                    <a:ext uri="{9D8B030D-6E8A-4147-A177-3AD203B41FA5}">
                      <a16:colId xmlns:a16="http://schemas.microsoft.com/office/drawing/2014/main" val="1540826825"/>
                    </a:ext>
                  </a:extLst>
                </a:gridCol>
                <a:gridCol w="1069433">
                  <a:extLst>
                    <a:ext uri="{9D8B030D-6E8A-4147-A177-3AD203B41FA5}">
                      <a16:colId xmlns:a16="http://schemas.microsoft.com/office/drawing/2014/main" val="1344734295"/>
                    </a:ext>
                  </a:extLst>
                </a:gridCol>
                <a:gridCol w="1494463">
                  <a:extLst>
                    <a:ext uri="{9D8B030D-6E8A-4147-A177-3AD203B41FA5}">
                      <a16:colId xmlns:a16="http://schemas.microsoft.com/office/drawing/2014/main" val="1253851076"/>
                    </a:ext>
                  </a:extLst>
                </a:gridCol>
                <a:gridCol w="1439621">
                  <a:extLst>
                    <a:ext uri="{9D8B030D-6E8A-4147-A177-3AD203B41FA5}">
                      <a16:colId xmlns:a16="http://schemas.microsoft.com/office/drawing/2014/main" val="2651460868"/>
                    </a:ext>
                  </a:extLst>
                </a:gridCol>
              </a:tblGrid>
              <a:tr h="331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algorithm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trajectory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binder_length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duration_seconds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AlphaFold calls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plddt (higher is better)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loss (lower is better)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793747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Compare_HLyso_l99_s119748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113611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Compare_HLyso_l99_s34938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823565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Compare_HLyso_l99_s648422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6396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Total: 892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Mean: 0.643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Mean: 9.347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5791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33959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MutaCraft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HL6_VHH_run (using HL6_camel_VHH_fragment.pdb from 1OP9)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5.757607937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32680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Improvement Percentage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3.13%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37.21%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8.86%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38.4%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296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78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A064-0A36-A34C-0CFA-FEF79EFB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From last meeting: Custom Phage Library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97F2-2329-82BF-0F9D-177F747A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74" y="1416192"/>
            <a:ext cx="10515600" cy="4351338"/>
          </a:xfrm>
        </p:spPr>
        <p:txBody>
          <a:bodyPr>
            <a:noAutofit/>
          </a:bodyPr>
          <a:lstStyle/>
          <a:p>
            <a:r>
              <a:rPr lang="en-SG" sz="2000" dirty="0"/>
              <a:t>Custom Phage Library with Binder length 7-12:</a:t>
            </a:r>
          </a:p>
          <a:p>
            <a:r>
              <a:rPr lang="en-US" sz="2000" dirty="0"/>
              <a:t>Let many test peptides compete to see which ones bind best to the target protein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billions of tiny test binders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Genes for peptides inserted into phage coat protein gene of a bacteriophage (</a:t>
            </a:r>
            <a:r>
              <a:rPr lang="en-SG" sz="2000" dirty="0"/>
              <a:t>virus that infects bacteria)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Phage will display the peptide on its surface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Attach target protein to plate/surface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phage library to plate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the phages are poured over the target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don’t bind and are washed away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small fraction binds because their peptide happens to match the protein surface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Keep &amp; copy the winners (Each phage contains DNA for its peptide) aka Elution &amp; Amplification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 to improve </a:t>
            </a:r>
            <a:r>
              <a:rPr lang="en-US" altLang="en-US" sz="2000" dirty="0"/>
              <a:t>peptide quality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SG" sz="2000" dirty="0"/>
              <a:t>Read the winning sequences’ DNA inside the final </a:t>
            </a:r>
            <a:r>
              <a:rPr lang="en-SG" sz="2000" dirty="0" err="1"/>
              <a:t>phages</a:t>
            </a:r>
            <a:r>
              <a:rPr lang="en-SG" sz="2000" dirty="0"/>
              <a:t>, these are the best binding motifs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sz="2000" dirty="0"/>
          </a:p>
          <a:p>
            <a:pPr lvl="1"/>
            <a:endParaRPr lang="en-SG" sz="2000" dirty="0"/>
          </a:p>
        </p:txBody>
      </p:sp>
      <p:pic>
        <p:nvPicPr>
          <p:cNvPr id="1026" name="Picture 2" descr="Ph.D.™-12 Phage Display Peptide Library | NEB">
            <a:extLst>
              <a:ext uri="{FF2B5EF4-FFF2-40B4-BE49-F238E27FC236}">
                <a16:creationId xmlns:a16="http://schemas.microsoft.com/office/drawing/2014/main" id="{07A3FF91-D738-EF4A-1A7A-D5828FDBB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115" y="1121331"/>
            <a:ext cx="1672548" cy="129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12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599D-946A-1873-B5F6-4DEE672F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From in-silico to phage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9C3E-9DB2-71DD-A0EC-194CA68C4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SG" dirty="0"/>
              <a:t>After obtaining the in-silico peptide sequence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Translate peptide sequence to DNA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Insert DNA for that peptide into phage’s DNA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Phage makes and displays that peptide on its surface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phage can bind to the target, we know the peptide works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596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755E-16C2-6A81-6FF2-9E6F5F20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Focus on Binding Motifs instead of a Folded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8B90-7EC9-0A9C-3191-7FFAC8AE5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With a binder length of 7-12 residues, it will be a </a:t>
            </a:r>
            <a:r>
              <a:rPr lang="en-US" b="1" dirty="0"/>
              <a:t>binding motif</a:t>
            </a:r>
            <a:r>
              <a:rPr lang="en-US" dirty="0"/>
              <a:t> that adopts structure only upon binding (intrinsically flexible or disordered on its own)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Stable protein folding requires enough residues to form a hydrophobic core and cooperative secondary structure.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Below roughly </a:t>
            </a:r>
            <a:r>
              <a:rPr lang="en-US" altLang="en-US" b="1" dirty="0"/>
              <a:t>20 to 30 amino acids</a:t>
            </a:r>
            <a:r>
              <a:rPr lang="en-US" altLang="en-US" dirty="0"/>
              <a:t>, peptides lack sufficient contacts to remain folded in solution under physiological conditions.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Most 7 to 12 aa peptides behave like </a:t>
            </a:r>
            <a:r>
              <a:rPr lang="en-US" altLang="en-US" b="1" dirty="0"/>
              <a:t>intrinsically disordered peptides</a:t>
            </a:r>
            <a:r>
              <a:rPr lang="en-US" altLang="en-US" dirty="0"/>
              <a:t> when unbound.</a:t>
            </a:r>
          </a:p>
          <a:p>
            <a:endParaRPr lang="en-US" dirty="0"/>
          </a:p>
          <a:p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C78F5-A4DE-50F6-0D50-C7D35511C34B}"/>
              </a:ext>
            </a:extLst>
          </p:cNvPr>
          <p:cNvSpPr txBox="1"/>
          <p:nvPr/>
        </p:nvSpPr>
        <p:spPr>
          <a:xfrm>
            <a:off x="132408" y="5927179"/>
            <a:ext cx="609713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2"/>
              </a:rPr>
              <a:t>https://pmc.ncbi.nlm.nih.gov/articles/PMC11736853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3"/>
              </a:rPr>
              <a:t>https://www.researchgate.net/publication/372061820_De_Novo_Generation_and_Prioritization_of_Target-Binding_Peptide_Motifs_from_Sequence_Alone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4"/>
              </a:rPr>
              <a:t>https://en.wikipedia.org/wiki/Short_linear_motif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/>
              <a:t>https://pmc.ncbi.nlm.nih.gov/articles/PMC7545034/</a:t>
            </a:r>
          </a:p>
        </p:txBody>
      </p:sp>
    </p:spTree>
    <p:extLst>
      <p:ext uri="{BB962C8B-B14F-4D97-AF65-F5344CB8AC3E}">
        <p14:creationId xmlns:p14="http://schemas.microsoft.com/office/powerpoint/2010/main" val="377265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8C95-DD25-F17D-3820-1CF6E76B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F659-7C99-6B7C-0448-BD806E7B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Focus on Binding Motifs instead of a Folded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DCA2-B7DA-C38B-88C8-85236F96D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From Wikipedia (</a:t>
            </a:r>
            <a:r>
              <a:rPr lang="en-SG" dirty="0"/>
              <a:t>Short linear motif)</a:t>
            </a:r>
            <a:endParaRPr lang="en-US" dirty="0"/>
          </a:p>
          <a:p>
            <a:r>
              <a:rPr lang="en-US" b="1" dirty="0"/>
              <a:t>Short linear motifs</a:t>
            </a:r>
            <a:r>
              <a:rPr lang="en-US" dirty="0"/>
              <a:t> (</a:t>
            </a:r>
            <a:r>
              <a:rPr lang="en-US" b="1" dirty="0" err="1"/>
              <a:t>SLiMs</a:t>
            </a:r>
            <a:r>
              <a:rPr lang="en-US" dirty="0"/>
              <a:t>), </a:t>
            </a:r>
            <a:r>
              <a:rPr lang="en-US" b="1" dirty="0"/>
              <a:t>linear motifs</a:t>
            </a:r>
            <a:r>
              <a:rPr lang="en-US" dirty="0"/>
              <a:t> or </a:t>
            </a:r>
            <a:r>
              <a:rPr lang="en-US" b="1" dirty="0"/>
              <a:t>minimotifs</a:t>
            </a:r>
            <a:r>
              <a:rPr lang="en-US" dirty="0"/>
              <a:t> are short stretches of </a:t>
            </a:r>
            <a:r>
              <a:rPr lang="en-US" dirty="0">
                <a:hlinkClick r:id="rId2" tooltip="Protein primary structure"/>
              </a:rPr>
              <a:t>protein sequence</a:t>
            </a:r>
            <a:r>
              <a:rPr lang="en-US" dirty="0"/>
              <a:t> that mediate </a:t>
            </a:r>
            <a:r>
              <a:rPr lang="en-US" dirty="0">
                <a:hlinkClick r:id="rId3"/>
              </a:rPr>
              <a:t>protein–protein interaction</a:t>
            </a:r>
            <a:r>
              <a:rPr lang="en-US" dirty="0"/>
              <a:t>.</a:t>
            </a:r>
          </a:p>
          <a:p>
            <a:r>
              <a:rPr lang="en-US" dirty="0" err="1"/>
              <a:t>SLiMs</a:t>
            </a:r>
            <a:r>
              <a:rPr lang="en-US" dirty="0"/>
              <a:t> are generally situated in </a:t>
            </a:r>
            <a:r>
              <a:rPr lang="en-US" dirty="0">
                <a:hlinkClick r:id="rId4" tooltip="Intrinsically unstructured proteins"/>
              </a:rPr>
              <a:t>intrinsically disordered</a:t>
            </a:r>
            <a:r>
              <a:rPr lang="en-US" dirty="0"/>
              <a:t> regions </a:t>
            </a:r>
            <a:r>
              <a:rPr lang="en-US" baseline="30000" dirty="0"/>
              <a:t> </a:t>
            </a:r>
            <a:r>
              <a:rPr lang="en-US" dirty="0"/>
              <a:t>(over 80% of known </a:t>
            </a:r>
            <a:r>
              <a:rPr lang="en-US" dirty="0" err="1"/>
              <a:t>SLiMs</a:t>
            </a:r>
            <a:r>
              <a:rPr lang="en-US" dirty="0"/>
              <a:t>), however, upon interaction with a structured partner </a:t>
            </a:r>
            <a:r>
              <a:rPr lang="en-US" dirty="0">
                <a:hlinkClick r:id="rId5" tooltip="Secondary structure"/>
              </a:rPr>
              <a:t>secondary structure</a:t>
            </a:r>
            <a:r>
              <a:rPr lang="en-US" dirty="0"/>
              <a:t> is often induced. </a:t>
            </a:r>
          </a:p>
          <a:p>
            <a:r>
              <a:rPr lang="en-US" dirty="0"/>
              <a:t>The majority of annotated </a:t>
            </a:r>
            <a:r>
              <a:rPr lang="en-US" dirty="0" err="1"/>
              <a:t>SLiMs</a:t>
            </a:r>
            <a:r>
              <a:rPr lang="en-US" dirty="0"/>
              <a:t> consist of </a:t>
            </a:r>
            <a:r>
              <a:rPr lang="en-US" b="1" dirty="0"/>
              <a:t>3 to 11</a:t>
            </a:r>
            <a:r>
              <a:rPr lang="en-US" dirty="0"/>
              <a:t> contiguous </a:t>
            </a:r>
            <a:r>
              <a:rPr lang="en-US" dirty="0">
                <a:hlinkClick r:id="rId6" tooltip="Amino acid"/>
              </a:rPr>
              <a:t>amino acids</a:t>
            </a:r>
            <a:r>
              <a:rPr lang="en-US" dirty="0"/>
              <a:t>, with an average of just over 6 residues. </a:t>
            </a:r>
          </a:p>
          <a:p>
            <a:r>
              <a:rPr lang="en-US" dirty="0"/>
              <a:t>However, only few hotspot residues (on average 1 hotspot for each 3 residues in the motif) contribute the majority of the </a:t>
            </a:r>
            <a:r>
              <a:rPr lang="en-US" dirty="0">
                <a:hlinkClick r:id="rId7" tooltip="Binding energy"/>
              </a:rPr>
              <a:t>free energy of binding</a:t>
            </a:r>
            <a:r>
              <a:rPr lang="en-US" dirty="0"/>
              <a:t> and determine most of the affinity and specificity of the interaction. </a:t>
            </a:r>
          </a:p>
          <a:p>
            <a:r>
              <a:rPr lang="en-US" dirty="0"/>
              <a:t>Although most motifs have no positional preference, several of them are required to be localized at the protein termini in order to be functional.</a:t>
            </a:r>
            <a:endParaRPr lang="en-SG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C42E9-9B09-3C5D-6D7E-D252BAFBE824}"/>
              </a:ext>
            </a:extLst>
          </p:cNvPr>
          <p:cNvSpPr txBox="1"/>
          <p:nvPr/>
        </p:nvSpPr>
        <p:spPr>
          <a:xfrm>
            <a:off x="132408" y="5927179"/>
            <a:ext cx="609713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8"/>
              </a:rPr>
              <a:t>https://pmc.ncbi.nlm.nih.gov/articles/PMC11736853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9"/>
              </a:rPr>
              <a:t>https://www.researchgate.net/publication/372061820_De_Novo_Generation_and_Prioritization_of_Target-Binding_Peptide_Motifs_from_Sequence_Alone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10"/>
              </a:rPr>
              <a:t>https://en.wikipedia.org/wiki/Short_linear_motif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/>
              <a:t>https://pmc.ncbi.nlm.nih.gov/articles/PMC7545034/</a:t>
            </a:r>
          </a:p>
        </p:txBody>
      </p:sp>
    </p:spTree>
    <p:extLst>
      <p:ext uri="{BB962C8B-B14F-4D97-AF65-F5344CB8AC3E}">
        <p14:creationId xmlns:p14="http://schemas.microsoft.com/office/powerpoint/2010/main" val="49010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D4FD-E043-FAB3-1EC0-3578CC10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Proposal: </a:t>
            </a:r>
            <a:r>
              <a:rPr lang="en-US" dirty="0"/>
              <a:t>Switch the loss focus from global structure to interface geometry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B5D4-121E-4E59-0FD8-5E7D115D3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De-</a:t>
            </a:r>
            <a:r>
              <a:rPr lang="en-US" dirty="0" err="1"/>
              <a:t>emphasise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Binder internal contact loss</a:t>
            </a:r>
          </a:p>
          <a:p>
            <a:pPr lvl="1"/>
            <a:r>
              <a:rPr lang="en-US" dirty="0"/>
              <a:t>Radius of gyration</a:t>
            </a:r>
          </a:p>
          <a:p>
            <a:r>
              <a:rPr lang="en-US" dirty="0" err="1"/>
              <a:t>Emphasise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Target-binder contact map quality</a:t>
            </a:r>
          </a:p>
          <a:p>
            <a:pPr lvl="1"/>
            <a:r>
              <a:rPr lang="en-US" dirty="0"/>
              <a:t>Interface residue density</a:t>
            </a:r>
          </a:p>
          <a:p>
            <a:pPr lvl="1"/>
            <a:r>
              <a:rPr lang="en-US" dirty="0"/>
              <a:t>Binding pose consistency across models</a:t>
            </a:r>
          </a:p>
          <a:p>
            <a:r>
              <a:rPr lang="en-US" dirty="0"/>
              <a:t>New loss components</a:t>
            </a:r>
          </a:p>
          <a:p>
            <a:pPr lvl="1"/>
            <a:r>
              <a:rPr lang="en-US" dirty="0"/>
              <a:t>Interface residue count per peptide length</a:t>
            </a:r>
          </a:p>
          <a:p>
            <a:pPr lvl="1"/>
            <a:r>
              <a:rPr lang="en-US" dirty="0"/>
              <a:t>Fraction of residues within 4-5 Å of target</a:t>
            </a:r>
          </a:p>
          <a:p>
            <a:pPr lvl="1"/>
            <a:r>
              <a:rPr lang="en-US" dirty="0"/>
              <a:t>Shape complementarity proxy based on distance histograms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686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5503-E007-66AD-D575-BFD62A1A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Motif-Level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8004-725C-4734-7056-15CAAF37E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of:</a:t>
            </a:r>
          </a:p>
          <a:p>
            <a:pPr lvl="1"/>
            <a:r>
              <a:rPr lang="en-US" dirty="0"/>
              <a:t>Mutate/generate whole sequence</a:t>
            </a:r>
          </a:p>
          <a:p>
            <a:r>
              <a:rPr lang="en-US" dirty="0"/>
              <a:t>Preserve a motif core, </a:t>
            </a:r>
            <a:r>
              <a:rPr lang="en-US" dirty="0" err="1"/>
              <a:t>randomise</a:t>
            </a:r>
            <a:r>
              <a:rPr lang="en-US" dirty="0"/>
              <a:t> flanks</a:t>
            </a:r>
          </a:p>
          <a:p>
            <a:r>
              <a:rPr lang="en-US" dirty="0"/>
              <a:t>e.g. Implementation:</a:t>
            </a:r>
          </a:p>
          <a:p>
            <a:pPr lvl="1"/>
            <a:r>
              <a:rPr lang="en-US" dirty="0"/>
              <a:t>Select </a:t>
            </a:r>
            <a:r>
              <a:rPr lang="en-US" b="1" dirty="0"/>
              <a:t>2-4 central residues</a:t>
            </a:r>
            <a:r>
              <a:rPr lang="en-US" dirty="0"/>
              <a:t> as a </a:t>
            </a:r>
            <a:r>
              <a:rPr lang="en-US" i="1" dirty="0"/>
              <a:t>binding core</a:t>
            </a:r>
            <a:endParaRPr lang="en-US" dirty="0"/>
          </a:p>
          <a:p>
            <a:pPr lvl="1"/>
            <a:r>
              <a:rPr lang="en-US" dirty="0"/>
              <a:t>Keep these residues fixed or softly constrained</a:t>
            </a:r>
          </a:p>
          <a:p>
            <a:pPr lvl="1"/>
            <a:r>
              <a:rPr lang="en-US" dirty="0"/>
              <a:t>Mutate/hallucinate the remaining positions</a:t>
            </a:r>
          </a:p>
          <a:p>
            <a:endParaRPr lang="en-SG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2DB0B2-184E-AEB7-5F2F-DD8B84A11D94}"/>
              </a:ext>
            </a:extLst>
          </p:cNvPr>
          <p:cNvSpPr/>
          <p:nvPr/>
        </p:nvSpPr>
        <p:spPr>
          <a:xfrm>
            <a:off x="4015408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911D7A-6864-7446-D2A5-B09439984F92}"/>
              </a:ext>
            </a:extLst>
          </p:cNvPr>
          <p:cNvSpPr/>
          <p:nvPr/>
        </p:nvSpPr>
        <p:spPr>
          <a:xfrm>
            <a:off x="5095461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B49EC0-A9FE-B6C0-FA68-265A2D850CFF}"/>
              </a:ext>
            </a:extLst>
          </p:cNvPr>
          <p:cNvSpPr/>
          <p:nvPr/>
        </p:nvSpPr>
        <p:spPr>
          <a:xfrm>
            <a:off x="8373718" y="520147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5F394B-9CAD-359B-2EF9-B576A13D1545}"/>
              </a:ext>
            </a:extLst>
          </p:cNvPr>
          <p:cNvSpPr/>
          <p:nvPr/>
        </p:nvSpPr>
        <p:spPr>
          <a:xfrm>
            <a:off x="9352721" y="516834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4F6727-A7E4-60DA-29E6-9D6D8C84139B}"/>
              </a:ext>
            </a:extLst>
          </p:cNvPr>
          <p:cNvSpPr/>
          <p:nvPr/>
        </p:nvSpPr>
        <p:spPr>
          <a:xfrm>
            <a:off x="1649898" y="516834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108BF9-973B-24A3-56EC-A7F476276054}"/>
              </a:ext>
            </a:extLst>
          </p:cNvPr>
          <p:cNvSpPr/>
          <p:nvPr/>
        </p:nvSpPr>
        <p:spPr>
          <a:xfrm>
            <a:off x="2832653" y="5168349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6E1D75-DF1B-90DA-A156-ED2272A93422}"/>
              </a:ext>
            </a:extLst>
          </p:cNvPr>
          <p:cNvSpPr/>
          <p:nvPr/>
        </p:nvSpPr>
        <p:spPr>
          <a:xfrm>
            <a:off x="6149011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122D0-6E7F-1236-8747-5C268E3132C7}"/>
              </a:ext>
            </a:extLst>
          </p:cNvPr>
          <p:cNvSpPr/>
          <p:nvPr/>
        </p:nvSpPr>
        <p:spPr>
          <a:xfrm>
            <a:off x="7229064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0C5CF8-75DC-1478-11DE-FCB6738123F0}"/>
              </a:ext>
            </a:extLst>
          </p:cNvPr>
          <p:cNvCxnSpPr/>
          <p:nvPr/>
        </p:nvCxnSpPr>
        <p:spPr>
          <a:xfrm flipH="1" flipV="1">
            <a:off x="5819366" y="6108114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3D50BA-9AFB-0F23-EF05-4C7E4F02A365}"/>
              </a:ext>
            </a:extLst>
          </p:cNvPr>
          <p:cNvSpPr txBox="1"/>
          <p:nvPr/>
        </p:nvSpPr>
        <p:spPr>
          <a:xfrm>
            <a:off x="4878326" y="6308209"/>
            <a:ext cx="2435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Keep Central Residues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074DA4-E08F-30FD-08CC-030673460D5A}"/>
              </a:ext>
            </a:extLst>
          </p:cNvPr>
          <p:cNvCxnSpPr/>
          <p:nvPr/>
        </p:nvCxnSpPr>
        <p:spPr>
          <a:xfrm flipH="1" flipV="1">
            <a:off x="9076087" y="6154945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C13701-396D-47E5-B971-8AA06BAF511B}"/>
              </a:ext>
            </a:extLst>
          </p:cNvPr>
          <p:cNvSpPr txBox="1"/>
          <p:nvPr/>
        </p:nvSpPr>
        <p:spPr>
          <a:xfrm>
            <a:off x="8135047" y="6355040"/>
            <a:ext cx="2536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Change Other Residues</a:t>
            </a:r>
          </a:p>
        </p:txBody>
      </p:sp>
    </p:spTree>
    <p:extLst>
      <p:ext uri="{BB962C8B-B14F-4D97-AF65-F5344CB8AC3E}">
        <p14:creationId xmlns:p14="http://schemas.microsoft.com/office/powerpoint/2010/main" val="336062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EAFA-D8BB-F918-3FDD-063A7D55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Peptide binder should not cause any functional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0253-3DC4-0545-5484-61951EBDA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We may want to avoid binding at active sites, to avoid receptor activation</a:t>
            </a:r>
          </a:p>
          <a:p>
            <a:r>
              <a:rPr lang="en-US" dirty="0"/>
              <a:t>Bias Library away from Functional Hotspots</a:t>
            </a:r>
          </a:p>
          <a:p>
            <a:pPr lvl="1"/>
            <a:r>
              <a:rPr lang="en-US" dirty="0"/>
              <a:t>Phage display would preferentially select functional sites, we would need to change that:</a:t>
            </a:r>
          </a:p>
          <a:p>
            <a:r>
              <a:rPr lang="en-US" dirty="0"/>
              <a:t>Apply a penalty if binder contacts excluded residues (hotspots)</a:t>
            </a:r>
          </a:p>
          <a:p>
            <a:r>
              <a:rPr lang="en-SG" dirty="0"/>
              <a:t>Favor Transient, Shallow Binding</a:t>
            </a:r>
          </a:p>
          <a:p>
            <a:pPr lvl="1"/>
            <a:r>
              <a:rPr lang="en-US" dirty="0"/>
              <a:t>Introduce losses that favor:</a:t>
            </a:r>
          </a:p>
          <a:p>
            <a:pPr lvl="2"/>
            <a:r>
              <a:rPr lang="en-US" dirty="0"/>
              <a:t>Moderate contact numbers</a:t>
            </a:r>
          </a:p>
          <a:p>
            <a:pPr lvl="2"/>
            <a:r>
              <a:rPr lang="en-US" dirty="0"/>
              <a:t>Higher flexibility</a:t>
            </a:r>
          </a:p>
          <a:p>
            <a:pPr lvl="2"/>
            <a:r>
              <a:rPr lang="en-US" dirty="0"/>
              <a:t>Multiple weak contacts rather than one dominant anchor</a:t>
            </a:r>
          </a:p>
        </p:txBody>
      </p:sp>
    </p:spTree>
    <p:extLst>
      <p:ext uri="{BB962C8B-B14F-4D97-AF65-F5344CB8AC3E}">
        <p14:creationId xmlns:p14="http://schemas.microsoft.com/office/powerpoint/2010/main" val="935834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5836-F084-9F84-C363-A4389A75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Optimise for Phage Display: Library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2A80-C380-E364-0605-FA0AA5657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For short peptides:</a:t>
            </a:r>
          </a:p>
          <a:p>
            <a:pPr lvl="1"/>
            <a:r>
              <a:rPr lang="en-US" dirty="0"/>
              <a:t>There is no stable fold to constrain the search space</a:t>
            </a:r>
          </a:p>
          <a:p>
            <a:pPr lvl="1"/>
            <a:r>
              <a:rPr lang="en-US" dirty="0"/>
              <a:t>Binding is dominated by a small number of side chain interactions</a:t>
            </a:r>
          </a:p>
          <a:p>
            <a:pPr lvl="1"/>
            <a:r>
              <a:rPr lang="en-US" dirty="0"/>
              <a:t>Many sequences can bind weakly, but only a few hit the right geometry and chemistry</a:t>
            </a:r>
          </a:p>
          <a:p>
            <a:r>
              <a:rPr lang="en-US" b="1" dirty="0"/>
              <a:t>Coverage of chemical and geometric space</a:t>
            </a:r>
            <a:r>
              <a:rPr lang="en-US" dirty="0"/>
              <a:t> becomes more important than enforcing a specific structure</a:t>
            </a:r>
          </a:p>
          <a:p>
            <a:pPr lvl="1"/>
            <a:r>
              <a:rPr lang="en-US" dirty="0"/>
              <a:t>i.e. We want to find a library of many different viable motifs, rather than just 1 binder</a:t>
            </a:r>
          </a:p>
          <a:p>
            <a:pPr lvl="1"/>
            <a:r>
              <a:rPr lang="en-US" dirty="0"/>
              <a:t>Diversity increases the chance of sampling productive side chains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8033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203D-1862-9300-DE30-93F6B234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787A-CF66-9046-5A87-E6C77D65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Optimise for Phage Display: Library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661E-6A6C-2DF4-02D6-3725BED1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Instead of generating 1 ‘best binder’,</a:t>
            </a:r>
          </a:p>
          <a:p>
            <a:r>
              <a:rPr lang="en-SG" dirty="0"/>
              <a:t>Create a </a:t>
            </a:r>
            <a:r>
              <a:rPr lang="en-SG" b="1" dirty="0"/>
              <a:t>diverse, high-quality library</a:t>
            </a:r>
          </a:p>
          <a:p>
            <a:r>
              <a:rPr lang="en-US" dirty="0"/>
              <a:t>Add </a:t>
            </a:r>
            <a:r>
              <a:rPr lang="en-US" b="1" dirty="0"/>
              <a:t>inter-sequence diversity loss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Penalise</a:t>
            </a:r>
            <a:r>
              <a:rPr lang="en-US" dirty="0"/>
              <a:t> sequence similarity</a:t>
            </a:r>
          </a:p>
          <a:p>
            <a:pPr lvl="1"/>
            <a:r>
              <a:rPr lang="en-US" dirty="0"/>
              <a:t>Encourage orthogonal motifs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9849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9CE4-3BDF-0727-D8F9-737E1EFD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782" y="2675731"/>
            <a:ext cx="10515600" cy="1325563"/>
          </a:xfrm>
        </p:spPr>
        <p:txBody>
          <a:bodyPr/>
          <a:lstStyle/>
          <a:p>
            <a:r>
              <a:rPr lang="en-SG" dirty="0"/>
              <a:t>Extra Suggestions</a:t>
            </a:r>
          </a:p>
        </p:txBody>
      </p:sp>
    </p:spTree>
    <p:extLst>
      <p:ext uri="{BB962C8B-B14F-4D97-AF65-F5344CB8AC3E}">
        <p14:creationId xmlns:p14="http://schemas.microsoft.com/office/powerpoint/2010/main" val="124899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C7DD-A9A5-CA43-B3FB-53C21FFB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Reinforcement Learning/Genetic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AD22C-A2FD-3383-4F58-50395B9A4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Preserve/learn helpful changes across trajectories</a:t>
            </a:r>
          </a:p>
        </p:txBody>
      </p:sp>
    </p:spTree>
    <p:extLst>
      <p:ext uri="{BB962C8B-B14F-4D97-AF65-F5344CB8AC3E}">
        <p14:creationId xmlns:p14="http://schemas.microsoft.com/office/powerpoint/2010/main" val="2958311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4BEB-BDC4-DA77-DB4C-F3B28CF3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Phage Library-Aware Amino Acid Priors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D42E9-B2BE-0D96-C6F8-923C7127B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Real phage libraries are not a uniform 20-AA space.</a:t>
            </a:r>
          </a:p>
          <a:p>
            <a:r>
              <a:rPr lang="en-SG" dirty="0" err="1"/>
              <a:t>MutaCraft</a:t>
            </a:r>
            <a:r>
              <a:rPr lang="en-SG" dirty="0"/>
              <a:t> Enhancement:</a:t>
            </a:r>
          </a:p>
          <a:p>
            <a:r>
              <a:rPr lang="en-SG" dirty="0"/>
              <a:t>Inject phage-realistic amino acid priors directly into the logits.</a:t>
            </a:r>
          </a:p>
          <a:p>
            <a:r>
              <a:rPr lang="en-SG" dirty="0"/>
              <a:t>Examples:</a:t>
            </a:r>
          </a:p>
          <a:p>
            <a:pPr lvl="1"/>
            <a:r>
              <a:rPr lang="en-SG" dirty="0"/>
              <a:t>Reduce Cys to near-zero</a:t>
            </a:r>
          </a:p>
          <a:p>
            <a:pPr lvl="1"/>
            <a:r>
              <a:rPr lang="en-SG" dirty="0"/>
              <a:t>Penalize multiple </a:t>
            </a:r>
            <a:r>
              <a:rPr lang="en-SG" dirty="0" err="1"/>
              <a:t>Trp</a:t>
            </a:r>
            <a:endParaRPr lang="en-SG" dirty="0"/>
          </a:p>
          <a:p>
            <a:pPr lvl="1"/>
            <a:r>
              <a:rPr lang="en-SG" dirty="0"/>
              <a:t>Bias toward Tyr, </a:t>
            </a:r>
            <a:r>
              <a:rPr lang="en-SG" dirty="0" err="1"/>
              <a:t>Phe</a:t>
            </a:r>
            <a:r>
              <a:rPr lang="en-SG" dirty="0"/>
              <a:t>, Leu, Pro (common in peptide binders)</a:t>
            </a:r>
          </a:p>
          <a:p>
            <a:pPr lvl="1"/>
            <a:r>
              <a:rPr lang="en-SG" dirty="0"/>
              <a:t>Optional enrichment of charged residues for electrostatic steering</a:t>
            </a:r>
          </a:p>
          <a:p>
            <a:r>
              <a:rPr lang="en-SG" dirty="0"/>
              <a:t>This can be done by:</a:t>
            </a:r>
          </a:p>
          <a:p>
            <a:pPr lvl="1"/>
            <a:r>
              <a:rPr lang="en-SG" dirty="0"/>
              <a:t>Logit offsets</a:t>
            </a:r>
          </a:p>
          <a:p>
            <a:pPr lvl="1"/>
            <a:r>
              <a:rPr lang="en-SG" dirty="0"/>
              <a:t>KL-divergence regularisation toward a phage AA distribution</a:t>
            </a:r>
          </a:p>
          <a:p>
            <a:pPr lvl="1"/>
            <a:r>
              <a:rPr lang="en-SG" dirty="0"/>
              <a:t>Making </a:t>
            </a:r>
            <a:r>
              <a:rPr lang="en-SG" dirty="0" err="1"/>
              <a:t>MutaCraft</a:t>
            </a:r>
            <a:r>
              <a:rPr lang="en-SG" dirty="0"/>
              <a:t> outputs directly synthesisable.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334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0D57-B3F3-F5E3-5D43-E094955A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Ensemble Binding Pose Stability Instead of </a:t>
            </a:r>
            <a:r>
              <a:rPr lang="en-US" dirty="0" err="1"/>
              <a:t>pLDDT</a:t>
            </a:r>
            <a:br>
              <a:rPr lang="en-US" b="1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00777-3539-01A7-47DE-6F6901851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69" y="1076877"/>
            <a:ext cx="10515600" cy="4351338"/>
          </a:xfrm>
        </p:spPr>
        <p:txBody>
          <a:bodyPr>
            <a:noAutofit/>
          </a:bodyPr>
          <a:lstStyle/>
          <a:p>
            <a:r>
              <a:rPr lang="en-SG" sz="2000" dirty="0" err="1"/>
              <a:t>pLDDT</a:t>
            </a:r>
            <a:r>
              <a:rPr lang="en-SG" sz="2000" dirty="0"/>
              <a:t> is weak for short peptides (</a:t>
            </a:r>
            <a:r>
              <a:rPr lang="en-US" sz="2000" dirty="0"/>
              <a:t>measures confidence in a single predicted structure, assuming:</a:t>
            </a:r>
          </a:p>
          <a:p>
            <a:pPr lvl="1"/>
            <a:r>
              <a:rPr lang="en-US" sz="2000" dirty="0"/>
              <a:t>A dominant folded state</a:t>
            </a:r>
          </a:p>
          <a:p>
            <a:pPr lvl="1"/>
            <a:r>
              <a:rPr lang="en-US" sz="2000" dirty="0"/>
              <a:t>A well-defined backbone</a:t>
            </a:r>
          </a:p>
          <a:p>
            <a:pPr lvl="1"/>
            <a:r>
              <a:rPr lang="en-US" sz="2000" dirty="0"/>
              <a:t>Stability in isolation)</a:t>
            </a:r>
            <a:endParaRPr lang="en-SG" sz="2000" dirty="0"/>
          </a:p>
          <a:p>
            <a:r>
              <a:rPr lang="en-SG" sz="2000" dirty="0" err="1"/>
              <a:t>MutaCraft</a:t>
            </a:r>
            <a:r>
              <a:rPr lang="en-SG" sz="2000" dirty="0"/>
              <a:t> Replacement Metric:</a:t>
            </a:r>
          </a:p>
          <a:p>
            <a:r>
              <a:rPr lang="en-SG" sz="2000" dirty="0"/>
              <a:t>Proposal: Consistency across stochastic predictions</a:t>
            </a:r>
          </a:p>
          <a:p>
            <a:r>
              <a:rPr lang="en-SG" sz="2000" dirty="0"/>
              <a:t>Procedure:</a:t>
            </a:r>
          </a:p>
          <a:p>
            <a:pPr lvl="1"/>
            <a:r>
              <a:rPr lang="en-SG" sz="2000" dirty="0"/>
              <a:t>Predict peptide-target complex N times</a:t>
            </a:r>
          </a:p>
          <a:p>
            <a:pPr lvl="1"/>
            <a:r>
              <a:rPr lang="en-SG" sz="2000" dirty="0"/>
              <a:t>Align target</a:t>
            </a:r>
          </a:p>
          <a:p>
            <a:pPr lvl="1"/>
            <a:r>
              <a:rPr lang="en-SG" sz="2000" dirty="0"/>
              <a:t>Measure RMSD of peptide across runs</a:t>
            </a:r>
          </a:p>
          <a:p>
            <a:r>
              <a:rPr lang="en-SG" sz="2000" dirty="0"/>
              <a:t>New metric:</a:t>
            </a:r>
          </a:p>
          <a:p>
            <a:pPr lvl="1"/>
            <a:r>
              <a:rPr lang="en-SG" sz="2000" dirty="0"/>
              <a:t>Low RMSD = stable binding mode</a:t>
            </a:r>
          </a:p>
          <a:p>
            <a:pPr lvl="1"/>
            <a:r>
              <a:rPr lang="en-SG" sz="2000" dirty="0"/>
              <a:t>High RMSD = nonspecific binder</a:t>
            </a:r>
          </a:p>
        </p:txBody>
      </p:sp>
    </p:spTree>
    <p:extLst>
      <p:ext uri="{BB962C8B-B14F-4D97-AF65-F5344CB8AC3E}">
        <p14:creationId xmlns:p14="http://schemas.microsoft.com/office/powerpoint/2010/main" val="2070098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9F7C-9AC0-8EF3-23D9-1275EE02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Motif-Seeded Logit Initialisation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D3852-FEAB-1D8A-E2EA-C51AFD4C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MutaCraft</a:t>
            </a:r>
            <a:r>
              <a:rPr lang="en-US" dirty="0"/>
              <a:t> </a:t>
            </a:r>
            <a:r>
              <a:rPr lang="en-US" dirty="0" err="1"/>
              <a:t>Initialisation</a:t>
            </a:r>
            <a:r>
              <a:rPr lang="en-US" dirty="0"/>
              <a:t> Strategy</a:t>
            </a:r>
          </a:p>
          <a:p>
            <a:r>
              <a:rPr lang="en-US" dirty="0"/>
              <a:t>Instead of random logits:</a:t>
            </a:r>
          </a:p>
          <a:p>
            <a:pPr lvl="1"/>
            <a:r>
              <a:rPr lang="en-US" dirty="0"/>
              <a:t>Convert an input peptide into a soft logit matrix</a:t>
            </a:r>
          </a:p>
          <a:p>
            <a:pPr lvl="1"/>
            <a:r>
              <a:rPr lang="en-US" dirty="0"/>
              <a:t>Blend with random noise</a:t>
            </a:r>
          </a:p>
          <a:p>
            <a:r>
              <a:rPr lang="en-US" dirty="0"/>
              <a:t>Initial logits = </a:t>
            </a:r>
            <a:r>
              <a:rPr lang="el-GR" dirty="0"/>
              <a:t>α * </a:t>
            </a:r>
            <a:r>
              <a:rPr lang="en-US" dirty="0" err="1"/>
              <a:t>motif_logits</a:t>
            </a:r>
            <a:r>
              <a:rPr lang="en-US" dirty="0"/>
              <a:t> + (1 − </a:t>
            </a:r>
            <a:r>
              <a:rPr lang="el-GR" dirty="0"/>
              <a:t>α) * </a:t>
            </a:r>
            <a:r>
              <a:rPr lang="en-US" dirty="0" err="1"/>
              <a:t>random_logits</a:t>
            </a:r>
            <a:endParaRPr lang="en-US" dirty="0"/>
          </a:p>
          <a:p>
            <a:r>
              <a:rPr lang="en-SG" dirty="0"/>
              <a:t>Where:</a:t>
            </a:r>
          </a:p>
          <a:p>
            <a:pPr lvl="1"/>
            <a:r>
              <a:rPr lang="el-GR" dirty="0"/>
              <a:t>α ∈ [0.3, 0.7]</a:t>
            </a:r>
          </a:p>
          <a:p>
            <a:pPr lvl="1"/>
            <a:r>
              <a:rPr lang="en-SG" dirty="0" err="1"/>
              <a:t>motif_logits</a:t>
            </a:r>
            <a:r>
              <a:rPr lang="en-SG" dirty="0"/>
              <a:t> encode known binder preferences</a:t>
            </a:r>
          </a:p>
          <a:p>
            <a:r>
              <a:rPr lang="en-SG" dirty="0"/>
              <a:t>Allowing:</a:t>
            </a:r>
          </a:p>
          <a:p>
            <a:pPr lvl="1"/>
            <a:r>
              <a:rPr lang="en-SG" dirty="0"/>
              <a:t>Controlled drift from known binders</a:t>
            </a:r>
          </a:p>
          <a:p>
            <a:pPr lvl="1"/>
            <a:r>
              <a:rPr lang="en-SG" dirty="0"/>
              <a:t>Escape from local minima</a:t>
            </a:r>
          </a:p>
          <a:p>
            <a:pPr lvl="1"/>
            <a:r>
              <a:rPr lang="en-SG" dirty="0"/>
              <a:t>Exploration without losing signal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681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087-C337-1E3F-B544-6DB8CC4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Length-Aware Mutation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093C-DA54-6931-A178-58E9C73D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7-12 aa, mutating x percent of length makes less sense</a:t>
            </a:r>
          </a:p>
          <a:p>
            <a:r>
              <a:rPr lang="en-US" dirty="0"/>
              <a:t>Proposal: Mutation count per step:</a:t>
            </a:r>
          </a:p>
          <a:p>
            <a:pPr lvl="1"/>
            <a:r>
              <a:rPr lang="en-US" dirty="0"/>
              <a:t>Always 1-2 residues</a:t>
            </a:r>
          </a:p>
          <a:p>
            <a:pPr lvl="1"/>
            <a:r>
              <a:rPr lang="en-US" dirty="0"/>
              <a:t>Bias toward flanking residues first</a:t>
            </a:r>
          </a:p>
          <a:p>
            <a:pPr lvl="1"/>
            <a:r>
              <a:rPr lang="en-US" dirty="0"/>
              <a:t>Only mutate core if loss plateaus</a:t>
            </a:r>
          </a:p>
          <a:p>
            <a:r>
              <a:rPr lang="en-US" dirty="0"/>
              <a:t>Mimic experimental affinity maturation</a:t>
            </a:r>
          </a:p>
          <a:p>
            <a:pPr lvl="1"/>
            <a:r>
              <a:rPr lang="en-US" dirty="0"/>
              <a:t>Affinity maturation is the iterative improvement of a binder through cycles of mutation and selection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6434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7208-36BD-8BED-1E1A-511EF8F2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Experimental Readout-Aware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F30A-5993-3C8F-AE19-E3F7FF29B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Since we are actually screening the binders,</a:t>
            </a:r>
          </a:p>
          <a:p>
            <a:r>
              <a:rPr lang="en-SG" dirty="0"/>
              <a:t>Optimise for:</a:t>
            </a:r>
          </a:p>
          <a:p>
            <a:pPr lvl="1"/>
            <a:r>
              <a:rPr lang="en-SG" dirty="0"/>
              <a:t>Single-point mutations robustness </a:t>
            </a:r>
          </a:p>
          <a:p>
            <a:pPr lvl="2"/>
            <a:r>
              <a:rPr lang="en-SG" dirty="0"/>
              <a:t>t</a:t>
            </a:r>
            <a:r>
              <a:rPr lang="en-US" dirty="0" err="1"/>
              <a:t>olerate</a:t>
            </a:r>
            <a:r>
              <a:rPr lang="en-US" dirty="0"/>
              <a:t> individual amino acid changes without losing structure or function</a:t>
            </a:r>
            <a:endParaRPr lang="en-SG" dirty="0"/>
          </a:p>
          <a:p>
            <a:pPr lvl="1"/>
            <a:r>
              <a:rPr lang="en-SG" dirty="0"/>
              <a:t>Reduced aggregation risk </a:t>
            </a:r>
          </a:p>
          <a:p>
            <a:pPr lvl="2"/>
            <a:r>
              <a:rPr lang="en-US" dirty="0"/>
              <a:t>Aggregation occurs when molecules self associate instead of staying soluble and functional</a:t>
            </a:r>
            <a:endParaRPr lang="en-SG" dirty="0"/>
          </a:p>
          <a:p>
            <a:pPr lvl="1"/>
            <a:r>
              <a:rPr lang="en-SG" dirty="0"/>
              <a:t>Minimal hydrophobic clustering</a:t>
            </a:r>
          </a:p>
          <a:p>
            <a:pPr lvl="2"/>
            <a:r>
              <a:rPr lang="en-US" dirty="0"/>
              <a:t>Hydrophobic residues are necessary for binding, but clustering too many together creates sticky patches</a:t>
            </a:r>
            <a:endParaRPr lang="en-SG" dirty="0"/>
          </a:p>
          <a:p>
            <a:pPr lvl="1"/>
            <a:r>
              <a:rPr lang="en-SG" dirty="0"/>
              <a:t>No protease cleavage motifs</a:t>
            </a:r>
          </a:p>
          <a:p>
            <a:pPr lvl="2"/>
            <a:r>
              <a:rPr lang="en-US" dirty="0"/>
              <a:t>Protease cleavage is the act of a protease cutting a protein or peptide at a specific location</a:t>
            </a:r>
            <a:endParaRPr lang="en-SG" dirty="0"/>
          </a:p>
          <a:p>
            <a:pPr lvl="2"/>
            <a:r>
              <a:rPr lang="en-US" dirty="0"/>
              <a:t>Proteases recognize short sequence patterns called cleavage motifs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5327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0954-4544-3649-3B22-C2A1822F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+mn-lt"/>
              </a:rPr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56DA24-2B5B-5F5D-1215-CF7262CF00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157" y="1613118"/>
            <a:ext cx="10505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mutational + de novo peptide design framework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Explicitly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optimised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experimental phage display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Bridging AlphaFold-guided geometry with library-scale constraints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efficient search than pure random libraries</a:t>
            </a:r>
          </a:p>
        </p:txBody>
      </p:sp>
    </p:spTree>
    <p:extLst>
      <p:ext uri="{BB962C8B-B14F-4D97-AF65-F5344CB8AC3E}">
        <p14:creationId xmlns:p14="http://schemas.microsoft.com/office/powerpoint/2010/main" val="371563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1884</Words>
  <Application>Microsoft Office PowerPoint</Application>
  <PresentationFormat>Widescreen</PresentationFormat>
  <Paragraphs>272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Aptos Narrow</vt:lpstr>
      <vt:lpstr>Arial</vt:lpstr>
      <vt:lpstr>Office Theme</vt:lpstr>
      <vt:lpstr>Summary</vt:lpstr>
      <vt:lpstr>MutaCraft Rationale</vt:lpstr>
      <vt:lpstr>MutaCraft Procedure</vt:lpstr>
      <vt:lpstr>Test Run: Human Lysozyme Binder</vt:lpstr>
      <vt:lpstr>Results (vs template binder)</vt:lpstr>
      <vt:lpstr>Results (vs MutaCraft trajectories) (same binder lengths)</vt:lpstr>
      <vt:lpstr>From last meeting: Custom Phage Library </vt:lpstr>
      <vt:lpstr>From in-silico to phage</vt:lpstr>
      <vt:lpstr>Focus on Binding Motifs instead of a Folded Binder</vt:lpstr>
      <vt:lpstr>Focus on Binding Motifs instead of a Folded Binder</vt:lpstr>
      <vt:lpstr>Proposal: Switch the loss focus from global structure to interface geometry</vt:lpstr>
      <vt:lpstr>Motif-Level Generation</vt:lpstr>
      <vt:lpstr>Peptide binder should not cause any functional effect</vt:lpstr>
      <vt:lpstr>Optimise for Phage Display: Library Diversity</vt:lpstr>
      <vt:lpstr>Optimise for Phage Display: Library Diversity</vt:lpstr>
      <vt:lpstr>Extra Suggestions</vt:lpstr>
      <vt:lpstr>MutaCraft Reinforcement Learning/Genetic Algorithm</vt:lpstr>
      <vt:lpstr>Phage Library-Aware Amino Acid Priors </vt:lpstr>
      <vt:lpstr>Ensemble Binding Pose Stability Instead of pLDDT </vt:lpstr>
      <vt:lpstr>Motif-Seeded Logit Initialisation</vt:lpstr>
      <vt:lpstr>Length-Aware Mutation Budget</vt:lpstr>
      <vt:lpstr>Experimental Readout-Aware Scoring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Kayler Tee</dc:creator>
  <cp:lastModifiedBy>Kayler Tee</cp:lastModifiedBy>
  <cp:revision>34</cp:revision>
  <dcterms:created xsi:type="dcterms:W3CDTF">2025-12-16T09:02:30Z</dcterms:created>
  <dcterms:modified xsi:type="dcterms:W3CDTF">2025-12-18T07:31:26Z</dcterms:modified>
</cp:coreProperties>
</file>