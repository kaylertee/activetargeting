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2" r:id="rId13"/>
    <p:sldId id="268" r:id="rId14"/>
    <p:sldId id="269" r:id="rId15"/>
    <p:sldId id="270" r:id="rId16"/>
    <p:sldId id="272" r:id="rId17"/>
    <p:sldId id="273" r:id="rId18"/>
    <p:sldId id="275" r:id="rId19"/>
    <p:sldId id="274" r:id="rId20"/>
    <p:sldId id="276" r:id="rId21"/>
    <p:sldId id="303" r:id="rId22"/>
    <p:sldId id="277" r:id="rId23"/>
    <p:sldId id="293" r:id="rId24"/>
    <p:sldId id="296" r:id="rId25"/>
    <p:sldId id="297" r:id="rId26"/>
    <p:sldId id="299" r:id="rId27"/>
    <p:sldId id="300" r:id="rId28"/>
    <p:sldId id="301" r:id="rId29"/>
    <p:sldId id="295" r:id="rId30"/>
    <p:sldId id="290" r:id="rId31"/>
    <p:sldId id="291" r:id="rId32"/>
    <p:sldId id="292" r:id="rId33"/>
    <p:sldId id="294" r:id="rId34"/>
    <p:sldId id="298" r:id="rId35"/>
    <p:sldId id="302" r:id="rId36"/>
    <p:sldId id="278" r:id="rId37"/>
    <p:sldId id="279" r:id="rId38"/>
    <p:sldId id="280" r:id="rId39"/>
    <p:sldId id="284" r:id="rId40"/>
    <p:sldId id="286" r:id="rId41"/>
    <p:sldId id="287" r:id="rId42"/>
    <p:sldId id="28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3919-C153-6641-29F8-C287A34E6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27E74-7887-8377-DA0B-DD3FB32EB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C6B8-A31A-F339-E2B5-E17E646A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D64AC-C94B-1D07-63DD-E9F182CD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BA425-A4D8-C317-5EC0-70F4E673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14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645E-F746-2CF8-71E9-FF86601D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65015-FDD8-47B7-BE98-66EEF580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C0143-B6C3-2CF1-B8D0-17900BC4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81F38-A710-58BE-0751-641137E0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415E4-6286-997D-E97B-14DFBC3C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110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639E-EEE1-B8ED-7607-7EE1FA0A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09C1B-CD71-F357-CAD7-DD8F5BBEA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3CDB9-C041-65EB-727B-9914BE41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D852E-ABB6-F85D-AB50-D166F77B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01D4-B828-0429-3CA5-5E9BC6A7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212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3573-07BF-166B-04B9-92FD1786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CCB5-753A-35B3-DCE4-A785B05EC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27998-109D-A7CD-5D62-8D2AF0B90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C4B18-B317-D1A8-B077-B1A17993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DEF4B-DD82-18D1-109B-89C89F70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D737A-2CB9-F248-8D52-7B21FB6E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092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4D1B-0357-7103-95DC-4DD80C6A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E68E1-2C3E-DD5D-51B8-27F3F059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F2107-1FAA-17A4-44DA-FC56E3B70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9A7B5-324B-0DFA-5A20-EA7BD54B7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49AFF-21B1-554C-3EB7-12DBE1C91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47C49-0277-953F-1EA6-68AC50589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60A62-17ED-F9F4-10EB-0F314EEB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AF9A0-5666-ED90-FD8D-28E5A394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265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ACFD-0237-1B20-C5F2-9A9AD2B3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9E825-9506-1DA3-9859-9173D753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33298-717F-77FF-D03D-7EDE422F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52A1F-4799-721B-E19B-E2C3C75B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363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1053F3-E303-80B9-5D18-6E882ED1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DA1A2-B44C-0C23-20CB-616C6E87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C8943-19A5-3BA0-213A-17A41D8F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432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6B63-F053-1C2D-2E5E-68803838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D0A3-90D8-8FAA-346A-B92FA2192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E1BD3-DE5C-8DE1-F54D-137098CF8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FC3F1-E815-CEB3-C608-A4C27BD3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6377D-9447-9E59-F974-2557D64E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C2C9D-059C-3AA5-46BB-E707BEFD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98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A5B0-6BAB-4C70-6A06-BF1657AA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4C85A-09CC-D500-4640-62797F751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D4955-A511-FC26-C1EE-113AA974C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F0892-5B27-17B7-25BA-7908769F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E38B6-CE31-EAF9-BC7A-19A18BCD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C8ED7-9515-9F8C-3292-F87A1314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46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1673-9541-9ED9-7D7F-FF47280F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2D0FA-0945-BAA6-F066-75D9EAC08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013D8-2658-EE20-C77E-77EA481F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732E-C955-6C8C-E2B9-61D47A11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3181-5804-CA8F-CFBB-4232DA28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712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67681-DF6F-C542-795E-3C87B458A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4F527-9247-250B-6617-92A220052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1F2A-26B7-3E5A-85C7-D710334D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A8022-64C1-028D-E218-08B87EC5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9A196-F7D8-CB59-A26E-2B14F0FF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44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EE887-B0B6-27A3-0A9F-EF666FF0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100FA-F826-199D-6B5C-B98769C91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E5D40-16EE-739F-DA3B-938C95B39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9D3E2-A5E8-46DE-8116-4E913F8BDFEF}" type="datetimeFigureOut">
              <a:rPr lang="en-SG" smtClean="0"/>
              <a:t>11 Feb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3AE5-4018-D266-5713-B69930F8F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BECBE-0BDE-6907-012B-E57805CBE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293B5-472E-4BA4-8B5C-BADAB21C79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186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.oup.com/bioinformatics/article/29/21/2722/195896?login=tru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C6D7-4DA8-BB14-86E2-E6F0F54BF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AlphaFold Confidence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4A28D-4385-839A-32AB-DA99A458B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Can they accurately predict good binders?</a:t>
            </a:r>
          </a:p>
        </p:txBody>
      </p:sp>
    </p:spTree>
    <p:extLst>
      <p:ext uri="{BB962C8B-B14F-4D97-AF65-F5344CB8AC3E}">
        <p14:creationId xmlns:p14="http://schemas.microsoft.com/office/powerpoint/2010/main" val="30111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B063-BF67-B4E8-BBCD-859ADA55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AlphaFold Confidence Metrics</a:t>
            </a:r>
            <a:br>
              <a:rPr lang="en-SG" dirty="0"/>
            </a:br>
            <a:r>
              <a:rPr lang="en-SG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8CD4-6351-281C-8939-16D769FF4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AlphaFold2 confidence metrics:</a:t>
            </a:r>
          </a:p>
          <a:p>
            <a:pPr lvl="1"/>
            <a:r>
              <a:rPr lang="en-US" dirty="0" err="1"/>
              <a:t>pLDDT</a:t>
            </a:r>
            <a:r>
              <a:rPr lang="en-US" dirty="0"/>
              <a:t> : Local confidence for a residue’s geometry</a:t>
            </a:r>
          </a:p>
          <a:p>
            <a:pPr lvl="1"/>
            <a:r>
              <a:rPr lang="en-US" dirty="0"/>
              <a:t>PAE : Confidence in relative positioning between two residues</a:t>
            </a:r>
            <a:endParaRPr lang="en-SG" dirty="0"/>
          </a:p>
          <a:p>
            <a:r>
              <a:rPr lang="en-SG" dirty="0"/>
              <a:t>AlphaFold-Multimer</a:t>
            </a:r>
          </a:p>
          <a:p>
            <a:pPr lvl="1"/>
            <a:r>
              <a:rPr lang="en-SG" dirty="0" err="1"/>
              <a:t>pTM</a:t>
            </a:r>
            <a:r>
              <a:rPr lang="en-SG" dirty="0"/>
              <a:t>: </a:t>
            </a:r>
            <a:r>
              <a:rPr lang="en-US" dirty="0"/>
              <a:t>Confidence for overall structure of the complex</a:t>
            </a:r>
          </a:p>
          <a:p>
            <a:pPr lvl="1"/>
            <a:r>
              <a:rPr lang="en-US" dirty="0" err="1"/>
              <a:t>ipTM</a:t>
            </a:r>
            <a:r>
              <a:rPr lang="en-US" dirty="0"/>
              <a:t>: Confidence for how correctly two chains are positioned relative to each other</a:t>
            </a:r>
          </a:p>
          <a:p>
            <a:r>
              <a:rPr lang="en-US" dirty="0"/>
              <a:t>For binder design, </a:t>
            </a:r>
            <a:r>
              <a:rPr lang="en-US" dirty="0" err="1"/>
              <a:t>ipTM</a:t>
            </a:r>
            <a:r>
              <a:rPr lang="en-US" dirty="0"/>
              <a:t> is the primary metric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0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4398-ED74-43BD-BCF0-0CC6217E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Predicted local distance difference test</a:t>
            </a:r>
            <a:br>
              <a:rPr lang="en-US" dirty="0"/>
            </a:br>
            <a:r>
              <a:rPr lang="en-SG" dirty="0" err="1"/>
              <a:t>pLDDT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2118E-F1E4-2BCE-9681-CB9C8047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per-residue measure of local confidence (Higher is better)</a:t>
            </a:r>
          </a:p>
          <a:p>
            <a:r>
              <a:rPr lang="en-US" dirty="0"/>
              <a:t>Estimates how well the prediction would agree with an experimental structure</a:t>
            </a:r>
          </a:p>
          <a:p>
            <a:r>
              <a:rPr lang="en-US" dirty="0"/>
              <a:t>Based on the local distance difference test Cα (</a:t>
            </a:r>
            <a:r>
              <a:rPr lang="en-US" dirty="0" err="1">
                <a:hlinkClick r:id="rId2"/>
              </a:rPr>
              <a:t>lDDT</a:t>
            </a:r>
            <a:r>
              <a:rPr lang="en-US" dirty="0">
                <a:hlinkClick r:id="rId2"/>
              </a:rPr>
              <a:t>-Cα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Measures how close a predicted protein structure is to the experimentally determined one (reference structure)</a:t>
            </a:r>
          </a:p>
        </p:txBody>
      </p:sp>
    </p:spTree>
    <p:extLst>
      <p:ext uri="{BB962C8B-B14F-4D97-AF65-F5344CB8AC3E}">
        <p14:creationId xmlns:p14="http://schemas.microsoft.com/office/powerpoint/2010/main" val="412338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3DF38-6C62-3656-9BEE-243C6D8A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01A4-90AF-0B7A-60BC-A69DD20E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lDDT</a:t>
            </a:r>
            <a:r>
              <a:rPr lang="en-US" dirty="0"/>
              <a:t>-C</a:t>
            </a:r>
            <a:r>
              <a:rPr lang="el-GR" dirty="0"/>
              <a:t>α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9342-9E1D-66E3-2C20-ED650851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2086"/>
            <a:ext cx="10515600" cy="540026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Takes each Cα (alpha carbon: first carbon atom attached to a functional group) atom in the reference structure: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 at all other Cα atoms that are within a cutoff radius in the reference.</a:t>
            </a:r>
            <a:br>
              <a:rPr lang="en-US" dirty="0"/>
            </a:br>
            <a:r>
              <a:rPr lang="en-US" dirty="0"/>
              <a:t>Typically this cutoff is around 15 Å.</a:t>
            </a:r>
            <a:br>
              <a:rPr lang="en-US" dirty="0"/>
            </a:br>
            <a:r>
              <a:rPr lang="en-US" dirty="0"/>
              <a:t>These are the “neighbors” for that residue.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of those neighboring pairs, compare the distance: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Distance in the reference structure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Distance in the predicted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absolute difference between those two distances.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whether that difference is smaller than a set of tolerance thresholds, usually: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0.5 Å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1 Å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2 Å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4 Å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threshold, Count how many pairs pass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Average across thresholds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Average across residues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That final average is the </a:t>
            </a:r>
            <a:r>
              <a:rPr lang="en-US" dirty="0" err="1"/>
              <a:t>lDDT</a:t>
            </a:r>
            <a:r>
              <a:rPr lang="en-US" dirty="0"/>
              <a:t>-Cα score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75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12DF-1D5D-E8BC-7B9A-2E5E58E1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pLDDT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16EF-CBD9-9744-446D-7F641982E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lDDT</a:t>
            </a:r>
            <a:r>
              <a:rPr lang="en-US" dirty="0"/>
              <a:t>-C</a:t>
            </a:r>
            <a:r>
              <a:rPr lang="el-GR" dirty="0"/>
              <a:t>α</a:t>
            </a:r>
            <a:r>
              <a:rPr lang="en-SG" dirty="0"/>
              <a:t> requires a reference structure (ground truth) to compare a predicted structure to</a:t>
            </a:r>
          </a:p>
          <a:p>
            <a:r>
              <a:rPr lang="en-US" dirty="0"/>
              <a:t>For each residue, predict a </a:t>
            </a:r>
            <a:r>
              <a:rPr lang="en-US" b="1" dirty="0"/>
              <a:t>probability distribution </a:t>
            </a:r>
            <a:r>
              <a:rPr lang="en-US" dirty="0"/>
              <a:t>over </a:t>
            </a:r>
            <a:r>
              <a:rPr lang="en-US" dirty="0" err="1"/>
              <a:t>lDDT</a:t>
            </a:r>
            <a:r>
              <a:rPr lang="en-US" dirty="0"/>
              <a:t> bins (using internal features)</a:t>
            </a:r>
          </a:p>
          <a:p>
            <a:pPr lvl="1"/>
            <a:r>
              <a:rPr lang="en-US" dirty="0"/>
              <a:t>e.g. bins can be 0-10, 10-20,..</a:t>
            </a:r>
          </a:p>
          <a:p>
            <a:pPr lvl="1"/>
            <a:r>
              <a:rPr lang="en-US" dirty="0"/>
              <a:t>e.g. For a residue: 5% chance </a:t>
            </a:r>
            <a:r>
              <a:rPr lang="en-US" dirty="0" err="1"/>
              <a:t>lDDT</a:t>
            </a:r>
            <a:r>
              <a:rPr lang="en-US" dirty="0"/>
              <a:t> is 10-20, 15% chance </a:t>
            </a:r>
            <a:r>
              <a:rPr lang="en-US" dirty="0" err="1"/>
              <a:t>lDDT</a:t>
            </a:r>
            <a:r>
              <a:rPr lang="en-US" dirty="0"/>
              <a:t> is 50-60,…</a:t>
            </a:r>
          </a:p>
          <a:p>
            <a:r>
              <a:rPr lang="en-US" dirty="0"/>
              <a:t>Then, convert distribution into an expected score</a:t>
            </a:r>
          </a:p>
          <a:p>
            <a:r>
              <a:rPr lang="en-US" dirty="0"/>
              <a:t>Final </a:t>
            </a:r>
            <a:r>
              <a:rPr lang="en-US" dirty="0" err="1"/>
              <a:t>pLDDT</a:t>
            </a:r>
            <a:r>
              <a:rPr lang="en-US" dirty="0"/>
              <a:t> score for the whole structure is the avg over all residues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230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1121-5D25-D68A-CD10-CB70D6AB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58B7-0AE5-9361-7873-7D38CE15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pLDDT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0D10-809C-A173-468A-1E48D498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AlphaFold’s </a:t>
            </a:r>
            <a:r>
              <a:rPr lang="en-US" dirty="0" err="1"/>
              <a:t>lDDT</a:t>
            </a:r>
            <a:r>
              <a:rPr lang="en-US" dirty="0"/>
              <a:t> head takes the </a:t>
            </a:r>
            <a:r>
              <a:rPr lang="en-US" b="1" dirty="0"/>
              <a:t>single-residue embedding vector</a:t>
            </a:r>
            <a:r>
              <a:rPr lang="en-US" dirty="0"/>
              <a:t> for each residue and feeds it through a small feedforward network</a:t>
            </a:r>
          </a:p>
          <a:p>
            <a:r>
              <a:rPr lang="en-US" dirty="0"/>
              <a:t>That network outputs logits over discrete </a:t>
            </a:r>
            <a:r>
              <a:rPr lang="en-US" dirty="0" err="1"/>
              <a:t>lDDT</a:t>
            </a:r>
            <a:r>
              <a:rPr lang="en-US" dirty="0"/>
              <a:t> bins</a:t>
            </a:r>
          </a:p>
          <a:p>
            <a:r>
              <a:rPr lang="en-US" dirty="0"/>
              <a:t>Then </a:t>
            </a:r>
            <a:r>
              <a:rPr lang="en-US" dirty="0" err="1"/>
              <a:t>softmax</a:t>
            </a:r>
            <a:r>
              <a:rPr lang="en-US" dirty="0"/>
              <a:t> turns logits into a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21795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520D-2F9C-DEFF-35C1-59A46F37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Predicted aligned error </a:t>
            </a:r>
            <a:r>
              <a:rPr lang="en-SG" dirty="0" err="1"/>
              <a:t>pae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55D38-E506-CCF4-7AE1-2A568674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Pair representation</a:t>
            </a:r>
          </a:p>
          <a:p>
            <a:r>
              <a:rPr lang="en-US" dirty="0"/>
              <a:t>Inside the model, AlphaFold maintains a </a:t>
            </a:r>
            <a:r>
              <a:rPr lang="en-US" b="1" dirty="0"/>
              <a:t>pair embedding</a:t>
            </a:r>
            <a:r>
              <a:rPr lang="en-US" dirty="0"/>
              <a:t> for every residue pair (</a:t>
            </a:r>
            <a:r>
              <a:rPr lang="en-US" dirty="0" err="1"/>
              <a:t>i</a:t>
            </a:r>
            <a:r>
              <a:rPr lang="en-US" dirty="0"/>
              <a:t>, j).</a:t>
            </a:r>
          </a:p>
          <a:p>
            <a:r>
              <a:rPr lang="en-US" dirty="0"/>
              <a:t>This embedding encodes:</a:t>
            </a:r>
          </a:p>
          <a:p>
            <a:pPr lvl="1"/>
            <a:r>
              <a:rPr lang="en-US" dirty="0"/>
              <a:t>Co-evolutionary signal</a:t>
            </a:r>
          </a:p>
          <a:p>
            <a:pPr lvl="1"/>
            <a:r>
              <a:rPr lang="en-US" dirty="0"/>
              <a:t>Geometric constraints</a:t>
            </a:r>
          </a:p>
          <a:p>
            <a:pPr lvl="1"/>
            <a:r>
              <a:rPr lang="en-US" dirty="0"/>
              <a:t>Attention patterns</a:t>
            </a:r>
          </a:p>
          <a:p>
            <a:pPr lvl="1"/>
            <a:r>
              <a:rPr lang="en-US" dirty="0"/>
              <a:t>Internal uncertainty signals</a:t>
            </a:r>
          </a:p>
          <a:p>
            <a:pPr lvl="1"/>
            <a:r>
              <a:rPr lang="en-US" dirty="0"/>
              <a:t>How strongly </a:t>
            </a:r>
            <a:r>
              <a:rPr lang="en-US" dirty="0" err="1"/>
              <a:t>i</a:t>
            </a:r>
            <a:r>
              <a:rPr lang="en-US" dirty="0"/>
              <a:t> and j are geometrically linked</a:t>
            </a:r>
          </a:p>
          <a:p>
            <a:r>
              <a:rPr lang="en-US" dirty="0"/>
              <a:t>By the time the structure is predicted, this pair representation already ‘knows’ how constrained that relationship is</a:t>
            </a:r>
          </a:p>
        </p:txBody>
      </p:sp>
    </p:spTree>
    <p:extLst>
      <p:ext uri="{BB962C8B-B14F-4D97-AF65-F5344CB8AC3E}">
        <p14:creationId xmlns:p14="http://schemas.microsoft.com/office/powerpoint/2010/main" val="259864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2472-755D-D2E7-26FA-6781AA7D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C8BB-D015-4FA4-B3B9-AED85C9B8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Predicted aligned error </a:t>
            </a:r>
            <a:r>
              <a:rPr lang="en-SG" dirty="0" err="1"/>
              <a:t>pae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4424-9DB1-947F-2595-A3CF97A5C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2. The PAE head</a:t>
            </a:r>
          </a:p>
          <a:p>
            <a:pPr lvl="1"/>
            <a:r>
              <a:rPr lang="en-US" dirty="0"/>
              <a:t>There is a dedicated prediction head that:</a:t>
            </a:r>
          </a:p>
          <a:p>
            <a:pPr lvl="1"/>
            <a:r>
              <a:rPr lang="en-US" dirty="0"/>
              <a:t>Takes the pair embedding for (</a:t>
            </a:r>
            <a:r>
              <a:rPr lang="en-US" dirty="0" err="1"/>
              <a:t>i</a:t>
            </a:r>
            <a:r>
              <a:rPr lang="en-US" dirty="0"/>
              <a:t>, j)</a:t>
            </a:r>
          </a:p>
          <a:p>
            <a:pPr lvl="1"/>
            <a:r>
              <a:rPr lang="en-US" dirty="0"/>
              <a:t>Passes it through a small neural network</a:t>
            </a:r>
          </a:p>
          <a:p>
            <a:pPr lvl="1"/>
            <a:r>
              <a:rPr lang="en-US" dirty="0"/>
              <a:t>Outputs logits over </a:t>
            </a:r>
            <a:r>
              <a:rPr lang="en-US" b="1" dirty="0"/>
              <a:t>error bins</a:t>
            </a:r>
            <a:endParaRPr lang="en-US" dirty="0"/>
          </a:p>
          <a:p>
            <a:r>
              <a:rPr lang="en-US" dirty="0"/>
              <a:t>The bins correspond to distance ranges like:</a:t>
            </a:r>
          </a:p>
          <a:p>
            <a:pPr lvl="1"/>
            <a:r>
              <a:rPr lang="en-US" dirty="0"/>
              <a:t>0–0.5 Å</a:t>
            </a:r>
            <a:br>
              <a:rPr lang="en-US" dirty="0"/>
            </a:br>
            <a:r>
              <a:rPr lang="en-US" dirty="0"/>
              <a:t>0.5–1 Å</a:t>
            </a:r>
            <a:br>
              <a:rPr lang="en-US" dirty="0"/>
            </a:br>
            <a:r>
              <a:rPr lang="en-US" dirty="0"/>
              <a:t>1–2 Å</a:t>
            </a:r>
            <a:br>
              <a:rPr lang="en-US" dirty="0"/>
            </a:br>
            <a:r>
              <a:rPr lang="en-US" dirty="0"/>
              <a:t>2–4 Å</a:t>
            </a:r>
            <a:br>
              <a:rPr lang="en-US" dirty="0"/>
            </a:br>
            <a:r>
              <a:rPr lang="en-US" dirty="0"/>
              <a:t>...</a:t>
            </a:r>
            <a:br>
              <a:rPr lang="en-US" dirty="0"/>
            </a:br>
            <a:r>
              <a:rPr lang="en-US" dirty="0"/>
              <a:t>up to ~30 Å</a:t>
            </a:r>
          </a:p>
          <a:p>
            <a:r>
              <a:rPr lang="en-US" dirty="0"/>
              <a:t>After </a:t>
            </a:r>
            <a:r>
              <a:rPr lang="en-US" dirty="0" err="1"/>
              <a:t>softmax</a:t>
            </a:r>
            <a:r>
              <a:rPr lang="en-US" dirty="0"/>
              <a:t>, we get a probability distribution over error magnitudes</a:t>
            </a:r>
          </a:p>
        </p:txBody>
      </p:sp>
    </p:spTree>
    <p:extLst>
      <p:ext uri="{BB962C8B-B14F-4D97-AF65-F5344CB8AC3E}">
        <p14:creationId xmlns:p14="http://schemas.microsoft.com/office/powerpoint/2010/main" val="406226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7E357-118C-7DDD-4647-E6DD466B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EB47-0005-3CA0-A777-E3EAC663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Predicted aligned error </a:t>
            </a:r>
            <a:r>
              <a:rPr lang="en-SG" dirty="0" err="1"/>
              <a:t>pae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7AE19-B0AD-A0D3-9980-B26B5AE59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3. Convert distribution to expected error</a:t>
            </a:r>
          </a:p>
          <a:p>
            <a:r>
              <a:rPr lang="en-US" dirty="0"/>
              <a:t>The model computes:</a:t>
            </a:r>
          </a:p>
          <a:p>
            <a:pPr lvl="1"/>
            <a:r>
              <a:rPr lang="en-US" dirty="0"/>
              <a:t>PAE(</a:t>
            </a:r>
            <a:r>
              <a:rPr lang="en-US" dirty="0" err="1"/>
              <a:t>i</a:t>
            </a:r>
            <a:r>
              <a:rPr lang="en-US" dirty="0"/>
              <a:t>, j) = sum over bins of</a:t>
            </a:r>
            <a:br>
              <a:rPr lang="en-US" dirty="0"/>
            </a:br>
            <a:r>
              <a:rPr lang="en-US" dirty="0"/>
              <a:t>(probability * bin center)</a:t>
            </a:r>
          </a:p>
          <a:p>
            <a:r>
              <a:rPr lang="en-US" dirty="0"/>
              <a:t>This gives the predicted aligned error in </a:t>
            </a:r>
            <a:r>
              <a:rPr lang="en-US" dirty="0" err="1"/>
              <a:t>Ångstroms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6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12DD-34B5-C370-9601-95107667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97A8-2DF7-F3F8-5C95-6EDA139A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Predicted aligned error </a:t>
            </a:r>
            <a:r>
              <a:rPr lang="en-SG" dirty="0" err="1"/>
              <a:t>pae</a:t>
            </a:r>
            <a:br>
              <a:rPr lang="en-SG" dirty="0"/>
            </a:br>
            <a:r>
              <a:rPr lang="en-US" b="1" dirty="0"/>
              <a:t>How it is trained</a:t>
            </a:r>
            <a:br>
              <a:rPr lang="en-US" b="1" dirty="0"/>
            </a:b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067415-8AB1-FB0C-D188-FFDD1A723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During training:</a:t>
                </a:r>
              </a:p>
              <a:p>
                <a:r>
                  <a:rPr lang="en-US" dirty="0"/>
                  <a:t>True structure is known.</a:t>
                </a:r>
              </a:p>
              <a:p>
                <a:r>
                  <a:rPr lang="en-US" dirty="0"/>
                  <a:t>For each residue pair (</a:t>
                </a:r>
                <a:r>
                  <a:rPr lang="en-US" dirty="0" err="1"/>
                  <a:t>i</a:t>
                </a:r>
                <a:r>
                  <a:rPr lang="en-US" dirty="0"/>
                  <a:t>, j), the structure is aligned on residue </a:t>
                </a:r>
                <a:r>
                  <a:rPr lang="en-US" dirty="0" err="1"/>
                  <a:t>i</a:t>
                </a:r>
                <a:endParaRPr lang="en-US" dirty="0"/>
              </a:p>
              <a:p>
                <a:r>
                  <a:rPr lang="en-US" dirty="0"/>
                  <a:t>The true positional error of residue j is computed</a:t>
                </a:r>
              </a:p>
              <a:p>
                <a:r>
                  <a:rPr lang="en-US" dirty="0"/>
                  <a:t>That true error is binned</a:t>
                </a:r>
              </a:p>
              <a:p>
                <a:r>
                  <a:rPr lang="en-US" dirty="0"/>
                  <a:t>Cross-entropy loss trains the PAE head to predict the correct bin</a:t>
                </a:r>
              </a:p>
              <a:p>
                <a:r>
                  <a:rPr lang="en-US" dirty="0"/>
                  <a:t>So the model learns:</a:t>
                </a:r>
              </a:p>
              <a:p>
                <a:pPr lvl="1"/>
                <a:r>
                  <a:rPr lang="en-US" dirty="0"/>
                  <a:t>“When my internal signals between </a:t>
                </a:r>
                <a:r>
                  <a:rPr lang="en-US" dirty="0" err="1"/>
                  <a:t>i</a:t>
                </a:r>
                <a:r>
                  <a:rPr lang="en-US" dirty="0"/>
                  <a:t> and j look like this, the relative positioning error tends to be about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Å.”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067415-8AB1-FB0C-D188-FFDD1A723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12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384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7573-96D4-9E80-A232-8272E028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FB02-25F4-CB30-212D-5FF2D76C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Predicted aligned error </a:t>
            </a:r>
            <a:r>
              <a:rPr lang="en-SG" dirty="0" err="1"/>
              <a:t>pae</a:t>
            </a:r>
            <a:br>
              <a:rPr lang="en-SG" dirty="0"/>
            </a:br>
            <a:r>
              <a:rPr lang="en-US" b="1" dirty="0"/>
              <a:t>Why it works</a:t>
            </a:r>
            <a:br>
              <a:rPr lang="en-US" b="1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EFCE1-E59D-0F5A-8114-7E643BA06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two residues are:</a:t>
            </a:r>
          </a:p>
          <a:p>
            <a:pPr lvl="1"/>
            <a:r>
              <a:rPr lang="en-US" dirty="0"/>
              <a:t>In a rigid domain with strong co-evolution : Low predicted error</a:t>
            </a:r>
          </a:p>
          <a:p>
            <a:pPr lvl="1"/>
            <a:r>
              <a:rPr lang="en-US" dirty="0"/>
              <a:t>In different flexible domains : High predicted error</a:t>
            </a:r>
          </a:p>
          <a:p>
            <a:pPr lvl="1"/>
            <a:r>
              <a:rPr lang="en-US" dirty="0"/>
              <a:t>Across a weakly supported interface : Moderate to high error</a:t>
            </a:r>
          </a:p>
          <a:p>
            <a:r>
              <a:rPr lang="en-US" dirty="0"/>
              <a:t>The model learned these patterns statistically</a:t>
            </a:r>
          </a:p>
        </p:txBody>
      </p:sp>
    </p:spTree>
    <p:extLst>
      <p:ext uri="{BB962C8B-B14F-4D97-AF65-F5344CB8AC3E}">
        <p14:creationId xmlns:p14="http://schemas.microsoft.com/office/powerpoint/2010/main" val="100236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234D-9E01-927A-08E3-E1B75DC9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86AA-37DD-8327-99C2-36312605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83"/>
            <a:ext cx="10515600" cy="1325563"/>
          </a:xfrm>
        </p:spPr>
        <p:txBody>
          <a:bodyPr/>
          <a:lstStyle/>
          <a:p>
            <a:r>
              <a:rPr lang="en-SG" dirty="0"/>
              <a:t>Predicted aligned error </a:t>
            </a:r>
            <a:r>
              <a:rPr lang="en-SG" dirty="0" err="1"/>
              <a:t>pae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4B7BDB-6E80-52C9-0AB5-B58CA959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870" y="3800580"/>
            <a:ext cx="3582071" cy="19886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738AF5-D286-13C0-7CB2-AB945044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47" y="3604567"/>
            <a:ext cx="3728538" cy="21846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6E9D69-9D47-97C5-1377-A75950388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713" y="1150396"/>
            <a:ext cx="4645662" cy="26978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73DC2C-A180-D596-946E-95E54731E0B2}"/>
              </a:ext>
            </a:extLst>
          </p:cNvPr>
          <p:cNvSpPr txBox="1"/>
          <p:nvPr/>
        </p:nvSpPr>
        <p:spPr>
          <a:xfrm>
            <a:off x="4288685" y="5987626"/>
            <a:ext cx="365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Different regions have different </a:t>
            </a:r>
            <a:r>
              <a:rPr lang="en-SG" dirty="0" err="1"/>
              <a:t>pae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6345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F87F-4A4A-8E8E-4095-7BA22038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AlphaFold-Multimer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322D-0766-295F-A513-769235FFC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the structures of protein complexes (docking)</a:t>
            </a:r>
          </a:p>
          <a:p>
            <a:r>
              <a:rPr lang="en-US" dirty="0"/>
              <a:t>2 new metrics:</a:t>
            </a:r>
          </a:p>
          <a:p>
            <a:pPr lvl="1"/>
            <a:r>
              <a:rPr lang="en-US" dirty="0"/>
              <a:t>Predicted template modelling (</a:t>
            </a:r>
            <a:r>
              <a:rPr lang="en-US" dirty="0" err="1"/>
              <a:t>pTM</a:t>
            </a:r>
            <a:r>
              <a:rPr lang="en-US" dirty="0"/>
              <a:t>) score</a:t>
            </a:r>
          </a:p>
          <a:p>
            <a:pPr lvl="1"/>
            <a:r>
              <a:rPr lang="en-SG" dirty="0"/>
              <a:t>Interface predicted template modelling (</a:t>
            </a:r>
            <a:r>
              <a:rPr lang="en-SG" dirty="0" err="1"/>
              <a:t>ipTM</a:t>
            </a:r>
            <a:r>
              <a:rPr lang="en-SG" dirty="0"/>
              <a:t>) score</a:t>
            </a:r>
          </a:p>
          <a:p>
            <a:r>
              <a:rPr lang="en-US" dirty="0"/>
              <a:t>Both are derived from a measure called the template modelling (TM) score	</a:t>
            </a:r>
          </a:p>
          <a:p>
            <a:pPr lvl="1"/>
            <a:r>
              <a:rPr lang="en-US" dirty="0"/>
              <a:t>Measures the accuracy of the global structure of the protein and is relatively insensitive to </a:t>
            </a:r>
            <a:r>
              <a:rPr lang="en-US" dirty="0" err="1"/>
              <a:t>localised</a:t>
            </a:r>
            <a:r>
              <a:rPr lang="en-US" dirty="0"/>
              <a:t> inaccuracies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77098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0314-AD23-5910-9E32-6FAD3803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Template Modelling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C7B2C-6D9B-5C8F-F8E0-CB8A4AED4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Metric used to measure how similar two protein structures are in 3D space</a:t>
            </a:r>
          </a:p>
          <a:p>
            <a:pPr lvl="1"/>
            <a:r>
              <a:rPr lang="en-US" dirty="0"/>
              <a:t>Designed to fix problems with RMSD</a:t>
            </a:r>
          </a:p>
          <a:p>
            <a:pPr lvl="1"/>
            <a:r>
              <a:rPr lang="en-US" dirty="0"/>
              <a:t>Higher is better</a:t>
            </a:r>
          </a:p>
          <a:p>
            <a:r>
              <a:rPr lang="en-US" dirty="0"/>
              <a:t>Sum over residues of</a:t>
            </a:r>
            <a:br>
              <a:rPr lang="en-US" dirty="0"/>
            </a:br>
            <a:r>
              <a:rPr lang="en-US" dirty="0"/>
              <a:t>1 / (1 + (distance / d₀)²)</a:t>
            </a:r>
          </a:p>
          <a:p>
            <a:r>
              <a:rPr lang="en-US" dirty="0"/>
              <a:t>Where:	</a:t>
            </a:r>
          </a:p>
          <a:p>
            <a:pPr lvl="1"/>
            <a:r>
              <a:rPr lang="en-US" dirty="0"/>
              <a:t>distance = Cα distance between aligned residues</a:t>
            </a:r>
          </a:p>
          <a:p>
            <a:pPr lvl="1"/>
            <a:r>
              <a:rPr lang="en-US" dirty="0"/>
              <a:t>d₀ = length-dependent scaling factor</a:t>
            </a:r>
          </a:p>
          <a:p>
            <a:r>
              <a:rPr lang="en-US" dirty="0"/>
              <a:t>Output a number b/w 0 and 1</a:t>
            </a:r>
          </a:p>
          <a:p>
            <a:r>
              <a:rPr lang="en-US" dirty="0"/>
              <a:t>Large distances contribute very little</a:t>
            </a:r>
          </a:p>
          <a:p>
            <a:r>
              <a:rPr lang="en-US" dirty="0"/>
              <a:t>Close residues contribute near 1</a:t>
            </a:r>
          </a:p>
          <a:p>
            <a:r>
              <a:rPr lang="en-US" dirty="0"/>
              <a:t>That is why one bad loop does not </a:t>
            </a:r>
            <a:r>
              <a:rPr lang="en-US" dirty="0" err="1"/>
              <a:t>destr</a:t>
            </a:r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7821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BA19-1978-A217-22CE-40672CB9C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40" y="-178214"/>
            <a:ext cx="10515600" cy="1325563"/>
          </a:xfrm>
        </p:spPr>
        <p:txBody>
          <a:bodyPr/>
          <a:lstStyle/>
          <a:p>
            <a:r>
              <a:rPr lang="en-SG" dirty="0"/>
              <a:t>Predicted TM score </a:t>
            </a:r>
            <a:r>
              <a:rPr lang="en-SG" dirty="0" err="1"/>
              <a:t>pTM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06E85-C060-5509-687F-FE1D6CC36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741396"/>
                <a:ext cx="10515600" cy="565940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Predicted TM score for a superposition between the predicted structure and the hypothetical true structure</a:t>
                </a:r>
              </a:p>
              <a:p>
                <a:r>
                  <a:rPr lang="en-US" dirty="0"/>
                  <a:t>Computed from the </a:t>
                </a:r>
                <a:r>
                  <a:rPr lang="en-US" b="1" dirty="0"/>
                  <a:t>predicted aligned error (</a:t>
                </a:r>
                <a:r>
                  <a:rPr lang="en-US" b="1" dirty="0" err="1"/>
                  <a:t>pae</a:t>
                </a:r>
                <a:r>
                  <a:rPr lang="en-US" b="1" dirty="0"/>
                  <a:t>) distribution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AlphaFold predicts a PAE distribution for every residue pair in the entire complex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SG" dirty="0"/>
                  <a:t>For every ordered pair of residues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SG" dirty="0"/>
                  <a:t>the model predicts a </a:t>
                </a:r>
                <a:r>
                  <a:rPr lang="en-SG" b="1" dirty="0"/>
                  <a:t>distribution</a:t>
                </a:r>
                <a:r>
                  <a:rPr lang="en-SG" dirty="0"/>
                  <a:t> over “aligned error” distances (in Å)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This comes from the PAE head applied to the pair representation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P(error ∈ bin k ∣ </a:t>
                </a:r>
                <a:r>
                  <a:rPr lang="en-US" dirty="0" err="1"/>
                  <a:t>i,j</a:t>
                </a:r>
                <a:r>
                  <a:rPr lang="en-US" dirty="0"/>
                  <a:t>) for bins spanning roughly 0 to ~30 Å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Convert that distribution into an expected ‘TM contribution’ for that pair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SG" dirty="0"/>
                  <a:t>TM-score uses a </a:t>
                </a:r>
                <a:r>
                  <a:rPr lang="en-SG" dirty="0" err="1"/>
                  <a:t>downweighting</a:t>
                </a:r>
                <a:r>
                  <a:rPr lang="en-SG" dirty="0"/>
                  <a:t> function: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  <a:p>
                <a:pPr marL="457200" lvl="1" indent="0">
                  <a:buNone/>
                </a:pPr>
                <a:r>
                  <a:rPr lang="en-SG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dirty="0"/>
                  <a:t>is a length-dependent scale.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SG" dirty="0"/>
                  <a:t>AlphaFold replaces the unknown true aligned distance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with the random variable ‘aligned error’ from the PAE distribution, and takes an expectation: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ar-AE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SG" dirty="0"/>
                  <a:t> Probability of bin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SG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SG" dirty="0"/>
                  <a:t> The bin </a:t>
                </a:r>
                <a:r>
                  <a:rPr lang="en-SG" dirty="0" err="1"/>
                  <a:t>center</a:t>
                </a:r>
                <a:r>
                  <a:rPr lang="en-SG" dirty="0"/>
                  <a:t> (a representative distance for that bin)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SG" dirty="0"/>
                  <a:t>This gives an ‘expected TM-like agreement’ between anchor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/>
                  <a:t>and residue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SG" dirty="0"/>
                  <a:t>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06E85-C060-5509-687F-FE1D6CC36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741396"/>
                <a:ext cx="10515600" cy="5659403"/>
              </a:xfrm>
              <a:blipFill>
                <a:blip r:embed="rId2"/>
                <a:stretch>
                  <a:fillRect l="-812" t="-2155" b="-17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761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F763-053B-A3C9-69A0-06CDFE9B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Predicted TM score </a:t>
            </a:r>
            <a:r>
              <a:rPr lang="en-SG" dirty="0" err="1"/>
              <a:t>pTM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E2CBB-341E-895E-4122-A108B5FEA9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SG" dirty="0"/>
                  <a:t>3. </a:t>
                </a:r>
                <a:r>
                  <a:rPr lang="en-US" dirty="0"/>
                  <a:t>For each possible anchor residue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compute an expected global TM-like score:</a:t>
                </a:r>
              </a:p>
              <a:p>
                <a:pPr lvl="1"/>
                <a:r>
                  <a:rPr lang="en-SG" dirty="0"/>
                  <a:t>Treat residue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/>
                  <a:t>as the alignment anchor. Then average over all residues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SG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SG" dirty="0"/>
                  <a:t>So we get one score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SG" dirty="0"/>
                  <a:t> per possible anchor residue</a:t>
                </a:r>
              </a:p>
              <a:p>
                <a:pPr marL="0" indent="0">
                  <a:buNone/>
                </a:pPr>
                <a:r>
                  <a:rPr lang="en-SG" dirty="0"/>
                  <a:t>4. </a:t>
                </a:r>
                <a:r>
                  <a:rPr lang="en-US" dirty="0"/>
                  <a:t>Take the best anchor as the </a:t>
                </a:r>
                <a:r>
                  <a:rPr lang="en-US" dirty="0" err="1"/>
                  <a:t>pTM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SG" b="0"/>
                      <m:t>pTM</m:t>
                    </m:r>
                    <m:r>
                      <a:rPr lang="en-SG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SG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</m:e>
                      <m:lim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lim>
                    </m:limLow>
                  </m:oMath>
                </a14:m>
                <a:endParaRPr lang="ar-AE" b="0" dirty="0"/>
              </a:p>
              <a:p>
                <a:pPr lvl="1"/>
                <a:r>
                  <a:rPr lang="en-SG" dirty="0"/>
                  <a:t>That ‘max over anchors’ mirrors how TM-score is defined in practice: choose the alignment that gives the best global similarity</a:t>
                </a:r>
              </a:p>
              <a:p>
                <a:pPr marL="0" indent="0">
                  <a:buNone/>
                </a:pPr>
                <a:r>
                  <a:rPr lang="en-SG" dirty="0"/>
                  <a:t>5. Final output: A number b/w 0 and 1 </a:t>
                </a:r>
              </a:p>
              <a:p>
                <a:pPr lvl="1"/>
                <a:r>
                  <a:rPr lang="en-SG" dirty="0"/>
                  <a:t>This is the reported </a:t>
                </a:r>
                <a:r>
                  <a:rPr lang="en-SG" dirty="0" err="1"/>
                  <a:t>pTM</a:t>
                </a:r>
                <a:r>
                  <a:rPr lang="en-SG" dirty="0"/>
                  <a:t> for the whole structure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9E2CBB-341E-895E-4122-A108B5FEA9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232" b="-26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569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91A3-2BBB-0789-E8EE-53E064D3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Interface predicted TM score </a:t>
            </a:r>
            <a:r>
              <a:rPr lang="en-SG" dirty="0" err="1"/>
              <a:t>ipTM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F083-6FFA-F45C-44F6-6BE28F27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Computation:</a:t>
            </a:r>
          </a:p>
          <a:p>
            <a:pPr lvl="1"/>
            <a:r>
              <a:rPr lang="en-US" dirty="0"/>
              <a:t>Same as </a:t>
            </a:r>
            <a:r>
              <a:rPr lang="en-US" dirty="0" err="1"/>
              <a:t>pTM</a:t>
            </a:r>
            <a:r>
              <a:rPr lang="en-US" dirty="0"/>
              <a:t>, but only look at inter-chain pairs</a:t>
            </a:r>
          </a:p>
          <a:p>
            <a:pPr lvl="1"/>
            <a:r>
              <a:rPr lang="en-US" dirty="0"/>
              <a:t>i.e. Ignore residue pairs from the same chain</a:t>
            </a:r>
          </a:p>
          <a:p>
            <a:r>
              <a:rPr lang="en-US" dirty="0"/>
              <a:t>Ignores residue pairs w/in the same chain and focuses purely on:</a:t>
            </a:r>
          </a:p>
          <a:p>
            <a:pPr lvl="1"/>
            <a:r>
              <a:rPr lang="en-US" dirty="0"/>
              <a:t>Relative positioning between different chains</a:t>
            </a:r>
          </a:p>
          <a:p>
            <a:pPr lvl="1"/>
            <a:r>
              <a:rPr lang="en-US" dirty="0"/>
              <a:t>Interface geometry confidence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028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AAF9-794D-B7A7-2901-48737CC7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pTM</a:t>
            </a:r>
            <a:r>
              <a:rPr lang="en-SG" dirty="0"/>
              <a:t> vs </a:t>
            </a:r>
            <a:r>
              <a:rPr lang="en-SG" dirty="0" err="1"/>
              <a:t>ipTM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DA78-3330-E8EB-AEB9-50E7FD25F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pTM</a:t>
            </a:r>
            <a:r>
              <a:rPr lang="en-SG" dirty="0"/>
              <a:t> measures geometric confidence of the complex AFTER binding</a:t>
            </a:r>
          </a:p>
          <a:p>
            <a:r>
              <a:rPr lang="en-US" dirty="0"/>
              <a:t>It does </a:t>
            </a:r>
            <a:r>
              <a:rPr lang="en-US" b="1" dirty="0"/>
              <a:t>not</a:t>
            </a:r>
            <a:r>
              <a:rPr lang="en-US" dirty="0"/>
              <a:t> predict:</a:t>
            </a:r>
          </a:p>
          <a:p>
            <a:pPr lvl="1"/>
            <a:r>
              <a:rPr lang="en-US" dirty="0"/>
              <a:t>Binding affinity</a:t>
            </a:r>
          </a:p>
          <a:p>
            <a:pPr lvl="1"/>
            <a:r>
              <a:rPr lang="en-US" dirty="0"/>
              <a:t>Thermodynamic stability</a:t>
            </a:r>
          </a:p>
          <a:p>
            <a:pPr lvl="1"/>
            <a:r>
              <a:rPr lang="en-US" dirty="0"/>
              <a:t>Whether two proteins will bind if separated in solution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89307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7548-0B67-BDB9-0B77-EA88B884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Confidence metrics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8625-F6CC-99B9-5DEB-06DDA28F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example:</a:t>
            </a:r>
          </a:p>
          <a:p>
            <a:r>
              <a:rPr lang="en-US" dirty="0"/>
              <a:t>We have two chains A and B:</a:t>
            </a:r>
          </a:p>
          <a:p>
            <a:r>
              <a:rPr lang="en-US" dirty="0"/>
              <a:t>Each chain folds well on its own:</a:t>
            </a:r>
          </a:p>
          <a:p>
            <a:pPr lvl="1"/>
            <a:r>
              <a:rPr lang="en-US" dirty="0"/>
              <a:t>Their individual </a:t>
            </a:r>
            <a:r>
              <a:rPr lang="en-US" dirty="0" err="1"/>
              <a:t>pLDDT</a:t>
            </a:r>
            <a:r>
              <a:rPr lang="en-US" dirty="0"/>
              <a:t> scores can be high</a:t>
            </a:r>
            <a:endParaRPr lang="en-SG" dirty="0"/>
          </a:p>
          <a:p>
            <a:pPr lvl="1"/>
            <a:r>
              <a:rPr lang="en-SG" dirty="0"/>
              <a:t>The complex’s </a:t>
            </a:r>
            <a:r>
              <a:rPr lang="en-SG" dirty="0" err="1"/>
              <a:t>pTM</a:t>
            </a:r>
            <a:r>
              <a:rPr lang="en-SG" dirty="0"/>
              <a:t> score can also be high</a:t>
            </a:r>
          </a:p>
          <a:p>
            <a:pPr lvl="2"/>
            <a:r>
              <a:rPr lang="en-US" dirty="0"/>
              <a:t>Because intra-chain pairs vastly outnumber inter-chain pairs, the overall </a:t>
            </a:r>
            <a:r>
              <a:rPr lang="en-US" dirty="0" err="1"/>
              <a:t>pTM</a:t>
            </a:r>
            <a:r>
              <a:rPr lang="en-US" dirty="0"/>
              <a:t> can stay fairly high</a:t>
            </a:r>
          </a:p>
          <a:p>
            <a:pPr lvl="2"/>
            <a:r>
              <a:rPr lang="en-US" dirty="0" err="1"/>
              <a:t>pTM</a:t>
            </a:r>
            <a:r>
              <a:rPr lang="en-US" dirty="0"/>
              <a:t> is dominated by intra-chain geometry, not suited for binding/docking</a:t>
            </a:r>
            <a:endParaRPr lang="en-SG" dirty="0"/>
          </a:p>
          <a:p>
            <a:r>
              <a:rPr lang="en-SG" dirty="0"/>
              <a:t>But if docking is uncertain:</a:t>
            </a:r>
            <a:endParaRPr lang="en-US" dirty="0"/>
          </a:p>
          <a:p>
            <a:pPr lvl="1"/>
            <a:r>
              <a:rPr lang="en-US" dirty="0"/>
              <a:t>The complex’s </a:t>
            </a:r>
            <a:r>
              <a:rPr lang="en-US" dirty="0" err="1"/>
              <a:t>ipTM</a:t>
            </a:r>
            <a:r>
              <a:rPr lang="en-US" dirty="0"/>
              <a:t> score can be low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5752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B2F4-46E9-7FB1-32DA-90E04BD8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3878-F15D-1645-4099-7BE7F8AB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Confidence metrics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B467-5709-A313-4127-75EBDB8A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</a:t>
            </a:r>
            <a:r>
              <a:rPr lang="en-US" dirty="0" err="1"/>
              <a:t>pTM</a:t>
            </a:r>
            <a:r>
              <a:rPr lang="en-US" dirty="0"/>
              <a:t> + High </a:t>
            </a:r>
            <a:r>
              <a:rPr lang="en-US" dirty="0" err="1"/>
              <a:t>ipTM</a:t>
            </a:r>
            <a:endParaRPr lang="en-US" dirty="0"/>
          </a:p>
          <a:p>
            <a:pPr lvl="1"/>
            <a:r>
              <a:rPr lang="en-US" dirty="0"/>
              <a:t>Confident fold and confident docking</a:t>
            </a:r>
          </a:p>
          <a:p>
            <a:r>
              <a:rPr lang="en-US" dirty="0"/>
              <a:t>High </a:t>
            </a:r>
            <a:r>
              <a:rPr lang="en-US" dirty="0" err="1"/>
              <a:t>pTM</a:t>
            </a:r>
            <a:r>
              <a:rPr lang="en-US" dirty="0"/>
              <a:t> + Low </a:t>
            </a:r>
            <a:r>
              <a:rPr lang="en-US" dirty="0" err="1"/>
              <a:t>ipTM</a:t>
            </a:r>
            <a:endParaRPr lang="en-US" dirty="0"/>
          </a:p>
          <a:p>
            <a:pPr lvl="1"/>
            <a:r>
              <a:rPr lang="en-US" dirty="0"/>
              <a:t>Confident monomers, uncertain interface</a:t>
            </a:r>
          </a:p>
          <a:p>
            <a:r>
              <a:rPr lang="en-US" dirty="0"/>
              <a:t>Low </a:t>
            </a:r>
            <a:r>
              <a:rPr lang="en-US" dirty="0" err="1"/>
              <a:t>pTM</a:t>
            </a:r>
            <a:r>
              <a:rPr lang="en-US" dirty="0"/>
              <a:t> + Low </a:t>
            </a:r>
            <a:r>
              <a:rPr lang="en-US" dirty="0" err="1"/>
              <a:t>ipTM</a:t>
            </a:r>
            <a:endParaRPr lang="en-US" dirty="0"/>
          </a:p>
          <a:p>
            <a:pPr lvl="1"/>
            <a:r>
              <a:rPr lang="en-US" dirty="0"/>
              <a:t>Overall structural uncertainty</a:t>
            </a:r>
          </a:p>
          <a:p>
            <a:r>
              <a:rPr lang="en-US" dirty="0"/>
              <a:t>Low </a:t>
            </a:r>
            <a:r>
              <a:rPr lang="en-US" dirty="0" err="1"/>
              <a:t>pTM</a:t>
            </a:r>
            <a:r>
              <a:rPr lang="en-US" dirty="0"/>
              <a:t> + High </a:t>
            </a:r>
            <a:r>
              <a:rPr lang="en-US" dirty="0" err="1"/>
              <a:t>ipTM</a:t>
            </a:r>
            <a:endParaRPr lang="en-US" dirty="0"/>
          </a:p>
          <a:p>
            <a:pPr lvl="1"/>
            <a:r>
              <a:rPr lang="en-US" dirty="0"/>
              <a:t>Interface docking geometry is confident, but overall fold or domain arrangement is uncertain</a:t>
            </a:r>
          </a:p>
        </p:txBody>
      </p:sp>
    </p:spTree>
    <p:extLst>
      <p:ext uri="{BB962C8B-B14F-4D97-AF65-F5344CB8AC3E}">
        <p14:creationId xmlns:p14="http://schemas.microsoft.com/office/powerpoint/2010/main" val="3836772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34A2-E6B7-1999-CEEE-1156E359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Possible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D6C62-2636-1F16-A46F-F5854D909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Confidence metrics depend on AlphaFold’s training data</a:t>
            </a:r>
          </a:p>
          <a:p>
            <a:pPr lvl="1"/>
            <a:r>
              <a:rPr lang="en-SG" dirty="0"/>
              <a:t>May not be as good for de </a:t>
            </a:r>
            <a:r>
              <a:rPr lang="en-SG"/>
              <a:t>novo proteins</a:t>
            </a:r>
          </a:p>
        </p:txBody>
      </p:sp>
    </p:spTree>
    <p:extLst>
      <p:ext uri="{BB962C8B-B14F-4D97-AF65-F5344CB8AC3E}">
        <p14:creationId xmlns:p14="http://schemas.microsoft.com/office/powerpoint/2010/main" val="293831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F60B-7B4F-BF03-51A7-249513FA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Literature review of New Protein Design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C9985-5D0A-2108-37FF-74BEE152D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Literature Review focusing on new Protein Design methods that justify their improvement using AF confidence metrics (</a:t>
            </a:r>
            <a:r>
              <a:rPr lang="en-SG" dirty="0" err="1"/>
              <a:t>pLDDT</a:t>
            </a:r>
            <a:r>
              <a:rPr lang="en-SG" dirty="0"/>
              <a:t>, </a:t>
            </a:r>
            <a:r>
              <a:rPr lang="en-SG" dirty="0" err="1"/>
              <a:t>ipTM</a:t>
            </a:r>
            <a:r>
              <a:rPr lang="en-SG" dirty="0"/>
              <a:t>)</a:t>
            </a:r>
          </a:p>
          <a:p>
            <a:r>
              <a:rPr lang="en-SG" dirty="0"/>
              <a:t>If many publications at top venues report improvements using AF metrics, it should be fine for </a:t>
            </a:r>
            <a:r>
              <a:rPr lang="en-SG" dirty="0" err="1"/>
              <a:t>MutaCraft</a:t>
            </a:r>
            <a:r>
              <a:rPr lang="en-SG" dirty="0"/>
              <a:t> to do so as well</a:t>
            </a:r>
          </a:p>
        </p:txBody>
      </p:sp>
    </p:spTree>
    <p:extLst>
      <p:ext uri="{BB962C8B-B14F-4D97-AF65-F5344CB8AC3E}">
        <p14:creationId xmlns:p14="http://schemas.microsoft.com/office/powerpoint/2010/main" val="2202848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442FD-60C9-8270-CCB0-EFCDB1C8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PepPrCLIP</a:t>
            </a:r>
            <a:r>
              <a:rPr lang="en-SG" dirty="0"/>
              <a:t> </a:t>
            </a:r>
            <a:br>
              <a:rPr lang="en-SG" dirty="0"/>
            </a:br>
            <a:r>
              <a:rPr lang="en-US" i="1" dirty="0"/>
              <a:t>Science Advances 2025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3B0A-739B-8BE8-0DA6-7DCA053F9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PepPrCLIP</a:t>
            </a:r>
            <a:r>
              <a:rPr lang="en-SG" dirty="0"/>
              <a:t> is a peptide design pipeline</a:t>
            </a:r>
          </a:p>
          <a:p>
            <a:r>
              <a:rPr lang="en-US" dirty="0"/>
              <a:t>Compares its binders to </a:t>
            </a:r>
            <a:r>
              <a:rPr lang="en-US" dirty="0" err="1"/>
              <a:t>RFDiffusion’s</a:t>
            </a:r>
            <a:r>
              <a:rPr lang="en-US" dirty="0"/>
              <a:t> using AFM’s </a:t>
            </a:r>
            <a:r>
              <a:rPr lang="en-US" dirty="0" err="1"/>
              <a:t>ipTM</a:t>
            </a:r>
            <a:endParaRPr lang="en-US" dirty="0"/>
          </a:p>
          <a:p>
            <a:pPr lvl="1"/>
            <a:r>
              <a:rPr lang="en-US" dirty="0"/>
              <a:t>An example of a publication at a top venue that uses </a:t>
            </a:r>
            <a:r>
              <a:rPr lang="en-US" dirty="0" err="1"/>
              <a:t>ipTM</a:t>
            </a:r>
            <a:r>
              <a:rPr lang="en-US" dirty="0"/>
              <a:t> to show it’s better than a previous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4E93B-7AD4-E1A0-BD99-C4F5B00298E7}"/>
              </a:ext>
            </a:extLst>
          </p:cNvPr>
          <p:cNvSpPr txBox="1"/>
          <p:nvPr/>
        </p:nvSpPr>
        <p:spPr>
          <a:xfrm>
            <a:off x="271670" y="5943600"/>
            <a:ext cx="7210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 novo design of peptide binders to conformationally diverse targets with contrastive language modeling </a:t>
            </a:r>
            <a:r>
              <a:rPr lang="en-US" sz="1200" i="1" dirty="0"/>
              <a:t> </a:t>
            </a:r>
          </a:p>
          <a:p>
            <a:r>
              <a:rPr lang="en-US" sz="1200" i="1" dirty="0"/>
              <a:t>Science Advances </a:t>
            </a:r>
            <a:r>
              <a:rPr lang="en-US" sz="1200" dirty="0"/>
              <a:t>(Jan 2025)</a:t>
            </a:r>
          </a:p>
          <a:p>
            <a:r>
              <a:rPr lang="en-SG" sz="1200" dirty="0"/>
              <a:t>https://www.science.org/doi/10.1126/sciadv.adr8638</a:t>
            </a:r>
          </a:p>
          <a:p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356810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24CD-567C-6865-72E0-131B4DCA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BindCraft</a:t>
            </a:r>
            <a:r>
              <a:rPr lang="en-SG" dirty="0"/>
              <a:t> </a:t>
            </a:r>
            <a:br>
              <a:rPr lang="en-SG" dirty="0"/>
            </a:br>
            <a:r>
              <a:rPr lang="en-SG" i="1" dirty="0"/>
              <a:t>Nature</a:t>
            </a:r>
            <a:r>
              <a:rPr lang="en-SG" dirty="0"/>
              <a:t>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A69B6-CA82-4025-11F2-002642E5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binders were filtered using AF2 metrics (including </a:t>
            </a:r>
            <a:r>
              <a:rPr lang="en-US" dirty="0" err="1"/>
              <a:t>pLDDT</a:t>
            </a:r>
            <a:r>
              <a:rPr lang="en-US" dirty="0"/>
              <a:t> &amp; </a:t>
            </a:r>
            <a:r>
              <a:rPr lang="en-US" dirty="0" err="1"/>
              <a:t>ipTM</a:t>
            </a:r>
            <a:r>
              <a:rPr lang="en-US" dirty="0"/>
              <a:t>)</a:t>
            </a:r>
          </a:p>
          <a:p>
            <a:r>
              <a:rPr lang="en-SG" dirty="0"/>
              <a:t>Binders were experimentally validated, showing a correlation b/w </a:t>
            </a:r>
            <a:r>
              <a:rPr lang="en-SG" dirty="0" err="1"/>
              <a:t>pLDDT</a:t>
            </a:r>
            <a:r>
              <a:rPr lang="en-SG" dirty="0"/>
              <a:t> &amp; </a:t>
            </a:r>
            <a:r>
              <a:rPr lang="en-SG" dirty="0" err="1"/>
              <a:t>ipTM</a:t>
            </a:r>
            <a:r>
              <a:rPr lang="en-SG" dirty="0"/>
              <a:t> and better experimental binding affinity</a:t>
            </a:r>
          </a:p>
        </p:txBody>
      </p:sp>
    </p:spTree>
    <p:extLst>
      <p:ext uri="{BB962C8B-B14F-4D97-AF65-F5344CB8AC3E}">
        <p14:creationId xmlns:p14="http://schemas.microsoft.com/office/powerpoint/2010/main" val="2785798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BDFE-D91D-F61F-72E0-102F0AB5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PepMLM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EEBE-C093-586D-EDBC-6DF1FD97A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PepMLM</a:t>
            </a:r>
            <a:r>
              <a:rPr lang="en-SG" dirty="0"/>
              <a:t> used </a:t>
            </a:r>
            <a:r>
              <a:rPr lang="en-US" dirty="0"/>
              <a:t>AF-based docking metrics including </a:t>
            </a:r>
            <a:r>
              <a:rPr lang="en-US" dirty="0" err="1"/>
              <a:t>pLDDT</a:t>
            </a:r>
            <a:r>
              <a:rPr lang="en-US" dirty="0"/>
              <a:t> and </a:t>
            </a:r>
            <a:r>
              <a:rPr lang="en-US" dirty="0" err="1"/>
              <a:t>ipTM</a:t>
            </a:r>
            <a:endParaRPr lang="en-US" dirty="0"/>
          </a:p>
          <a:p>
            <a:r>
              <a:rPr lang="en-US" dirty="0" err="1"/>
              <a:t>pLDDT</a:t>
            </a:r>
            <a:r>
              <a:rPr lang="en-US" dirty="0"/>
              <a:t> &amp; </a:t>
            </a:r>
            <a:r>
              <a:rPr lang="en-US" dirty="0" err="1"/>
              <a:t>ipTM</a:t>
            </a:r>
            <a:r>
              <a:rPr lang="en-US" dirty="0"/>
              <a:t>  are “</a:t>
            </a:r>
            <a:r>
              <a:rPr lang="en-SG" dirty="0"/>
              <a:t>verified metrics” that “</a:t>
            </a:r>
            <a:r>
              <a:rPr lang="en-US" dirty="0"/>
              <a:t>function as critical indicators of the structural integrity and the potential interface binding affinity of the peptide–protein complex”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AD1B8-832B-8126-0C9F-606114B9E756}"/>
              </a:ext>
            </a:extLst>
          </p:cNvPr>
          <p:cNvSpPr txBox="1"/>
          <p:nvPr/>
        </p:nvSpPr>
        <p:spPr>
          <a:xfrm>
            <a:off x="218661" y="6069496"/>
            <a:ext cx="6081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Target sequence-conditioned design of peptide binders using masked language modeling</a:t>
            </a:r>
          </a:p>
          <a:p>
            <a:r>
              <a:rPr lang="en-US" sz="1200" i="1" dirty="0"/>
              <a:t>Nature Biotechnology </a:t>
            </a:r>
            <a:r>
              <a:rPr lang="en-US" sz="1200" dirty="0"/>
              <a:t>(Aug 2025)</a:t>
            </a:r>
          </a:p>
          <a:p>
            <a:r>
              <a:rPr lang="en-SG" sz="1200" dirty="0"/>
              <a:t>https://www.nature.com/articles/s41587-025-02761-2</a:t>
            </a:r>
          </a:p>
        </p:txBody>
      </p:sp>
    </p:spTree>
    <p:extLst>
      <p:ext uri="{BB962C8B-B14F-4D97-AF65-F5344CB8AC3E}">
        <p14:creationId xmlns:p14="http://schemas.microsoft.com/office/powerpoint/2010/main" val="962158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A9534-5944-60D0-D801-035A35B5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 err="1"/>
              <a:t>AlphaDesign</a:t>
            </a:r>
            <a:br>
              <a:rPr lang="en-SG" b="1" dirty="0"/>
            </a:br>
            <a:r>
              <a:rPr lang="en-US" i="1" dirty="0"/>
              <a:t>Molecular Systems Biology </a:t>
            </a:r>
            <a:r>
              <a:rPr lang="en-US" dirty="0"/>
              <a:t>2025</a:t>
            </a:r>
            <a:br>
              <a:rPr lang="en-US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0E95-B564-5539-8A15-1804CABD5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AlphaDesign</a:t>
            </a:r>
            <a:r>
              <a:rPr lang="en-SG" dirty="0"/>
              <a:t> is a protein design framework</a:t>
            </a:r>
          </a:p>
          <a:p>
            <a:r>
              <a:rPr lang="en-SG" dirty="0"/>
              <a:t>Uses AF’s confidence metrics as an optimisation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83B98-D47F-AEFE-0DAF-50A655522656}"/>
              </a:ext>
            </a:extLst>
          </p:cNvPr>
          <p:cNvSpPr txBox="1"/>
          <p:nvPr/>
        </p:nvSpPr>
        <p:spPr>
          <a:xfrm>
            <a:off x="218661" y="6069496"/>
            <a:ext cx="4811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AlphaDesign</a:t>
            </a:r>
            <a:r>
              <a:rPr lang="en-US" sz="1200" dirty="0"/>
              <a:t>: a de novo protein design framework based on AlphaFold</a:t>
            </a:r>
          </a:p>
          <a:p>
            <a:r>
              <a:rPr lang="en-US" sz="1200" i="1" dirty="0"/>
              <a:t> Molecular Systems Biology </a:t>
            </a:r>
            <a:r>
              <a:rPr lang="en-US" sz="1200" dirty="0"/>
              <a:t>(Jun 2025)</a:t>
            </a:r>
          </a:p>
          <a:p>
            <a:r>
              <a:rPr lang="en-SG" sz="1200" dirty="0"/>
              <a:t>https://link.springer.com/article/10.1038/s44320-025-00119-z</a:t>
            </a:r>
          </a:p>
        </p:txBody>
      </p:sp>
    </p:spTree>
    <p:extLst>
      <p:ext uri="{BB962C8B-B14F-4D97-AF65-F5344CB8AC3E}">
        <p14:creationId xmlns:p14="http://schemas.microsoft.com/office/powerpoint/2010/main" val="4227388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4D0B-9B3C-D319-696C-BC512D1D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More papers that were published despite no experimental binding affinity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A71FA-04AC-8618-F388-9736A04A8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ProDualNet</a:t>
            </a:r>
            <a:r>
              <a:rPr lang="en-SG" dirty="0"/>
              <a:t> </a:t>
            </a:r>
            <a:r>
              <a:rPr lang="en-SG" i="1" dirty="0"/>
              <a:t>Briefings in Bioinformatics</a:t>
            </a:r>
            <a:r>
              <a:rPr lang="en-SG" dirty="0"/>
              <a:t> 2025</a:t>
            </a:r>
          </a:p>
          <a:p>
            <a:pPr lvl="1"/>
            <a:r>
              <a:rPr lang="en-US" dirty="0"/>
              <a:t>evaluates designs in silico and explicitly uses </a:t>
            </a:r>
            <a:r>
              <a:rPr lang="en-US" dirty="0" err="1"/>
              <a:t>pLDDT</a:t>
            </a:r>
            <a:r>
              <a:rPr lang="en-US" dirty="0"/>
              <a:t> and </a:t>
            </a:r>
            <a:r>
              <a:rPr lang="en-US" dirty="0" err="1"/>
              <a:t>ipTM</a:t>
            </a:r>
            <a:r>
              <a:rPr lang="en-US" dirty="0"/>
              <a:t> as ranking/quality metrics</a:t>
            </a:r>
          </a:p>
          <a:p>
            <a:pPr lvl="1"/>
            <a:r>
              <a:rPr lang="en-US" dirty="0"/>
              <a:t>Outperforms baseline (</a:t>
            </a:r>
            <a:r>
              <a:rPr lang="en-US" dirty="0" err="1"/>
              <a:t>ProteinMPNN</a:t>
            </a:r>
            <a:r>
              <a:rPr lang="en-US" dirty="0"/>
              <a:t> variants etc.) using these metrics</a:t>
            </a:r>
          </a:p>
          <a:p>
            <a:r>
              <a:rPr lang="en-US" dirty="0"/>
              <a:t>Automated and modular protein binder design with </a:t>
            </a:r>
            <a:r>
              <a:rPr lang="en-US" dirty="0" err="1"/>
              <a:t>BinderFlow</a:t>
            </a:r>
            <a:r>
              <a:rPr lang="en-US" dirty="0"/>
              <a:t> </a:t>
            </a:r>
            <a:r>
              <a:rPr lang="en-SG" i="1" dirty="0"/>
              <a:t>PLOS Computational Biology 2025 </a:t>
            </a:r>
          </a:p>
          <a:p>
            <a:r>
              <a:rPr lang="en-US" dirty="0"/>
              <a:t>Rapid and accurate prediction of protein homo-oligomer symmetry using Seq2Symm </a:t>
            </a:r>
            <a:r>
              <a:rPr lang="en-US" i="1" dirty="0"/>
              <a:t>Nature Communications </a:t>
            </a:r>
            <a:r>
              <a:rPr lang="en-US" dirty="0"/>
              <a:t>2025</a:t>
            </a:r>
          </a:p>
          <a:p>
            <a:r>
              <a:rPr lang="en-SG" dirty="0"/>
              <a:t>APM: An All-Atom Generative Model for Designing Protein Complexes </a:t>
            </a:r>
            <a:r>
              <a:rPr lang="en-SG" i="1" dirty="0"/>
              <a:t>ICML</a:t>
            </a:r>
            <a:r>
              <a:rPr lang="en-SG" dirty="0"/>
              <a:t> 2025</a:t>
            </a:r>
          </a:p>
          <a:p>
            <a:endParaRPr lang="en-US" b="1" dirty="0"/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99861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E266-A7F6-3A59-1B98-0570B8339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3906-FC5F-CEB3-AFBC-5F61F10A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It’s common for publications that are proposing new protein design methods to use AF confidence metrics, without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3704502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E35D-6035-87C4-CAC7-EBA2191F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DC5E-BCBF-75BB-47C9-2813AD8C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Literature review of AF confidence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551F-4AE5-2397-AD41-82362868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Literature Review focusing on experimental data similar to ours:</a:t>
            </a:r>
          </a:p>
          <a:p>
            <a:r>
              <a:rPr lang="en-SG" dirty="0"/>
              <a:t>Protein-peptide docking</a:t>
            </a:r>
          </a:p>
          <a:p>
            <a:r>
              <a:rPr lang="en-SG" dirty="0"/>
              <a:t>Peptide binders of small length (20)</a:t>
            </a:r>
          </a:p>
          <a:p>
            <a:r>
              <a:rPr lang="en-SG" dirty="0"/>
              <a:t>Targets similar to ours:</a:t>
            </a:r>
          </a:p>
          <a:p>
            <a:pPr lvl="1"/>
            <a:r>
              <a:rPr lang="en-SG" dirty="0"/>
              <a:t>CCR4</a:t>
            </a:r>
          </a:p>
          <a:p>
            <a:pPr lvl="1"/>
            <a:r>
              <a:rPr lang="en-SG" dirty="0"/>
              <a:t>CRTH2</a:t>
            </a:r>
          </a:p>
          <a:p>
            <a:pPr lvl="1"/>
            <a:r>
              <a:rPr lang="en-SG" dirty="0"/>
              <a:t>ICOS</a:t>
            </a:r>
          </a:p>
          <a:p>
            <a:pPr lvl="1"/>
            <a:r>
              <a:rPr lang="en-SG" dirty="0"/>
              <a:t>CD4</a:t>
            </a:r>
          </a:p>
          <a:p>
            <a:r>
              <a:rPr lang="en-SG" dirty="0"/>
              <a:t>Can the combination of </a:t>
            </a:r>
            <a:r>
              <a:rPr lang="en-SG" dirty="0" err="1"/>
              <a:t>pLDDT</a:t>
            </a:r>
            <a:r>
              <a:rPr lang="en-SG" dirty="0"/>
              <a:t> + </a:t>
            </a:r>
            <a:r>
              <a:rPr lang="en-SG" dirty="0" err="1"/>
              <a:t>ipTM</a:t>
            </a:r>
            <a:r>
              <a:rPr lang="en-SG" dirty="0"/>
              <a:t> predict experimental binding affinity?</a:t>
            </a:r>
          </a:p>
        </p:txBody>
      </p:sp>
    </p:spTree>
    <p:extLst>
      <p:ext uri="{BB962C8B-B14F-4D97-AF65-F5344CB8AC3E}">
        <p14:creationId xmlns:p14="http://schemas.microsoft.com/office/powerpoint/2010/main" val="205781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2B7D-1ED0-2C70-B19F-D4C3CFDC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EvoBind2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7C5A7-293E-5853-5423-5303C6417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EvoBind2 designs peptide binders for a target protein</a:t>
            </a:r>
          </a:p>
          <a:p>
            <a:r>
              <a:rPr lang="en-US" dirty="0"/>
              <a:t>Binders evaluated using </a:t>
            </a:r>
            <a:r>
              <a:rPr lang="en-US" dirty="0" err="1"/>
              <a:t>pLDDT</a:t>
            </a:r>
            <a:r>
              <a:rPr lang="en-US" dirty="0"/>
              <a:t> &amp; AlphaFold-Multimer (AFM) Loss</a:t>
            </a:r>
          </a:p>
          <a:p>
            <a:r>
              <a:rPr lang="en-US" dirty="0"/>
              <a:t>Experimentally validated their designed binders</a:t>
            </a:r>
          </a:p>
          <a:p>
            <a:r>
              <a:rPr lang="en-US" dirty="0"/>
              <a:t>Binder lengths were 8-20aa</a:t>
            </a:r>
          </a:p>
          <a:p>
            <a:r>
              <a:rPr lang="en-US" dirty="0" err="1"/>
              <a:t>pLDDT</a:t>
            </a:r>
            <a:r>
              <a:rPr lang="en-US" dirty="0"/>
              <a:t> is a good predictor of binding affinity</a:t>
            </a:r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B8D1F-67E9-CA14-2E47-9E5D443396F0}"/>
              </a:ext>
            </a:extLst>
          </p:cNvPr>
          <p:cNvSpPr txBox="1"/>
          <p:nvPr/>
        </p:nvSpPr>
        <p:spPr>
          <a:xfrm>
            <a:off x="483704" y="5877339"/>
            <a:ext cx="5369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Design of linear and cyclic peptide binders from protein sequence information </a:t>
            </a:r>
          </a:p>
          <a:p>
            <a:r>
              <a:rPr lang="en-US" sz="1200" i="1" dirty="0"/>
              <a:t>Nature</a:t>
            </a:r>
            <a:r>
              <a:rPr lang="en-US" sz="1200" dirty="0"/>
              <a:t> (July 2025)</a:t>
            </a:r>
          </a:p>
          <a:p>
            <a:r>
              <a:rPr lang="en-US" sz="1200" dirty="0"/>
              <a:t>https://www.nature.com/articles/s42004-025-01601-3</a:t>
            </a:r>
          </a:p>
          <a:p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621426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ECAC8-D213-32C7-9329-3ADF4567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EC81-2791-8652-25A6-61012E7B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EvoBind2 Results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DCEA376-BB47-8B5E-61A8-5439ED1BE3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8198" name="Picture 6" descr="figure 4">
            <a:extLst>
              <a:ext uri="{FF2B5EF4-FFF2-40B4-BE49-F238E27FC236}">
                <a16:creationId xmlns:a16="http://schemas.microsoft.com/office/drawing/2014/main" id="{6CF15502-D085-B5AD-E07E-6C37DE65E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470" y="695153"/>
            <a:ext cx="6476567" cy="5578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A152B-BF9D-7927-EFF2-663E8B35702C}"/>
              </a:ext>
            </a:extLst>
          </p:cNvPr>
          <p:cNvSpPr txBox="1"/>
          <p:nvPr/>
        </p:nvSpPr>
        <p:spPr>
          <a:xfrm>
            <a:off x="574963" y="1740935"/>
            <a:ext cx="40632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Spearman correlation:</a:t>
            </a:r>
          </a:p>
          <a:p>
            <a:pPr lvl="1"/>
            <a:r>
              <a:rPr lang="en-US" dirty="0"/>
              <a:t>Ranging from -1 to +1, it assesses how well the relationship between variables can be described using a monotonic function. Unlike Pearson’s correlation, it does not require linear relationships or normal distribution, making it robust to outliers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60849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DF27-C695-961B-47AC-BA76FD7A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998F-B2EA-2FCF-340F-BA7A0D15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EvoBind2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3CC1-D291-F60A-372B-F36BCC708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best indicator for affinity is the AFM loss, with a Spearman correlation of 0.96</a:t>
            </a:r>
          </a:p>
          <a:p>
            <a:r>
              <a:rPr lang="en-US" dirty="0"/>
              <a:t>Positive correlation (higher </a:t>
            </a:r>
            <a:r>
              <a:rPr lang="en-US" dirty="0" err="1"/>
              <a:t>plDDT</a:t>
            </a:r>
            <a:r>
              <a:rPr lang="en-US" dirty="0"/>
              <a:t>, higher affinity) with AFM </a:t>
            </a:r>
            <a:r>
              <a:rPr lang="en-US" dirty="0" err="1"/>
              <a:t>plDDT</a:t>
            </a:r>
            <a:r>
              <a:rPr lang="en-US" dirty="0"/>
              <a:t> (</a:t>
            </a:r>
            <a:r>
              <a:rPr lang="en-US" i="1" dirty="0"/>
              <a:t>R </a:t>
            </a:r>
            <a:r>
              <a:rPr lang="en-US" dirty="0"/>
              <a:t>= −0.54)</a:t>
            </a:r>
          </a:p>
          <a:p>
            <a:r>
              <a:rPr lang="en-US" dirty="0"/>
              <a:t>Lower correlation with PAE (R=</a:t>
            </a:r>
            <a:r>
              <a:rPr lang="en-SG" dirty="0"/>
              <a:t>0.51)</a:t>
            </a:r>
          </a:p>
          <a:p>
            <a:r>
              <a:rPr lang="en-SG" dirty="0"/>
              <a:t>Results show that </a:t>
            </a:r>
            <a:r>
              <a:rPr lang="en-SG" dirty="0" err="1"/>
              <a:t>pLDDT</a:t>
            </a:r>
            <a:r>
              <a:rPr lang="en-SG" dirty="0"/>
              <a:t> can be a good indicator of binding affinity for small-length peptide binders</a:t>
            </a:r>
          </a:p>
          <a:p>
            <a:r>
              <a:rPr lang="en-SG" dirty="0"/>
              <a:t>They did not use </a:t>
            </a:r>
            <a:r>
              <a:rPr lang="en-SG" dirty="0" err="1"/>
              <a:t>pTM</a:t>
            </a:r>
            <a:r>
              <a:rPr lang="en-SG" dirty="0"/>
              <a:t> or </a:t>
            </a:r>
            <a:r>
              <a:rPr lang="en-SG" dirty="0" err="1"/>
              <a:t>ipTM</a:t>
            </a:r>
            <a:endParaRPr lang="en-SG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E8494A0-4F9B-7470-19FF-000A52BC71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0008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CEBF-CBD6-ED69-6E71-CD615170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More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DF6E-F37D-23E7-D567-A53572341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PepMLM</a:t>
            </a:r>
            <a:r>
              <a:rPr lang="en-US" dirty="0"/>
              <a:t>: Target sequence-conditioned design of peptide binders using masked language modeling </a:t>
            </a:r>
            <a:r>
              <a:rPr lang="en-US" i="1" dirty="0"/>
              <a:t>Nature Biotechnology</a:t>
            </a:r>
            <a:r>
              <a:rPr lang="en-US" dirty="0"/>
              <a:t> (Aug 2025)</a:t>
            </a:r>
          </a:p>
          <a:p>
            <a:pPr lvl="1"/>
            <a:r>
              <a:rPr lang="en-US" dirty="0"/>
              <a:t>Used </a:t>
            </a:r>
            <a:r>
              <a:rPr lang="en-US" dirty="0" err="1"/>
              <a:t>pLDDT</a:t>
            </a:r>
            <a:r>
              <a:rPr lang="en-US" dirty="0"/>
              <a:t> &amp; </a:t>
            </a:r>
            <a:r>
              <a:rPr lang="en-US" dirty="0" err="1"/>
              <a:t>ipTM</a:t>
            </a:r>
            <a:endParaRPr lang="en-US" dirty="0"/>
          </a:p>
          <a:p>
            <a:pPr lvl="1"/>
            <a:r>
              <a:rPr lang="en-US" dirty="0"/>
              <a:t>In a peptide design benchmark, higher </a:t>
            </a:r>
            <a:r>
              <a:rPr lang="en-US" dirty="0" err="1"/>
              <a:t>ipTM</a:t>
            </a:r>
            <a:r>
              <a:rPr lang="en-US" dirty="0"/>
              <a:t> scores were used to identify successful binders, and designs with higher </a:t>
            </a:r>
            <a:r>
              <a:rPr lang="en-US" dirty="0" err="1"/>
              <a:t>ipTM</a:t>
            </a:r>
            <a:r>
              <a:rPr lang="en-US" dirty="0"/>
              <a:t> achieved higher hit rates</a:t>
            </a:r>
          </a:p>
          <a:p>
            <a:r>
              <a:rPr lang="en-US" dirty="0"/>
              <a:t>Protein structure prediction implicitly define binding energy functions </a:t>
            </a:r>
            <a:r>
              <a:rPr lang="en-SG" i="1" dirty="0"/>
              <a:t>ICLR 2025 </a:t>
            </a:r>
            <a:endParaRPr lang="en-US" i="1" dirty="0"/>
          </a:p>
          <a:p>
            <a:pPr lvl="1"/>
            <a:r>
              <a:rPr lang="en-US" dirty="0"/>
              <a:t>AlphaFold confidence metrics are predictive of biological interface quality and binding behavior</a:t>
            </a:r>
          </a:p>
          <a:p>
            <a:r>
              <a:rPr lang="en-US" dirty="0"/>
              <a:t>Evaluation of AlphaFold-Multimer prediction on multi-chain protein complexes </a:t>
            </a:r>
            <a:r>
              <a:rPr lang="en-US" i="1" dirty="0"/>
              <a:t>Bioinformatics </a:t>
            </a:r>
            <a:r>
              <a:rPr lang="en-US" dirty="0"/>
              <a:t>(July 2023)</a:t>
            </a:r>
          </a:p>
          <a:p>
            <a:pPr lvl="1"/>
            <a:r>
              <a:rPr lang="en-US" dirty="0"/>
              <a:t>large benchmark study on AlphaFold-Multimer shows that interface-focused confidence metrics can identify correct interfaces more reliably than global structural confidence alone</a:t>
            </a:r>
          </a:p>
          <a:p>
            <a:pPr lvl="1"/>
            <a:r>
              <a:rPr lang="en-US" dirty="0"/>
              <a:t>Suggests that a combination of </a:t>
            </a:r>
            <a:r>
              <a:rPr lang="en-US" dirty="0" err="1"/>
              <a:t>pLDDT</a:t>
            </a:r>
            <a:r>
              <a:rPr lang="en-US" dirty="0"/>
              <a:t> + </a:t>
            </a:r>
            <a:r>
              <a:rPr lang="en-US" dirty="0" err="1"/>
              <a:t>ipTM</a:t>
            </a:r>
            <a:r>
              <a:rPr lang="en-US" dirty="0"/>
              <a:t> would be good</a:t>
            </a:r>
          </a:p>
          <a:p>
            <a:r>
              <a:rPr lang="en-US" dirty="0"/>
              <a:t>AlphaFold-Multimer accurately captures interactions and dynamics of intrinsically disordered protein regions </a:t>
            </a:r>
            <a:r>
              <a:rPr lang="en-US" i="1" dirty="0"/>
              <a:t>PNAS (Oct 2024)</a:t>
            </a:r>
          </a:p>
          <a:p>
            <a:pPr lvl="1"/>
            <a:r>
              <a:rPr lang="en-US" dirty="0"/>
              <a:t>explicitly shows that AlphaFold-Multimer confidence scores (</a:t>
            </a:r>
            <a:r>
              <a:rPr lang="en-US" i="1" dirty="0" err="1"/>
              <a:t>ipTM</a:t>
            </a:r>
            <a:r>
              <a:rPr lang="en-US" dirty="0"/>
              <a:t>) correlate with </a:t>
            </a:r>
            <a:r>
              <a:rPr lang="en-SG" dirty="0"/>
              <a:t>true interaction quality</a:t>
            </a:r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5406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DCEE-DDEF-6162-D1E7-58BBBF01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More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F946-D6A3-41E1-277B-025E86F45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Improving de novo protein binder design with deep learning</a:t>
            </a:r>
            <a:br>
              <a:rPr lang="en-US" dirty="0"/>
            </a:br>
            <a:r>
              <a:rPr lang="en-US" i="1" dirty="0"/>
              <a:t>Nature Communications 2023</a:t>
            </a:r>
          </a:p>
          <a:p>
            <a:pPr lvl="1"/>
            <a:r>
              <a:rPr lang="en-US" dirty="0"/>
              <a:t>They report that using AlphaFold2 or </a:t>
            </a:r>
            <a:r>
              <a:rPr lang="en-US" dirty="0" err="1"/>
              <a:t>RoseTTAFold</a:t>
            </a:r>
            <a:r>
              <a:rPr lang="en-US" dirty="0"/>
              <a:t> to assess whether designs adopt the monomer fold and bind the target “increases design success rates nearly 10-fold” </a:t>
            </a:r>
          </a:p>
          <a:p>
            <a:r>
              <a:rPr lang="en-US" dirty="0"/>
              <a:t>AlphaFold-Multimer predicts cross-kingdom interactions at the plant-pathogen interface </a:t>
            </a:r>
            <a:r>
              <a:rPr lang="en-US" i="1" dirty="0"/>
              <a:t>Nature Communications </a:t>
            </a:r>
            <a:r>
              <a:rPr lang="en-US" dirty="0"/>
              <a:t>2023</a:t>
            </a:r>
          </a:p>
          <a:p>
            <a:pPr lvl="1"/>
            <a:r>
              <a:rPr lang="en-US" dirty="0"/>
              <a:t>Uses </a:t>
            </a:r>
            <a:r>
              <a:rPr lang="en-US" dirty="0" err="1"/>
              <a:t>ipTM+pTM</a:t>
            </a:r>
            <a:r>
              <a:rPr lang="en-US" dirty="0"/>
              <a:t> thresholds and </a:t>
            </a:r>
            <a:r>
              <a:rPr lang="en-US" dirty="0" err="1"/>
              <a:t>pLDDT</a:t>
            </a:r>
            <a:r>
              <a:rPr lang="en-US" dirty="0"/>
              <a:t> patterns to screen predicted complexes, and then confirms several predicted inhibitors experimentally</a:t>
            </a:r>
          </a:p>
          <a:p>
            <a:endParaRPr lang="en-US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5543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5BB6-0F67-1DCB-DFE8-DAD25DA8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AA44A-BC96-C4CA-06D2-DCD10D8F5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Many publications show that AF confidence metrics can be good predictors of a experimentally validated good binders</a:t>
            </a:r>
          </a:p>
        </p:txBody>
      </p:sp>
    </p:spTree>
    <p:extLst>
      <p:ext uri="{BB962C8B-B14F-4D97-AF65-F5344CB8AC3E}">
        <p14:creationId xmlns:p14="http://schemas.microsoft.com/office/powerpoint/2010/main" val="2844846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7A57-A775-1A3D-8693-9214B723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Adaptyv’s</a:t>
            </a:r>
            <a:r>
              <a:rPr lang="en-SG" dirty="0"/>
              <a:t> Protein Design Competition</a:t>
            </a:r>
            <a:br>
              <a:rPr lang="en-SG" b="1" dirty="0"/>
            </a:br>
            <a:r>
              <a:rPr lang="en-SG" dirty="0"/>
              <a:t> (Dec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FAC7-24CD-068A-BEDB-4EF64702D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Adaptyv</a:t>
            </a:r>
            <a:r>
              <a:rPr lang="en-SG" dirty="0"/>
              <a:t> is a Swiss protein engineering cloud lab @ the University of Lausanne</a:t>
            </a:r>
          </a:p>
          <a:p>
            <a:r>
              <a:rPr lang="en-SG" dirty="0"/>
              <a:t>They held a Protein Design </a:t>
            </a:r>
            <a:r>
              <a:rPr lang="en-SG" dirty="0" err="1"/>
              <a:t>Comptetition</a:t>
            </a:r>
            <a:r>
              <a:rPr lang="en-SG" dirty="0"/>
              <a:t> where </a:t>
            </a:r>
            <a:r>
              <a:rPr lang="en-US" dirty="0"/>
              <a:t>130 designers created de novo in silico binders for EGFR</a:t>
            </a:r>
          </a:p>
          <a:p>
            <a:pPr marL="0" indent="0">
              <a:buNone/>
            </a:pPr>
            <a:r>
              <a:rPr lang="en-SG" dirty="0"/>
              <a:t>https://www.adaptyvbio.com/blog/po104</a:t>
            </a:r>
          </a:p>
        </p:txBody>
      </p:sp>
    </p:spTree>
    <p:extLst>
      <p:ext uri="{BB962C8B-B14F-4D97-AF65-F5344CB8AC3E}">
        <p14:creationId xmlns:p14="http://schemas.microsoft.com/office/powerpoint/2010/main" val="2945511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2849E-01C6-55D2-9E77-63C5CC20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FEC6-D9CA-3202-B4C6-73F095BB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Adaptyv’s</a:t>
            </a:r>
            <a:r>
              <a:rPr lang="en-SG" dirty="0"/>
              <a:t> Protein Design Competition</a:t>
            </a:r>
            <a:br>
              <a:rPr lang="en-SG" b="1" dirty="0"/>
            </a:br>
            <a:r>
              <a:rPr lang="en-SG" dirty="0"/>
              <a:t> (Dec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E0380-36D8-050A-7601-1FFC12153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They tasked designers to create new protein binders for EGFR, an important binding target for therapeutic proteins.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They then ranked them based on a weighted score of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AlphaFold2’s </a:t>
            </a:r>
            <a:r>
              <a:rPr lang="en-US" dirty="0" err="1"/>
              <a:t>ipTM</a:t>
            </a:r>
            <a:r>
              <a:rPr lang="en-US" dirty="0"/>
              <a:t> and </a:t>
            </a:r>
            <a:r>
              <a:rPr lang="en-US" dirty="0" err="1"/>
              <a:t>iPAE</a:t>
            </a:r>
            <a:r>
              <a:rPr lang="en-US" dirty="0"/>
              <a:t> (</a:t>
            </a:r>
            <a:r>
              <a:rPr lang="en-US" dirty="0" err="1"/>
              <a:t>pae</a:t>
            </a:r>
            <a:r>
              <a:rPr lang="en-US" dirty="0"/>
              <a:t> but only for inter-chain pairs) metrics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ESM2 pseudolikelihood (ESM2 PLL), a measure of how “natural” a sequence looks like given ESM2 learned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these, they chose 400 sequences to be tested experimentally in their lab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top 100 as determined by the rankings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SG" dirty="0"/>
              <a:t>Another 300 handpicked by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15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A82B-F63D-A351-A55B-8E5C0930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B81B-923D-1DDC-36C5-543A5802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Adaptyv’s</a:t>
            </a:r>
            <a:r>
              <a:rPr lang="en-SG" dirty="0"/>
              <a:t> Protein Design Competition</a:t>
            </a:r>
            <a:br>
              <a:rPr lang="en-SG" b="1" dirty="0"/>
            </a:br>
            <a:r>
              <a:rPr lang="en-SG" dirty="0"/>
              <a:t>Results (Dec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21F0D-551F-1F90-8D1E-D916F655D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400 tested proteins, 378 expressed successfully (95%) and 53 of these bound to their target EGFR (14% success rate). </a:t>
            </a:r>
          </a:p>
          <a:p>
            <a:r>
              <a:rPr lang="en-US" dirty="0"/>
              <a:t>This represents a 5x improvement in binding success compared to just three months ago. </a:t>
            </a:r>
          </a:p>
          <a:p>
            <a:r>
              <a:rPr lang="en-US" dirty="0"/>
              <a:t>The best designs even matched or exceeded the performance of Merck's Cetuximab, a clinically approved therapeutic antibody</a:t>
            </a:r>
          </a:p>
        </p:txBody>
      </p:sp>
    </p:spTree>
    <p:extLst>
      <p:ext uri="{BB962C8B-B14F-4D97-AF65-F5344CB8AC3E}">
        <p14:creationId xmlns:p14="http://schemas.microsoft.com/office/powerpoint/2010/main" val="3080280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43CF-A65D-F32D-84D5-DD3D08FBE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D4A9-5EE0-ECDC-0C30-1F9E0204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Adaptyv’s</a:t>
            </a:r>
            <a:r>
              <a:rPr lang="en-SG" dirty="0"/>
              <a:t> Protein Design Competition</a:t>
            </a:r>
            <a:br>
              <a:rPr lang="en-SG" b="1" dirty="0"/>
            </a:br>
            <a:r>
              <a:rPr lang="en-SG" dirty="0"/>
              <a:t>Results (Dec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1DD1-C4D6-FE0A-E767-81F5486B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3 spots were dominated by redesigned binders, from known antibody therapeutics, to nanobodies and binders from nature</a:t>
            </a:r>
          </a:p>
          <a:p>
            <a:r>
              <a:rPr lang="en-US" dirty="0"/>
              <a:t>Suggesting mutational strategies beat out de novo ones</a:t>
            </a:r>
          </a:p>
        </p:txBody>
      </p:sp>
    </p:spTree>
    <p:extLst>
      <p:ext uri="{BB962C8B-B14F-4D97-AF65-F5344CB8AC3E}">
        <p14:creationId xmlns:p14="http://schemas.microsoft.com/office/powerpoint/2010/main" val="4279327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53BB-38A8-8C72-F8F3-E46919BD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C741-F81B-464F-8095-C8505E98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Adaptyv’s</a:t>
            </a:r>
            <a:r>
              <a:rPr lang="en-SG" dirty="0"/>
              <a:t> Protein Design Competition</a:t>
            </a:r>
            <a:br>
              <a:rPr lang="en-SG" b="1" dirty="0"/>
            </a:br>
            <a:r>
              <a:rPr lang="en-SG" dirty="0"/>
              <a:t>Results (Dec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3ECB8-7387-E574-7097-E343FD0B8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They also wanted to see whether the new metrics had an impact on the number of resulting binders</a:t>
            </a:r>
          </a:p>
          <a:p>
            <a:r>
              <a:rPr lang="en-US" dirty="0"/>
              <a:t>Keeping in mind that they only had 1 target protein:</a:t>
            </a:r>
          </a:p>
          <a:p>
            <a:r>
              <a:rPr lang="en-US" dirty="0"/>
              <a:t>“The causal relationship is still blurry. Did any of these metrics (</a:t>
            </a:r>
            <a:r>
              <a:rPr lang="en-US" dirty="0" err="1"/>
              <a:t>ipTM</a:t>
            </a:r>
            <a:r>
              <a:rPr lang="en-US" dirty="0"/>
              <a:t>, </a:t>
            </a:r>
            <a:r>
              <a:rPr lang="en-US" dirty="0" err="1"/>
              <a:t>iPAE</a:t>
            </a:r>
            <a:r>
              <a:rPr lang="en-US" dirty="0"/>
              <a:t>, ESM2 PLL) play a actual role in predicting binders?”</a:t>
            </a:r>
          </a:p>
          <a:p>
            <a:r>
              <a:rPr lang="en-US" dirty="0"/>
              <a:t>“But, we can highlight our main conclusion: landing in the top 100 w.r.t </a:t>
            </a:r>
            <a:r>
              <a:rPr lang="en-US" i="1" dirty="0"/>
              <a:t>in silico</a:t>
            </a:r>
            <a:r>
              <a:rPr lang="en-US" dirty="0"/>
              <a:t> metrics played no detectable role in increasing the binding affinity.”</a:t>
            </a:r>
          </a:p>
          <a:p>
            <a:r>
              <a:rPr lang="en-US" dirty="0"/>
              <a:t>Both in this competition and across the field, we still struggle to predict binding success through computational metrics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18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3C86-DD0D-8D5D-C56D-AD8014CD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7FFC-64AF-7B86-4A40-F43500A4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 err="1"/>
              <a:t>Adaptyv’s</a:t>
            </a:r>
            <a:r>
              <a:rPr lang="en-SG" dirty="0"/>
              <a:t> </a:t>
            </a:r>
            <a:r>
              <a:rPr lang="en-SG" b="1" dirty="0"/>
              <a:t>Nipah Protein Design Competition </a:t>
            </a:r>
            <a:br>
              <a:rPr lang="en-SG" b="1" dirty="0"/>
            </a:br>
            <a:r>
              <a:rPr lang="en-SG" dirty="0"/>
              <a:t>(Dec 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2EFE-79C6-5D6B-9AFA-F18014A05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They’re currently testing all 1200 selected designs</a:t>
            </a:r>
          </a:p>
          <a:p>
            <a:r>
              <a:rPr lang="en-US" dirty="0"/>
              <a:t>Boltz-2 </a:t>
            </a:r>
            <a:r>
              <a:rPr lang="en-US" dirty="0" err="1"/>
              <a:t>ipSAE</a:t>
            </a:r>
            <a:r>
              <a:rPr lang="en-US" dirty="0"/>
              <a:t> score for filtering</a:t>
            </a:r>
          </a:p>
          <a:p>
            <a:r>
              <a:rPr lang="en-US" dirty="0"/>
              <a:t>Many participants evaluated their designs locally prior to submission and encountered reproducibility issues of the </a:t>
            </a:r>
            <a:r>
              <a:rPr lang="en-US" dirty="0" err="1"/>
              <a:t>ipSAE</a:t>
            </a:r>
            <a:r>
              <a:rPr lang="en-US" dirty="0"/>
              <a:t> score</a:t>
            </a:r>
          </a:p>
          <a:p>
            <a:pPr lvl="1"/>
            <a:r>
              <a:rPr lang="en-US" dirty="0"/>
              <a:t>Model can yield slightly different results depending on hardware configuration and random seeds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292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D371-8797-2B13-1CBB-CF83E870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1E99-853A-A7D0-5724-1775521B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 err="1"/>
              <a:t>Adaptyv’s</a:t>
            </a:r>
            <a:r>
              <a:rPr lang="en-SG" dirty="0"/>
              <a:t> </a:t>
            </a:r>
            <a:r>
              <a:rPr lang="en-SG" b="1" dirty="0"/>
              <a:t>Nipah Protein Design Competition </a:t>
            </a:r>
            <a:br>
              <a:rPr lang="en-SG" b="1" dirty="0"/>
            </a:br>
            <a:r>
              <a:rPr lang="en-SG" dirty="0"/>
              <a:t>(Dec 2025)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EAC8A8-62F6-F8C1-4BA0-C94A80CFD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F733F09-F68C-7451-6280-850989555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33" y="1583409"/>
            <a:ext cx="7334250" cy="483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283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2677</Words>
  <Application>Microsoft Office PowerPoint</Application>
  <PresentationFormat>Widescreen</PresentationFormat>
  <Paragraphs>277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AlphaFold Confidence Metrics</vt:lpstr>
      <vt:lpstr>AlphaFold Confidence Metrics Overview</vt:lpstr>
      <vt:lpstr>Predicted local distance difference test pLDDT</vt:lpstr>
      <vt:lpstr>lDDT-Cα</vt:lpstr>
      <vt:lpstr>pLDDT</vt:lpstr>
      <vt:lpstr>pLDDT</vt:lpstr>
      <vt:lpstr>Predicted aligned error pae</vt:lpstr>
      <vt:lpstr>Predicted aligned error pae</vt:lpstr>
      <vt:lpstr>Predicted aligned error pae</vt:lpstr>
      <vt:lpstr>Predicted aligned error pae How it is trained </vt:lpstr>
      <vt:lpstr>Predicted aligned error pae Why it works </vt:lpstr>
      <vt:lpstr>Predicted aligned error pae</vt:lpstr>
      <vt:lpstr>AlphaFold-Multimer</vt:lpstr>
      <vt:lpstr>Template Modelling score</vt:lpstr>
      <vt:lpstr>Predicted TM score pTM</vt:lpstr>
      <vt:lpstr>Predicted TM score pTM</vt:lpstr>
      <vt:lpstr>Interface predicted TM score ipTM</vt:lpstr>
      <vt:lpstr>pTM vs ipTM</vt:lpstr>
      <vt:lpstr>Confidence metrics in practice</vt:lpstr>
      <vt:lpstr>Confidence metrics in practice</vt:lpstr>
      <vt:lpstr>Possible Limitations</vt:lpstr>
      <vt:lpstr>Literature review of New Protein Design Methods</vt:lpstr>
      <vt:lpstr>PepPrCLIP  Science Advances 2025</vt:lpstr>
      <vt:lpstr>BindCraft  Nature 2025</vt:lpstr>
      <vt:lpstr>PepMLM</vt:lpstr>
      <vt:lpstr>AlphaDesign Molecular Systems Biology 2025 </vt:lpstr>
      <vt:lpstr>More papers that were published despite no experimental binding affinity validation</vt:lpstr>
      <vt:lpstr>Conclusion</vt:lpstr>
      <vt:lpstr>Literature review of AF confidence metrics</vt:lpstr>
      <vt:lpstr>EvoBind2</vt:lpstr>
      <vt:lpstr>EvoBind2 Results</vt:lpstr>
      <vt:lpstr>EvoBind2 Results</vt:lpstr>
      <vt:lpstr>More papers</vt:lpstr>
      <vt:lpstr>More Papers</vt:lpstr>
      <vt:lpstr>Conclusion</vt:lpstr>
      <vt:lpstr>Adaptyv’s Protein Design Competition  (Dec 2024)</vt:lpstr>
      <vt:lpstr>Adaptyv’s Protein Design Competition  (Dec 2024)</vt:lpstr>
      <vt:lpstr>Adaptyv’s Protein Design Competition Results (Dec 2024)</vt:lpstr>
      <vt:lpstr>Adaptyv’s Protein Design Competition Results (Dec 2024)</vt:lpstr>
      <vt:lpstr>Adaptyv’s Protein Design Competition Results (Dec 2024)</vt:lpstr>
      <vt:lpstr>Adaptyv’s Nipah Protein Design Competition  (Dec 2025)</vt:lpstr>
      <vt:lpstr>Adaptyv’s Nipah Protein Design Competition  (Dec 2025)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Kayler Tee</dc:creator>
  <cp:lastModifiedBy>Kayler Tee</cp:lastModifiedBy>
  <cp:revision>26</cp:revision>
  <dcterms:created xsi:type="dcterms:W3CDTF">2026-02-10T08:15:42Z</dcterms:created>
  <dcterms:modified xsi:type="dcterms:W3CDTF">2026-02-10T17:46:50Z</dcterms:modified>
</cp:coreProperties>
</file>