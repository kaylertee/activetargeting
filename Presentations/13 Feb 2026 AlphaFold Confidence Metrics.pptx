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71" r:id="rId3"/>
    <p:sldId id="257" r:id="rId4"/>
    <p:sldId id="258" r:id="rId5"/>
    <p:sldId id="259" r:id="rId6"/>
    <p:sldId id="260" r:id="rId7"/>
    <p:sldId id="261" r:id="rId8"/>
    <p:sldId id="263" r:id="rId9"/>
    <p:sldId id="264" r:id="rId10"/>
    <p:sldId id="265" r:id="rId11"/>
    <p:sldId id="266" r:id="rId12"/>
    <p:sldId id="262" r:id="rId13"/>
    <p:sldId id="268" r:id="rId14"/>
    <p:sldId id="269" r:id="rId15"/>
    <p:sldId id="270" r:id="rId16"/>
    <p:sldId id="272" r:id="rId17"/>
    <p:sldId id="273" r:id="rId18"/>
    <p:sldId id="275" r:id="rId19"/>
    <p:sldId id="274" r:id="rId20"/>
    <p:sldId id="276" r:id="rId21"/>
    <p:sldId id="277" r:id="rId22"/>
    <p:sldId id="293" r:id="rId23"/>
    <p:sldId id="296" r:id="rId24"/>
    <p:sldId id="297" r:id="rId25"/>
    <p:sldId id="299" r:id="rId26"/>
    <p:sldId id="300" r:id="rId27"/>
    <p:sldId id="301" r:id="rId28"/>
    <p:sldId id="295" r:id="rId29"/>
    <p:sldId id="290" r:id="rId30"/>
    <p:sldId id="291" r:id="rId31"/>
    <p:sldId id="292" r:id="rId32"/>
    <p:sldId id="294" r:id="rId33"/>
    <p:sldId id="298" r:id="rId34"/>
    <p:sldId id="302" r:id="rId35"/>
    <p:sldId id="278" r:id="rId36"/>
    <p:sldId id="279" r:id="rId37"/>
    <p:sldId id="280" r:id="rId38"/>
    <p:sldId id="284" r:id="rId39"/>
    <p:sldId id="285" r:id="rId40"/>
    <p:sldId id="286" r:id="rId41"/>
    <p:sldId id="287" r:id="rId42"/>
    <p:sldId id="289" r:id="rId4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44" d="100"/>
          <a:sy n="144" d="100"/>
        </p:scale>
        <p:origin x="198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3F3919-C153-6641-29F8-C287A34E691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DE27E74-7887-8377-DA0B-DD3FB32EBD4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83C6B8-A31A-F339-E2B5-E17E646A6E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99D3E2-A5E8-46DE-8116-4E913F8BDFEF}" type="datetimeFigureOut">
              <a:rPr lang="en-SG" smtClean="0"/>
              <a:t>10 Feb 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ED64AC-C94B-1D07-63DD-E9F182CD36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CBA425-A4D8-C317-5EC0-70F4E67321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4293B5-472E-4BA4-8B5C-BADAB21C7922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971487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B1645E-F746-2CF8-71E9-FF86601DBE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665015-FDD8-47B7-BE98-66EEF58020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0C0143-B6C3-2CF1-B8D0-17900BC443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99D3E2-A5E8-46DE-8116-4E913F8BDFEF}" type="datetimeFigureOut">
              <a:rPr lang="en-SG" smtClean="0"/>
              <a:t>10 Feb 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481F38-A710-58BE-0751-641137E05A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2415E4-6286-997D-E97B-14DFBC3C48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4293B5-472E-4BA4-8B5C-BADAB21C7922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1011044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B7639E-EEE1-B8ED-7607-7EE1FA0A8C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609C1B-CD71-F357-CAD7-DD8F5BBEA7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E3CDB9-C041-65EB-727B-9914BE41E7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99D3E2-A5E8-46DE-8116-4E913F8BDFEF}" type="datetimeFigureOut">
              <a:rPr lang="en-SG" smtClean="0"/>
              <a:t>10 Feb 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8D852E-ABB6-F85D-AB50-D166F77B81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B001D4-B828-0429-3CA5-5E9BC6A7A8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4293B5-472E-4BA4-8B5C-BADAB21C7922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9221205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E13573-07BF-166B-04B9-92FD1786C7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46CCB5-753A-35B3-DCE4-A785B05ECA8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5F27998-109D-A7CD-5D62-8D2AF0B90C5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3BC4B18-B317-D1A8-B077-B1A17993C4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99D3E2-A5E8-46DE-8116-4E913F8BDFEF}" type="datetimeFigureOut">
              <a:rPr lang="en-SG" smtClean="0"/>
              <a:t>10 Feb 2026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BDEF4B-DD82-18D1-109B-89C89F7056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24D737A-2CB9-F248-8D52-7B21FB6E30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4293B5-472E-4BA4-8B5C-BADAB21C7922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2909222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B34D1B-0357-7103-95DC-4DD80C6A81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0E68E1-2C3E-DD5D-51B8-27F3F059BC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3F2107-1FAA-17A4-44DA-FC56E3B70BA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839A7B5-324B-0DFA-5A20-EA7BD54B79C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7F49AFF-21B1-554C-3EB7-12DBE1C91A4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7347C49-0277-953F-1EA6-68AC50589D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99D3E2-A5E8-46DE-8116-4E913F8BDFEF}" type="datetimeFigureOut">
              <a:rPr lang="en-SG" smtClean="0"/>
              <a:t>10 Feb 2026</a:t>
            </a:fld>
            <a:endParaRPr lang="en-SG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A360A62-17ED-F9F4-10EB-0F314EEBE5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52AF9A0-5666-ED90-FD8D-28E5A39496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4293B5-472E-4BA4-8B5C-BADAB21C7922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5826585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41ACFD-0237-1B20-C5F2-9A9AD2B37D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3D9E825-9506-1DA3-9859-9173D75325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99D3E2-A5E8-46DE-8116-4E913F8BDFEF}" type="datetimeFigureOut">
              <a:rPr lang="en-SG" smtClean="0"/>
              <a:t>10 Feb 2026</a:t>
            </a:fld>
            <a:endParaRPr lang="en-SG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5533298-717F-77FF-D03D-7EDE422F9A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9452A1F-4799-721B-E19B-E2C3C75B55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4293B5-472E-4BA4-8B5C-BADAB21C7922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8136309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41053F3-E303-80B9-5D18-6E882ED1D1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99D3E2-A5E8-46DE-8116-4E913F8BDFEF}" type="datetimeFigureOut">
              <a:rPr lang="en-SG" smtClean="0"/>
              <a:t>10 Feb 2026</a:t>
            </a:fld>
            <a:endParaRPr lang="en-SG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47DA1A2-B44C-0C23-20CB-616C6E87F4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FC8943-19A5-3BA0-213A-17A41D8F7A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4293B5-472E-4BA4-8B5C-BADAB21C7922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6343298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3C6B63-F053-1C2D-2E5E-6880383875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D7D0A3-90D8-8FAA-346A-B92FA21925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2CE1BD3-DE5C-8DE1-F54D-137098CF80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37FC3F1-E815-CEB3-C608-A4C27BD388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99D3E2-A5E8-46DE-8116-4E913F8BDFEF}" type="datetimeFigureOut">
              <a:rPr lang="en-SG" smtClean="0"/>
              <a:t>10 Feb 2026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2F6377D-9447-9E59-F974-2557D64EDA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B2C2C9D-059C-3AA5-46BB-E707BEFD3E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4293B5-472E-4BA4-8B5C-BADAB21C7922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9149862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BDA5B0-6BAB-4C70-6A06-BF1657AA14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AE4C85A-09CC-D500-4640-62797F75192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S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2AD4955-A511-FC26-C1EE-113AA974C9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CDF0892-5B27-17B7-25BA-7908769F16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99D3E2-A5E8-46DE-8116-4E913F8BDFEF}" type="datetimeFigureOut">
              <a:rPr lang="en-SG" smtClean="0"/>
              <a:t>10 Feb 2026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D4E38B6-CE31-EAF9-BC7A-19A18BCD8C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FC8ED7-9515-9F8C-3292-F87A13149A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4293B5-472E-4BA4-8B5C-BADAB21C7922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5284658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BF1673-9541-9ED9-7D7F-FF47280FD0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942D0FA-0945-BAA6-F066-75D9EAC0836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F013D8-2658-EE20-C77E-77EA481F59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99D3E2-A5E8-46DE-8116-4E913F8BDFEF}" type="datetimeFigureOut">
              <a:rPr lang="en-SG" smtClean="0"/>
              <a:t>10 Feb 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03732E-C955-6C8C-E2B9-61D47A1135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EA3181-5804-CA8F-CFBB-4232DA2817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4293B5-472E-4BA4-8B5C-BADAB21C7922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3071273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C167681-DF6F-C542-795E-3C87B458AA1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6A4F527-9247-250B-6617-92A220052A7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B31F2A-26B7-3E5A-85C7-D710334D51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99D3E2-A5E8-46DE-8116-4E913F8BDFEF}" type="datetimeFigureOut">
              <a:rPr lang="en-SG" smtClean="0"/>
              <a:t>10 Feb 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4A8022-64C1-028D-E218-08B87EC5C1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89A196-F7D8-CB59-A26E-2B14F0FF74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4293B5-472E-4BA4-8B5C-BADAB21C7922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4484448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67EE887-B0B6-27A3-0A9F-EF666FF006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BC100FA-F826-199D-6B5C-B98769C91A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5E5D40-16EE-739F-DA3B-938C95B3968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199D3E2-A5E8-46DE-8116-4E913F8BDFEF}" type="datetimeFigureOut">
              <a:rPr lang="en-SG" smtClean="0"/>
              <a:t>10 Feb 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E43AE5-4018-D266-5713-B69930F8F1C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81BECBE-0BDE-6907-012B-E57805CBEA3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B4293B5-472E-4BA4-8B5C-BADAB21C7922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1118618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academic.oup.com/bioinformatics/article/29/21/2722/195896?login=true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B8C6D7-4DA8-BB14-86E2-E6F0F54BF30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SG" dirty="0"/>
              <a:t>AlphaFold Confidence Metrics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244A28D-4385-839A-32AB-DA99A458BBA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SG" dirty="0"/>
              <a:t>Can they accurately predict good binders?</a:t>
            </a:r>
          </a:p>
        </p:txBody>
      </p:sp>
    </p:spTree>
    <p:extLst>
      <p:ext uri="{BB962C8B-B14F-4D97-AF65-F5344CB8AC3E}">
        <p14:creationId xmlns:p14="http://schemas.microsoft.com/office/powerpoint/2010/main" val="3011124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99B063-BF67-B4E8-BBCD-859ADA55A4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dirty="0"/>
              <a:t>AlphaFold Confidence Metrics</a:t>
            </a:r>
            <a:br>
              <a:rPr lang="en-SG" dirty="0"/>
            </a:br>
            <a:r>
              <a:rPr lang="en-SG" dirty="0"/>
              <a:t>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7D8CD4-6351-281C-8939-16D769FF47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SG" dirty="0"/>
              <a:t>AlphaFold2 confidence metrics:</a:t>
            </a:r>
          </a:p>
          <a:p>
            <a:pPr lvl="1"/>
            <a:r>
              <a:rPr lang="en-US" dirty="0" err="1"/>
              <a:t>pLDDT</a:t>
            </a:r>
            <a:r>
              <a:rPr lang="en-US" dirty="0"/>
              <a:t> : Local confidence for a residue’s geometry</a:t>
            </a:r>
          </a:p>
          <a:p>
            <a:pPr lvl="1"/>
            <a:r>
              <a:rPr lang="en-US" dirty="0"/>
              <a:t>PAE : Confidence in relative positioning between two residues</a:t>
            </a:r>
            <a:endParaRPr lang="en-SG" dirty="0"/>
          </a:p>
          <a:p>
            <a:r>
              <a:rPr lang="en-SG" dirty="0"/>
              <a:t>AlphaFold-Multimer</a:t>
            </a:r>
          </a:p>
          <a:p>
            <a:pPr lvl="1"/>
            <a:r>
              <a:rPr lang="en-SG" dirty="0" err="1"/>
              <a:t>pTM</a:t>
            </a:r>
            <a:r>
              <a:rPr lang="en-SG" dirty="0"/>
              <a:t>: </a:t>
            </a:r>
            <a:r>
              <a:rPr lang="en-US" dirty="0"/>
              <a:t>Confidence for overall structure of the complex</a:t>
            </a:r>
          </a:p>
          <a:p>
            <a:pPr lvl="1"/>
            <a:r>
              <a:rPr lang="en-US" dirty="0" err="1"/>
              <a:t>ipTM</a:t>
            </a:r>
            <a:r>
              <a:rPr lang="en-US" dirty="0"/>
              <a:t>: Confidence for how correctly two chains are positioned relative to each other</a:t>
            </a:r>
          </a:p>
          <a:p>
            <a:r>
              <a:rPr lang="en-US" dirty="0"/>
              <a:t>For binder design, </a:t>
            </a:r>
            <a:r>
              <a:rPr lang="en-US" dirty="0" err="1"/>
              <a:t>ipTM</a:t>
            </a:r>
            <a:r>
              <a:rPr lang="en-US" dirty="0"/>
              <a:t> is the primary metric</a:t>
            </a: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176092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A94398-ED74-43BD-BCF0-0CC6217EFE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Predicted local distance difference test</a:t>
            </a:r>
            <a:br>
              <a:rPr lang="en-US" dirty="0"/>
            </a:br>
            <a:r>
              <a:rPr lang="en-SG" dirty="0" err="1"/>
              <a:t>pLDDT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12118E-F1E4-2BCE-9681-CB9C804784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per-residue measure of local confidence (Higher is better)</a:t>
            </a:r>
          </a:p>
          <a:p>
            <a:r>
              <a:rPr lang="en-US" dirty="0"/>
              <a:t>Estimates how well the prediction would agree with an experimental structure</a:t>
            </a:r>
          </a:p>
          <a:p>
            <a:r>
              <a:rPr lang="en-US" dirty="0"/>
              <a:t>Based on the local distance difference test Cα (</a:t>
            </a:r>
            <a:r>
              <a:rPr lang="en-US" dirty="0" err="1">
                <a:hlinkClick r:id="rId2"/>
              </a:rPr>
              <a:t>lDDT</a:t>
            </a:r>
            <a:r>
              <a:rPr lang="en-US" dirty="0">
                <a:hlinkClick r:id="rId2"/>
              </a:rPr>
              <a:t>-Cα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Measures how close a predicted protein structure is to the experimentally determined one (reference structure)</a:t>
            </a:r>
          </a:p>
        </p:txBody>
      </p:sp>
    </p:spTree>
    <p:extLst>
      <p:ext uri="{BB962C8B-B14F-4D97-AF65-F5344CB8AC3E}">
        <p14:creationId xmlns:p14="http://schemas.microsoft.com/office/powerpoint/2010/main" val="41233845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53DF38-6C62-3656-9BEE-243C6D8A73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B401A4-90AF-0B7A-60BC-A69DD20EC8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lDDT</a:t>
            </a:r>
            <a:r>
              <a:rPr lang="en-US" dirty="0"/>
              <a:t>-C</a:t>
            </a:r>
            <a:r>
              <a:rPr lang="el-GR" dirty="0"/>
              <a:t>α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319342-9E1D-66E3-2C20-ED65085137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92086"/>
            <a:ext cx="10515600" cy="5400261"/>
          </a:xfrm>
        </p:spPr>
        <p:txBody>
          <a:bodyPr>
            <a:normAutofit fontScale="70000" lnSpcReduction="20000"/>
          </a:bodyPr>
          <a:lstStyle/>
          <a:p>
            <a:r>
              <a:rPr lang="en-US" dirty="0"/>
              <a:t>Takes each Cα (alpha carbon: first carbon atom attached to a functional group) atom in the reference structure: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Look at all other Cα atoms that are within a cutoff radius in the reference.</a:t>
            </a:r>
            <a:br>
              <a:rPr lang="en-US" dirty="0"/>
            </a:br>
            <a:r>
              <a:rPr lang="en-US" dirty="0"/>
              <a:t>Typically this cutoff is around 15 Å.</a:t>
            </a:r>
            <a:br>
              <a:rPr lang="en-US" dirty="0"/>
            </a:br>
            <a:r>
              <a:rPr lang="en-US" dirty="0"/>
              <a:t>These are the “neighbors” for that residue.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For each of those neighboring pairs, compare the distance: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Distance in the reference structure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Distance in the predicted structure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Compute the absolute difference between those two distances.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Check whether that difference is smaller than a set of tolerance thresholds, usually: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0.5 Å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1 Å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2 Å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/>
              <a:t>4 Å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For each threshold, Count how many pairs pass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Average across thresholds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Average across residues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That final average is the </a:t>
            </a:r>
            <a:r>
              <a:rPr lang="en-US" dirty="0" err="1"/>
              <a:t>lDDT</a:t>
            </a:r>
            <a:r>
              <a:rPr lang="en-US" dirty="0"/>
              <a:t>-Cα score</a:t>
            </a:r>
          </a:p>
          <a:p>
            <a:endParaRPr lang="en-US" dirty="0"/>
          </a:p>
          <a:p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5575841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B212DF-1D5D-E8BC-7B9A-2E5E58E1DC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dirty="0" err="1"/>
              <a:t>pLDDT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B016EF-CBD9-9744-446D-7F641982EB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lDDT</a:t>
            </a:r>
            <a:r>
              <a:rPr lang="en-US" dirty="0"/>
              <a:t>-C</a:t>
            </a:r>
            <a:r>
              <a:rPr lang="el-GR" dirty="0"/>
              <a:t>α</a:t>
            </a:r>
            <a:r>
              <a:rPr lang="en-SG" dirty="0"/>
              <a:t> requires a reference structure (ground truth) to compare a predicted structure to</a:t>
            </a:r>
          </a:p>
          <a:p>
            <a:r>
              <a:rPr lang="en-US" dirty="0"/>
              <a:t>For each residue, predict a </a:t>
            </a:r>
            <a:r>
              <a:rPr lang="en-US" b="1" dirty="0"/>
              <a:t>probability distribution </a:t>
            </a:r>
            <a:r>
              <a:rPr lang="en-US" dirty="0"/>
              <a:t>over </a:t>
            </a:r>
            <a:r>
              <a:rPr lang="en-US" dirty="0" err="1"/>
              <a:t>lDDT</a:t>
            </a:r>
            <a:r>
              <a:rPr lang="en-US" dirty="0"/>
              <a:t> bins (using internal features)</a:t>
            </a:r>
          </a:p>
          <a:p>
            <a:pPr lvl="1"/>
            <a:r>
              <a:rPr lang="en-US" dirty="0"/>
              <a:t>e.g. bins can be 0-10, 10-20,..</a:t>
            </a:r>
          </a:p>
          <a:p>
            <a:pPr lvl="1"/>
            <a:r>
              <a:rPr lang="en-US" dirty="0"/>
              <a:t>e.g. For a residue: 5% chance </a:t>
            </a:r>
            <a:r>
              <a:rPr lang="en-US" dirty="0" err="1"/>
              <a:t>lDDT</a:t>
            </a:r>
            <a:r>
              <a:rPr lang="en-US" dirty="0"/>
              <a:t> is 10-20, 15% chance </a:t>
            </a:r>
            <a:r>
              <a:rPr lang="en-US" dirty="0" err="1"/>
              <a:t>lDDT</a:t>
            </a:r>
            <a:r>
              <a:rPr lang="en-US" dirty="0"/>
              <a:t> is 50-60,…</a:t>
            </a:r>
          </a:p>
          <a:p>
            <a:r>
              <a:rPr lang="en-US" dirty="0"/>
              <a:t>Then, convert distribution into an expected score</a:t>
            </a:r>
          </a:p>
          <a:p>
            <a:r>
              <a:rPr lang="en-US" dirty="0"/>
              <a:t>Final </a:t>
            </a:r>
            <a:r>
              <a:rPr lang="en-US" dirty="0" err="1"/>
              <a:t>pLDDT</a:t>
            </a:r>
            <a:r>
              <a:rPr lang="en-US" dirty="0"/>
              <a:t> score for the whole structure is the avg over all residues </a:t>
            </a: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12523069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8D1121-5D25-D68A-CD10-CB70D6ABC8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2758B7-0AE5-9361-7873-7D38CE15BE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dirty="0" err="1"/>
              <a:t>pLDDT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850D10-809C-A173-468A-1E48D4988B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AlphaFold’s </a:t>
            </a:r>
            <a:r>
              <a:rPr lang="en-US" dirty="0" err="1"/>
              <a:t>lDDT</a:t>
            </a:r>
            <a:r>
              <a:rPr lang="en-US" dirty="0"/>
              <a:t> head takes the </a:t>
            </a:r>
            <a:r>
              <a:rPr lang="en-US" b="1" dirty="0"/>
              <a:t>single-residue embedding vector</a:t>
            </a:r>
            <a:r>
              <a:rPr lang="en-US" dirty="0"/>
              <a:t> for each residue and feeds it through a small feedforward network</a:t>
            </a:r>
          </a:p>
          <a:p>
            <a:r>
              <a:rPr lang="en-US" dirty="0"/>
              <a:t>That network outputs logits over discrete </a:t>
            </a:r>
            <a:r>
              <a:rPr lang="en-US" dirty="0" err="1"/>
              <a:t>lDDT</a:t>
            </a:r>
            <a:r>
              <a:rPr lang="en-US" dirty="0"/>
              <a:t> bins</a:t>
            </a:r>
          </a:p>
          <a:p>
            <a:r>
              <a:rPr lang="en-US" dirty="0"/>
              <a:t>Then </a:t>
            </a:r>
            <a:r>
              <a:rPr lang="en-US" dirty="0" err="1"/>
              <a:t>softmax</a:t>
            </a:r>
            <a:r>
              <a:rPr lang="en-US" dirty="0"/>
              <a:t> turns logits into a probability distribution</a:t>
            </a:r>
          </a:p>
        </p:txBody>
      </p:sp>
    </p:spTree>
    <p:extLst>
      <p:ext uri="{BB962C8B-B14F-4D97-AF65-F5344CB8AC3E}">
        <p14:creationId xmlns:p14="http://schemas.microsoft.com/office/powerpoint/2010/main" val="12179547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DC520D-2F9C-DEFF-35C1-59A46F3744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dirty="0"/>
              <a:t>Predicted aligned error </a:t>
            </a:r>
            <a:r>
              <a:rPr lang="en-SG" dirty="0" err="1"/>
              <a:t>pae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C55D38-E506-CCF4-7AE1-2A56867435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1. Pair representation</a:t>
            </a:r>
          </a:p>
          <a:p>
            <a:r>
              <a:rPr lang="en-US" dirty="0"/>
              <a:t>Inside the model, AlphaFold maintains a </a:t>
            </a:r>
            <a:r>
              <a:rPr lang="en-US" b="1" dirty="0"/>
              <a:t>pair embedding</a:t>
            </a:r>
            <a:r>
              <a:rPr lang="en-US" dirty="0"/>
              <a:t> for every residue pair (</a:t>
            </a:r>
            <a:r>
              <a:rPr lang="en-US" dirty="0" err="1"/>
              <a:t>i</a:t>
            </a:r>
            <a:r>
              <a:rPr lang="en-US" dirty="0"/>
              <a:t>, j).</a:t>
            </a:r>
          </a:p>
          <a:p>
            <a:r>
              <a:rPr lang="en-US" dirty="0"/>
              <a:t>This embedding encodes:</a:t>
            </a:r>
          </a:p>
          <a:p>
            <a:pPr lvl="1"/>
            <a:r>
              <a:rPr lang="en-US" dirty="0"/>
              <a:t>Co-evolutionary signal</a:t>
            </a:r>
          </a:p>
          <a:p>
            <a:pPr lvl="1"/>
            <a:r>
              <a:rPr lang="en-US" dirty="0"/>
              <a:t>Geometric constraints</a:t>
            </a:r>
          </a:p>
          <a:p>
            <a:pPr lvl="1"/>
            <a:r>
              <a:rPr lang="en-US" dirty="0"/>
              <a:t>Attention patterns</a:t>
            </a:r>
          </a:p>
          <a:p>
            <a:pPr lvl="1"/>
            <a:r>
              <a:rPr lang="en-US" dirty="0"/>
              <a:t>Internal uncertainty signals</a:t>
            </a:r>
          </a:p>
          <a:p>
            <a:pPr lvl="1"/>
            <a:r>
              <a:rPr lang="en-US" dirty="0"/>
              <a:t>How strongly </a:t>
            </a:r>
            <a:r>
              <a:rPr lang="en-US" dirty="0" err="1"/>
              <a:t>i</a:t>
            </a:r>
            <a:r>
              <a:rPr lang="en-US" dirty="0"/>
              <a:t> and j are geometrically linked</a:t>
            </a:r>
          </a:p>
          <a:p>
            <a:r>
              <a:rPr lang="en-US" dirty="0"/>
              <a:t>By the time the structure is predicted, this pair representation already ‘knows’ how constrained that relationship is</a:t>
            </a:r>
          </a:p>
        </p:txBody>
      </p:sp>
    </p:spTree>
    <p:extLst>
      <p:ext uri="{BB962C8B-B14F-4D97-AF65-F5344CB8AC3E}">
        <p14:creationId xmlns:p14="http://schemas.microsoft.com/office/powerpoint/2010/main" val="259864369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2E2472-755D-D2E7-26FA-6781AA7DB0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44C8BB-D015-4FA4-B3B9-AED85C9B89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dirty="0"/>
              <a:t>Predicted aligned error </a:t>
            </a:r>
            <a:r>
              <a:rPr lang="en-SG" dirty="0" err="1"/>
              <a:t>pae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F74424-9DB1-947F-2595-A3CF97A5CD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2. The PAE head</a:t>
            </a:r>
          </a:p>
          <a:p>
            <a:pPr lvl="1"/>
            <a:r>
              <a:rPr lang="en-US" dirty="0"/>
              <a:t>There is a dedicated prediction head that:</a:t>
            </a:r>
          </a:p>
          <a:p>
            <a:pPr lvl="1"/>
            <a:r>
              <a:rPr lang="en-US" dirty="0"/>
              <a:t>Takes the pair embedding for (</a:t>
            </a:r>
            <a:r>
              <a:rPr lang="en-US" dirty="0" err="1"/>
              <a:t>i</a:t>
            </a:r>
            <a:r>
              <a:rPr lang="en-US" dirty="0"/>
              <a:t>, j)</a:t>
            </a:r>
          </a:p>
          <a:p>
            <a:pPr lvl="1"/>
            <a:r>
              <a:rPr lang="en-US" dirty="0"/>
              <a:t>Passes it through a small neural network</a:t>
            </a:r>
          </a:p>
          <a:p>
            <a:pPr lvl="1"/>
            <a:r>
              <a:rPr lang="en-US" dirty="0"/>
              <a:t>Outputs logits over </a:t>
            </a:r>
            <a:r>
              <a:rPr lang="en-US" b="1" dirty="0"/>
              <a:t>error bins</a:t>
            </a:r>
            <a:endParaRPr lang="en-US" dirty="0"/>
          </a:p>
          <a:p>
            <a:r>
              <a:rPr lang="en-US" dirty="0"/>
              <a:t>The bins correspond to distance ranges like:</a:t>
            </a:r>
          </a:p>
          <a:p>
            <a:pPr lvl="1"/>
            <a:r>
              <a:rPr lang="en-US" dirty="0"/>
              <a:t>0–0.5 Å</a:t>
            </a:r>
            <a:br>
              <a:rPr lang="en-US" dirty="0"/>
            </a:br>
            <a:r>
              <a:rPr lang="en-US" dirty="0"/>
              <a:t>0.5–1 Å</a:t>
            </a:r>
            <a:br>
              <a:rPr lang="en-US" dirty="0"/>
            </a:br>
            <a:r>
              <a:rPr lang="en-US" dirty="0"/>
              <a:t>1–2 Å</a:t>
            </a:r>
            <a:br>
              <a:rPr lang="en-US" dirty="0"/>
            </a:br>
            <a:r>
              <a:rPr lang="en-US" dirty="0"/>
              <a:t>2–4 Å</a:t>
            </a:r>
            <a:br>
              <a:rPr lang="en-US" dirty="0"/>
            </a:br>
            <a:r>
              <a:rPr lang="en-US" dirty="0"/>
              <a:t>...</a:t>
            </a:r>
            <a:br>
              <a:rPr lang="en-US" dirty="0"/>
            </a:br>
            <a:r>
              <a:rPr lang="en-US" dirty="0"/>
              <a:t>up to ~30 Å</a:t>
            </a:r>
          </a:p>
          <a:p>
            <a:r>
              <a:rPr lang="en-US" dirty="0"/>
              <a:t>After </a:t>
            </a:r>
            <a:r>
              <a:rPr lang="en-US" dirty="0" err="1"/>
              <a:t>softmax</a:t>
            </a:r>
            <a:r>
              <a:rPr lang="en-US" dirty="0"/>
              <a:t>, we get a probability distribution over error magnitudes</a:t>
            </a:r>
          </a:p>
        </p:txBody>
      </p:sp>
    </p:spTree>
    <p:extLst>
      <p:ext uri="{BB962C8B-B14F-4D97-AF65-F5344CB8AC3E}">
        <p14:creationId xmlns:p14="http://schemas.microsoft.com/office/powerpoint/2010/main" val="406226625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27E357-118C-7DDD-4647-E6DD466B9F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BFEB47-0005-3CA0-A777-E3EAC6638B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dirty="0"/>
              <a:t>Predicted aligned error </a:t>
            </a:r>
            <a:r>
              <a:rPr lang="en-SG" dirty="0" err="1"/>
              <a:t>pae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77AE19-B0AD-A0D3-9980-B26B5AE59B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3. Convert distribution to expected error</a:t>
            </a:r>
          </a:p>
          <a:p>
            <a:r>
              <a:rPr lang="en-US" dirty="0"/>
              <a:t>The model computes:</a:t>
            </a:r>
          </a:p>
          <a:p>
            <a:pPr lvl="1"/>
            <a:r>
              <a:rPr lang="en-US" dirty="0"/>
              <a:t>PAE(</a:t>
            </a:r>
            <a:r>
              <a:rPr lang="en-US" dirty="0" err="1"/>
              <a:t>i</a:t>
            </a:r>
            <a:r>
              <a:rPr lang="en-US" dirty="0"/>
              <a:t>, j) = sum over bins of</a:t>
            </a:r>
            <a:br>
              <a:rPr lang="en-US" dirty="0"/>
            </a:br>
            <a:r>
              <a:rPr lang="en-US" dirty="0"/>
              <a:t>(probability * bin center)</a:t>
            </a:r>
          </a:p>
          <a:p>
            <a:r>
              <a:rPr lang="en-US" dirty="0"/>
              <a:t>This gives the predicted aligned error in </a:t>
            </a:r>
            <a:r>
              <a:rPr lang="en-US" dirty="0" err="1"/>
              <a:t>Ångstroms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9476670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BD12DD-34B5-C370-9601-9510766786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AB97A8-2DF7-F3F8-5C95-6EDA139ACE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00062"/>
            <a:ext cx="10515600" cy="1325563"/>
          </a:xfrm>
        </p:spPr>
        <p:txBody>
          <a:bodyPr>
            <a:normAutofit fontScale="90000"/>
          </a:bodyPr>
          <a:lstStyle/>
          <a:p>
            <a:r>
              <a:rPr lang="en-SG" dirty="0"/>
              <a:t>Predicted aligned error </a:t>
            </a:r>
            <a:r>
              <a:rPr lang="en-SG" dirty="0" err="1"/>
              <a:t>pae</a:t>
            </a:r>
            <a:br>
              <a:rPr lang="en-SG" dirty="0"/>
            </a:br>
            <a:r>
              <a:rPr lang="en-US" b="1" dirty="0"/>
              <a:t>How it is trained</a:t>
            </a:r>
            <a:br>
              <a:rPr lang="en-US" b="1" dirty="0"/>
            </a:br>
            <a:endParaRPr lang="en-SG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F067415-8AB1-FB0C-D188-FFDD1A7233F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During training:</a:t>
                </a:r>
              </a:p>
              <a:p>
                <a:r>
                  <a:rPr lang="en-US" dirty="0"/>
                  <a:t>True structure is known.</a:t>
                </a:r>
              </a:p>
              <a:p>
                <a:r>
                  <a:rPr lang="en-US" dirty="0"/>
                  <a:t>For each residue pair (</a:t>
                </a:r>
                <a:r>
                  <a:rPr lang="en-US" dirty="0" err="1"/>
                  <a:t>i</a:t>
                </a:r>
                <a:r>
                  <a:rPr lang="en-US" dirty="0"/>
                  <a:t>, j), the structure is aligned on residue </a:t>
                </a:r>
                <a:r>
                  <a:rPr lang="en-US" dirty="0" err="1"/>
                  <a:t>i</a:t>
                </a:r>
                <a:endParaRPr lang="en-US" dirty="0"/>
              </a:p>
              <a:p>
                <a:r>
                  <a:rPr lang="en-US" dirty="0"/>
                  <a:t>The true positional error of residue j is computed</a:t>
                </a:r>
              </a:p>
              <a:p>
                <a:r>
                  <a:rPr lang="en-US" dirty="0"/>
                  <a:t>That true error is binned</a:t>
                </a:r>
              </a:p>
              <a:p>
                <a:r>
                  <a:rPr lang="en-US" dirty="0"/>
                  <a:t>Cross-entropy loss trains the PAE head to predict the correct bin</a:t>
                </a:r>
              </a:p>
              <a:p>
                <a:r>
                  <a:rPr lang="en-US" dirty="0"/>
                  <a:t>So the model learns:</a:t>
                </a:r>
              </a:p>
              <a:p>
                <a:pPr lvl="1"/>
                <a:r>
                  <a:rPr lang="en-US" dirty="0"/>
                  <a:t>“When my internal signals between </a:t>
                </a:r>
                <a:r>
                  <a:rPr lang="en-US" dirty="0" err="1"/>
                  <a:t>i</a:t>
                </a:r>
                <a:r>
                  <a:rPr lang="en-US" dirty="0"/>
                  <a:t> and j look like this, the relative positioning error tends to be about </a:t>
                </a:r>
                <a14:m>
                  <m:oMath xmlns:m="http://schemas.openxmlformats.org/officeDocument/2006/math">
                    <m:r>
                      <a:rPr lang="en-SG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 Å.”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F067415-8AB1-FB0C-D188-FFDD1A7233F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381" b="-1261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9838404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B37573-96D4-9E80-A232-8272E0284C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C9FB02-25F4-CB30-212D-5FF2D76CBE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SG" dirty="0"/>
              <a:t>Predicted aligned error </a:t>
            </a:r>
            <a:r>
              <a:rPr lang="en-SG" dirty="0" err="1"/>
              <a:t>pae</a:t>
            </a:r>
            <a:br>
              <a:rPr lang="en-SG" dirty="0"/>
            </a:br>
            <a:r>
              <a:rPr lang="en-US" b="1" dirty="0"/>
              <a:t>Why it works</a:t>
            </a:r>
            <a:br>
              <a:rPr lang="en-US" b="1" dirty="0"/>
            </a:b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3EFCE1-E59D-0F5A-8114-7E643BA061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If two residues are:</a:t>
            </a:r>
          </a:p>
          <a:p>
            <a:pPr lvl="1"/>
            <a:r>
              <a:rPr lang="en-US" dirty="0"/>
              <a:t>In a rigid domain with strong co-evolution : Low predicted error</a:t>
            </a:r>
          </a:p>
          <a:p>
            <a:pPr lvl="1"/>
            <a:r>
              <a:rPr lang="en-US" dirty="0"/>
              <a:t>In different flexible domains : High predicted error</a:t>
            </a:r>
          </a:p>
          <a:p>
            <a:pPr lvl="1"/>
            <a:r>
              <a:rPr lang="en-US" dirty="0"/>
              <a:t>Across a weakly supported interface : Moderate to high error</a:t>
            </a:r>
          </a:p>
          <a:p>
            <a:r>
              <a:rPr lang="en-US" dirty="0"/>
              <a:t>The model learned these patterns statistically</a:t>
            </a:r>
          </a:p>
        </p:txBody>
      </p:sp>
    </p:spTree>
    <p:extLst>
      <p:ext uri="{BB962C8B-B14F-4D97-AF65-F5344CB8AC3E}">
        <p14:creationId xmlns:p14="http://schemas.microsoft.com/office/powerpoint/2010/main" val="100236355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35234D-9E01-927A-08E3-E1B75DC9A5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3486AA-37DD-8327-99C2-363126053C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7683"/>
            <a:ext cx="10515600" cy="1325563"/>
          </a:xfrm>
        </p:spPr>
        <p:txBody>
          <a:bodyPr/>
          <a:lstStyle/>
          <a:p>
            <a:r>
              <a:rPr lang="en-SG" dirty="0"/>
              <a:t>Predicted aligned error </a:t>
            </a:r>
            <a:r>
              <a:rPr lang="en-SG" dirty="0" err="1"/>
              <a:t>pae</a:t>
            </a:r>
            <a:endParaRPr lang="en-SG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24B7BDB-6E80-52C9-0AB5-B58CA95919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4870" y="3800580"/>
            <a:ext cx="3582071" cy="198860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B738AF5-D286-13C0-7CB2-AB94504473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147" y="3604567"/>
            <a:ext cx="3728538" cy="2184621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76E9D69-9D47-97C5-1377-A7595038816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90713" y="1150396"/>
            <a:ext cx="4645662" cy="2697856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A273DC2C-A180-D596-946E-95E54731E0B2}"/>
              </a:ext>
            </a:extLst>
          </p:cNvPr>
          <p:cNvSpPr txBox="1"/>
          <p:nvPr/>
        </p:nvSpPr>
        <p:spPr>
          <a:xfrm>
            <a:off x="4288685" y="5987626"/>
            <a:ext cx="36533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SG" dirty="0"/>
              <a:t>Different regions have different </a:t>
            </a:r>
            <a:r>
              <a:rPr lang="en-SG" dirty="0" err="1"/>
              <a:t>pae</a:t>
            </a: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114634557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3DF87F-4A4A-8E8E-4095-7BA220386B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dirty="0"/>
              <a:t>AlphaFold-Multimer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12322D-0766-295F-A513-769235FFC0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Predict the structures of protein complexes (docking)</a:t>
            </a:r>
          </a:p>
          <a:p>
            <a:r>
              <a:rPr lang="en-US" dirty="0"/>
              <a:t>2 new metrics:</a:t>
            </a:r>
          </a:p>
          <a:p>
            <a:pPr lvl="1"/>
            <a:r>
              <a:rPr lang="en-US" dirty="0"/>
              <a:t>Predicted template modelling (</a:t>
            </a:r>
            <a:r>
              <a:rPr lang="en-US" dirty="0" err="1"/>
              <a:t>pTM</a:t>
            </a:r>
            <a:r>
              <a:rPr lang="en-US" dirty="0"/>
              <a:t>) score</a:t>
            </a:r>
          </a:p>
          <a:p>
            <a:pPr lvl="1"/>
            <a:r>
              <a:rPr lang="en-SG" dirty="0"/>
              <a:t>Interface predicted template modelling (</a:t>
            </a:r>
            <a:r>
              <a:rPr lang="en-SG" dirty="0" err="1"/>
              <a:t>ipTM</a:t>
            </a:r>
            <a:r>
              <a:rPr lang="en-SG" dirty="0"/>
              <a:t>) score</a:t>
            </a:r>
          </a:p>
          <a:p>
            <a:r>
              <a:rPr lang="en-US" dirty="0"/>
              <a:t>Both are derived from a measure called the template modelling (TM) score	</a:t>
            </a:r>
          </a:p>
          <a:p>
            <a:pPr lvl="1"/>
            <a:r>
              <a:rPr lang="en-US" dirty="0"/>
              <a:t>Measures the accuracy of the global structure of the protein and is relatively insensitive to </a:t>
            </a:r>
            <a:r>
              <a:rPr lang="en-US" dirty="0" err="1"/>
              <a:t>localised</a:t>
            </a:r>
            <a:r>
              <a:rPr lang="en-US" dirty="0"/>
              <a:t> inaccuracies</a:t>
            </a: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237709801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120314-AD23-5910-9E32-6FAD38031D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dirty="0"/>
              <a:t>Template Modelling score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8C7B2C-6D9B-5C8F-F8E0-CB8A4AED4F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Metric used to measure how similar two protein structures are in 3D space</a:t>
            </a:r>
          </a:p>
          <a:p>
            <a:pPr lvl="1"/>
            <a:r>
              <a:rPr lang="en-US" dirty="0"/>
              <a:t>Designed to fix problems with RMSD</a:t>
            </a:r>
          </a:p>
          <a:p>
            <a:pPr lvl="1"/>
            <a:r>
              <a:rPr lang="en-US" dirty="0"/>
              <a:t>Higher is better</a:t>
            </a:r>
          </a:p>
          <a:p>
            <a:r>
              <a:rPr lang="en-US" dirty="0"/>
              <a:t>Sum over residues of</a:t>
            </a:r>
            <a:br>
              <a:rPr lang="en-US" dirty="0"/>
            </a:br>
            <a:r>
              <a:rPr lang="en-US" dirty="0"/>
              <a:t>1 / (1 + (distance / d₀)²)</a:t>
            </a:r>
          </a:p>
          <a:p>
            <a:r>
              <a:rPr lang="en-US" dirty="0"/>
              <a:t>Where:	</a:t>
            </a:r>
          </a:p>
          <a:p>
            <a:pPr lvl="1"/>
            <a:r>
              <a:rPr lang="en-US" dirty="0"/>
              <a:t>distance = Cα distance between aligned residues</a:t>
            </a:r>
          </a:p>
          <a:p>
            <a:pPr lvl="1"/>
            <a:r>
              <a:rPr lang="en-US" dirty="0"/>
              <a:t>d₀ = length-dependent scaling factor</a:t>
            </a:r>
          </a:p>
          <a:p>
            <a:r>
              <a:rPr lang="en-US" dirty="0"/>
              <a:t>Output a number b/w 0 and 1</a:t>
            </a:r>
          </a:p>
          <a:p>
            <a:r>
              <a:rPr lang="en-US" dirty="0"/>
              <a:t>Large distances contribute very little</a:t>
            </a:r>
          </a:p>
          <a:p>
            <a:r>
              <a:rPr lang="en-US" dirty="0"/>
              <a:t>Close residues contribute near 1</a:t>
            </a:r>
          </a:p>
          <a:p>
            <a:r>
              <a:rPr lang="en-US" dirty="0"/>
              <a:t>That is why one bad loop does not </a:t>
            </a:r>
            <a:r>
              <a:rPr lang="en-US" dirty="0" err="1"/>
              <a:t>destr</a:t>
            </a:r>
            <a:endParaRPr lang="en-US" dirty="0"/>
          </a:p>
          <a:p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167782154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C9BA19-1978-A217-22CE-40672CB9C5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2340" y="-178214"/>
            <a:ext cx="10515600" cy="1325563"/>
          </a:xfrm>
        </p:spPr>
        <p:txBody>
          <a:bodyPr/>
          <a:lstStyle/>
          <a:p>
            <a:r>
              <a:rPr lang="en-SG" dirty="0"/>
              <a:t>Predicted TM score </a:t>
            </a:r>
            <a:r>
              <a:rPr lang="en-SG" dirty="0" err="1"/>
              <a:t>pTM</a:t>
            </a:r>
            <a:endParaRPr lang="en-SG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5006E85-C060-5509-687F-FE1D6CC367A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81000" y="741396"/>
                <a:ext cx="10515600" cy="5659403"/>
              </a:xfrm>
            </p:spPr>
            <p:txBody>
              <a:bodyPr>
                <a:normAutofit fontScale="77500" lnSpcReduction="20000"/>
              </a:bodyPr>
              <a:lstStyle/>
              <a:p>
                <a:r>
                  <a:rPr lang="en-US" dirty="0"/>
                  <a:t>Predicted TM score for a superposition between the predicted structure and the hypothetical true structure</a:t>
                </a:r>
              </a:p>
              <a:p>
                <a:r>
                  <a:rPr lang="en-US" dirty="0"/>
                  <a:t>Computed from the </a:t>
                </a:r>
                <a:r>
                  <a:rPr lang="en-US" b="1" dirty="0"/>
                  <a:t>predicted aligned error (</a:t>
                </a:r>
                <a:r>
                  <a:rPr lang="en-US" b="1" dirty="0" err="1"/>
                  <a:t>pae</a:t>
                </a:r>
                <a:r>
                  <a:rPr lang="en-US" b="1" dirty="0"/>
                  <a:t>) distribution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AlphaFold predicts a PAE distribution for every residue pair in the entire complex</a:t>
                </a:r>
              </a:p>
              <a:p>
                <a:pPr marL="971550" lvl="1" indent="-514350">
                  <a:buFont typeface="+mj-lt"/>
                  <a:buAutoNum type="arabicPeriod"/>
                </a:pPr>
                <a:r>
                  <a:rPr lang="en-SG" dirty="0"/>
                  <a:t>For every ordered pair of residues </a:t>
                </a:r>
                <a14:m>
                  <m:oMath xmlns:m="http://schemas.openxmlformats.org/officeDocument/2006/math">
                    <m:d>
                      <m:dPr>
                        <m:sepChr m:val=","/>
                        <m:ctrlPr>
                          <a:rPr lang="ar-AE"/>
                        </m:ctrlPr>
                      </m:dPr>
                      <m:e>
                        <m:r>
                          <a:rPr lang="ar-AE" i="1"/>
                          <m:t>𝑖</m:t>
                        </m:r>
                      </m:e>
                      <m:e>
                        <m:r>
                          <a:rPr lang="ar-AE" i="1"/>
                          <m:t>𝑗</m:t>
                        </m:r>
                      </m:e>
                    </m:d>
                  </m:oMath>
                </a14:m>
                <a:r>
                  <a:rPr lang="ar-AE" dirty="0"/>
                  <a:t>, </a:t>
                </a:r>
                <a:r>
                  <a:rPr lang="en-SG" dirty="0"/>
                  <a:t>the model predicts a </a:t>
                </a:r>
                <a:r>
                  <a:rPr lang="en-SG" b="1" dirty="0"/>
                  <a:t>distribution</a:t>
                </a:r>
                <a:r>
                  <a:rPr lang="en-SG" dirty="0"/>
                  <a:t> over “aligned error” distances (in Å)</a:t>
                </a:r>
              </a:p>
              <a:p>
                <a:pPr marL="971550" lvl="1" indent="-514350">
                  <a:buFont typeface="+mj-lt"/>
                  <a:buAutoNum type="arabicPeriod"/>
                </a:pPr>
                <a:r>
                  <a:rPr lang="en-US" dirty="0"/>
                  <a:t>This comes from the PAE head applied to the pair representation</a:t>
                </a:r>
              </a:p>
              <a:p>
                <a:pPr marL="971550" lvl="1" indent="-514350">
                  <a:buFont typeface="+mj-lt"/>
                  <a:buAutoNum type="arabicPeriod"/>
                </a:pPr>
                <a:r>
                  <a:rPr lang="en-US" dirty="0"/>
                  <a:t>P(error ∈ bin k ∣ </a:t>
                </a:r>
                <a:r>
                  <a:rPr lang="en-US" dirty="0" err="1"/>
                  <a:t>i,j</a:t>
                </a:r>
                <a:r>
                  <a:rPr lang="en-US" dirty="0"/>
                  <a:t>) for bins spanning roughly 0 to ~30 Å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Convert that distribution into an expected ‘TM contribution’ for that pair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SG" dirty="0"/>
                  <a:t>TM-score uses a </a:t>
                </a:r>
                <a:r>
                  <a:rPr lang="en-SG" dirty="0" err="1"/>
                  <a:t>downweighting</a:t>
                </a:r>
                <a:r>
                  <a:rPr lang="en-SG" dirty="0"/>
                  <a:t> function: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ar-AE"/>
                          </m:ctrlPr>
                        </m:fPr>
                        <m:num>
                          <m:r>
                            <a:rPr lang="ar-AE"/>
                            <m:t>1</m:t>
                          </m:r>
                        </m:num>
                        <m:den>
                          <m:r>
                            <a:rPr lang="ar-AE"/>
                            <m:t>1</m:t>
                          </m:r>
                          <m:r>
                            <a:rPr lang="ar-AE"/>
                            <m:t>+</m:t>
                          </m:r>
                          <m:d>
                            <m:dPr>
                              <m:endChr m:val=""/>
                              <m:ctrlPr>
                                <a:rPr lang="ar-AE" i="1"/>
                              </m:ctrlPr>
                            </m:dPr>
                            <m:e>
                              <m:r>
                                <a:rPr lang="ar-AE" i="1"/>
                                <m:t>𝑑</m:t>
                              </m:r>
                              <m:r>
                                <a:rPr lang="ar-AE"/>
                                <m:t>/</m:t>
                              </m:r>
                              <m:sSub>
                                <m:sSubPr>
                                  <m:ctrlPr>
                                    <a:rPr lang="ar-AE" i="1"/>
                                  </m:ctrlPr>
                                </m:sSubPr>
                                <m:e>
                                  <m:r>
                                    <a:rPr lang="ar-AE" i="1"/>
                                    <m:t>𝑑</m:t>
                                  </m:r>
                                </m:e>
                                <m:sub>
                                  <m:r>
                                    <a:rPr lang="ar-AE"/>
                                    <m:t>0</m:t>
                                  </m:r>
                                </m:sub>
                              </m:sSub>
                              <m:sSup>
                                <m:sSupPr>
                                  <m:ctrlPr>
                                    <a:rPr lang="ar-AE" i="1"/>
                                  </m:ctrlPr>
                                </m:sSupPr>
                                <m:e>
                                  <m:d>
                                    <m:dPr>
                                      <m:begChr m:val=""/>
                                      <m:endChr m:val=""/>
                                      <m:ctrlPr>
                                        <a:rPr lang="ar-AE" i="1"/>
                                      </m:ctrlPr>
                                    </m:dPr>
                                    <m:e>
                                      <m:r>
                                        <a:rPr lang="ar-AE"/>
                                        <m:t>)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ar-AE"/>
                                    <m:t>2</m:t>
                                  </m:r>
                                </m:sup>
                              </m:sSup>
                            </m:e>
                          </m:d>
                        </m:den>
                      </m:f>
                    </m:oMath>
                  </m:oMathPara>
                </a14:m>
                <a:endParaRPr lang="ar-AE" dirty="0"/>
              </a:p>
              <a:p>
                <a:pPr marL="457200" lvl="1" indent="0">
                  <a:buNone/>
                </a:pPr>
                <a:r>
                  <a:rPr lang="en-SG" dirty="0"/>
                  <a:t>where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/>
                        </m:ctrlPr>
                      </m:sSubPr>
                      <m:e>
                        <m:r>
                          <a:rPr lang="ar-AE" i="1"/>
                          <m:t>𝑑</m:t>
                        </m:r>
                      </m:e>
                      <m:sub>
                        <m:r>
                          <a:rPr lang="ar-AE"/>
                          <m:t>0</m:t>
                        </m:r>
                      </m:sub>
                    </m:sSub>
                  </m:oMath>
                </a14:m>
                <a:r>
                  <a:rPr lang="en-SG" dirty="0"/>
                  <a:t>is a length-dependent scale.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SG" dirty="0"/>
                  <a:t>AlphaFold replaces the unknown true aligned distance </a:t>
                </a:r>
                <a14:m>
                  <m:oMath xmlns:m="http://schemas.openxmlformats.org/officeDocument/2006/math">
                    <m:r>
                      <a:rPr lang="en-SG" i="1"/>
                      <m:t>𝑑</m:t>
                    </m:r>
                    <m:r>
                      <a:rPr lang="en-SG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SG" dirty="0"/>
                  <a:t>with the random variable ‘aligned error’ from the PAE distribution, and takes an expectation:</a:t>
                </a:r>
              </a:p>
              <a:p>
                <a:pPr marL="914400" lvl="1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r>
                      <a:rPr lang="en-SG"/>
                      <m:t>𝔼</m:t>
                    </m:r>
                    <m:d>
                      <m:dPr>
                        <m:begChr m:val="["/>
                        <m:endChr m:val="]"/>
                        <m:ctrlPr>
                          <a:rPr lang="ar-AE" i="1"/>
                        </m:ctrlPr>
                      </m:dPr>
                      <m:e>
                        <m:f>
                          <m:fPr>
                            <m:ctrlPr>
                              <a:rPr lang="ar-AE" i="1"/>
                            </m:ctrlPr>
                          </m:fPr>
                          <m:num>
                            <m:r>
                              <a:rPr lang="ar-AE"/>
                              <m:t>1</m:t>
                            </m:r>
                          </m:num>
                          <m:den>
                            <m:r>
                              <a:rPr lang="ar-AE"/>
                              <m:t>1</m:t>
                            </m:r>
                            <m:r>
                              <a:rPr lang="ar-AE"/>
                              <m:t>+</m:t>
                            </m:r>
                            <m:d>
                              <m:dPr>
                                <m:endChr m:val=""/>
                                <m:ctrlPr>
                                  <a:rPr lang="ar-AE" i="1"/>
                                </m:ctrlPr>
                              </m:dPr>
                              <m:e>
                                <m:r>
                                  <a:rPr lang="ar-AE" i="1"/>
                                  <m:t>𝑑</m:t>
                                </m:r>
                                <m:r>
                                  <a:rPr lang="ar-AE"/>
                                  <m:t>/</m:t>
                                </m:r>
                                <m:sSub>
                                  <m:sSubPr>
                                    <m:ctrlPr>
                                      <a:rPr lang="ar-AE" i="1"/>
                                    </m:ctrlPr>
                                  </m:sSubPr>
                                  <m:e>
                                    <m:r>
                                      <a:rPr lang="ar-AE" i="1"/>
                                      <m:t>𝑑</m:t>
                                    </m:r>
                                  </m:e>
                                  <m:sub>
                                    <m:r>
                                      <a:rPr lang="ar-AE"/>
                                      <m:t>0</m:t>
                                    </m:r>
                                  </m:sub>
                                </m:sSub>
                                <m:sSup>
                                  <m:sSupPr>
                                    <m:ctrlPr>
                                      <a:rPr lang="ar-AE" i="1"/>
                                    </m:ctrlPr>
                                  </m:sSupPr>
                                  <m:e>
                                    <m:d>
                                      <m:dPr>
                                        <m:begChr m:val=""/>
                                        <m:endChr m:val=""/>
                                        <m:ctrlPr>
                                          <a:rPr lang="ar-AE" i="1"/>
                                        </m:ctrlPr>
                                      </m:dPr>
                                      <m:e>
                                        <m:r>
                                          <a:rPr lang="ar-AE"/>
                                          <m:t>)</m:t>
                                        </m:r>
                                      </m:e>
                                    </m:d>
                                  </m:e>
                                  <m:sup>
                                    <m:r>
                                      <a:rPr lang="ar-AE"/>
                                      <m:t>2</m:t>
                                    </m:r>
                                  </m:sup>
                                </m:sSup>
                              </m:e>
                            </m:d>
                          </m:den>
                        </m:f>
                      </m:e>
                    </m:d>
                    <m:r>
                      <a:rPr lang="ar-AE"/>
                      <m:t>≈</m:t>
                    </m:r>
                    <m:nary>
                      <m:naryPr>
                        <m:chr m:val="∑"/>
                        <m:grow m:val="on"/>
                        <m:supHide m:val="on"/>
                        <m:ctrlPr>
                          <a:rPr lang="ar-AE" i="1"/>
                        </m:ctrlPr>
                      </m:naryPr>
                      <m:sub>
                        <m:r>
                          <a:rPr lang="ar-AE" i="1"/>
                          <m:t>𝑘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ar-AE" i="1"/>
                            </m:ctrlPr>
                          </m:sSubPr>
                          <m:e>
                            <m:r>
                              <a:rPr lang="ar-AE" i="1"/>
                              <m:t>𝑝</m:t>
                            </m:r>
                          </m:e>
                          <m:sub>
                            <m:r>
                              <a:rPr lang="ar-AE" i="1"/>
                              <m:t>𝑘</m:t>
                            </m:r>
                          </m:sub>
                        </m:sSub>
                      </m:e>
                    </m:nary>
                    <m:r>
                      <a:rPr lang="ar-AE"/>
                      <m:t>⋅</m:t>
                    </m:r>
                    <m:f>
                      <m:fPr>
                        <m:ctrlPr>
                          <a:rPr lang="ar-AE" i="1"/>
                        </m:ctrlPr>
                      </m:fPr>
                      <m:num>
                        <m:r>
                          <a:rPr lang="ar-AE"/>
                          <m:t>1</m:t>
                        </m:r>
                      </m:num>
                      <m:den>
                        <m:r>
                          <a:rPr lang="ar-AE"/>
                          <m:t>1</m:t>
                        </m:r>
                        <m:r>
                          <a:rPr lang="ar-AE"/>
                          <m:t>+</m:t>
                        </m:r>
                        <m:d>
                          <m:dPr>
                            <m:endChr m:val=""/>
                            <m:ctrlPr>
                              <a:rPr lang="ar-AE" i="1"/>
                            </m:ctrlPr>
                          </m:dPr>
                          <m:e>
                            <m:sSub>
                              <m:sSubPr>
                                <m:ctrlPr>
                                  <a:rPr lang="ar-AE" i="1"/>
                                </m:ctrlPr>
                              </m:sSubPr>
                              <m:e>
                                <m:r>
                                  <a:rPr lang="ar-AE" i="1"/>
                                  <m:t>𝑐</m:t>
                                </m:r>
                              </m:e>
                              <m:sub>
                                <m:r>
                                  <a:rPr lang="ar-AE" i="1"/>
                                  <m:t>𝑘</m:t>
                                </m:r>
                              </m:sub>
                            </m:sSub>
                            <m:r>
                              <a:rPr lang="ar-AE"/>
                              <m:t>/</m:t>
                            </m:r>
                            <m:sSub>
                              <m:sSubPr>
                                <m:ctrlPr>
                                  <a:rPr lang="ar-AE" i="1"/>
                                </m:ctrlPr>
                              </m:sSubPr>
                              <m:e>
                                <m:r>
                                  <a:rPr lang="ar-AE" i="1"/>
                                  <m:t>𝑑</m:t>
                                </m:r>
                              </m:e>
                              <m:sub>
                                <m:r>
                                  <a:rPr lang="ar-AE"/>
                                  <m:t>0</m:t>
                                </m:r>
                              </m:sub>
                            </m:sSub>
                            <m:sSup>
                              <m:sSupPr>
                                <m:ctrlPr>
                                  <a:rPr lang="ar-AE" i="1"/>
                                </m:ctrlPr>
                              </m:sSupPr>
                              <m:e>
                                <m:d>
                                  <m:dPr>
                                    <m:begChr m:val=""/>
                                    <m:endChr m:val=""/>
                                    <m:ctrlPr>
                                      <a:rPr lang="ar-AE" i="1"/>
                                    </m:ctrlPr>
                                  </m:dPr>
                                  <m:e>
                                    <m:r>
                                      <a:rPr lang="ar-AE"/>
                                      <m:t>)</m:t>
                                    </m:r>
                                  </m:e>
                                </m:d>
                              </m:e>
                              <m:sup>
                                <m:r>
                                  <a:rPr lang="ar-AE"/>
                                  <m:t>2</m:t>
                                </m:r>
                              </m:sup>
                            </m:sSup>
                          </m:e>
                        </m:d>
                      </m:den>
                    </m:f>
                  </m:oMath>
                </a14:m>
                <a:endParaRPr lang="ar-AE" dirty="0"/>
              </a:p>
              <a:p>
                <a:pPr marL="914400" lvl="1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ar-AE"/>
                        </m:ctrlPr>
                      </m:sSubPr>
                      <m:e>
                        <m:r>
                          <a:rPr lang="ar-AE" i="1"/>
                          <m:t>𝑝</m:t>
                        </m:r>
                      </m:e>
                      <m:sub>
                        <m:r>
                          <a:rPr lang="ar-AE" i="1"/>
                          <m:t>𝑘</m:t>
                        </m:r>
                      </m:sub>
                    </m:sSub>
                  </m:oMath>
                </a14:m>
                <a:r>
                  <a:rPr lang="ar-AE" dirty="0"/>
                  <a:t>= </a:t>
                </a:r>
                <a:r>
                  <a:rPr lang="en-SG" dirty="0"/>
                  <a:t> Probability of bin </a:t>
                </a:r>
                <a14:m>
                  <m:oMath xmlns:m="http://schemas.openxmlformats.org/officeDocument/2006/math">
                    <m:r>
                      <a:rPr lang="en-SG" i="1"/>
                      <m:t>𝑘</m:t>
                    </m:r>
                  </m:oMath>
                </a14:m>
                <a:endParaRPr lang="en-SG" dirty="0"/>
              </a:p>
              <a:p>
                <a:pPr marL="914400" lvl="1" indent="-457200">
                  <a:buFont typeface="+mj-lt"/>
                  <a:buAutoNum type="arabicPeriod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ar-AE"/>
                        </m:ctrlPr>
                      </m:sSubPr>
                      <m:e>
                        <m:r>
                          <a:rPr lang="ar-AE" i="1"/>
                          <m:t>𝑐</m:t>
                        </m:r>
                      </m:e>
                      <m:sub>
                        <m:r>
                          <a:rPr lang="ar-AE" i="1"/>
                          <m:t>𝑘</m:t>
                        </m:r>
                      </m:sub>
                    </m:sSub>
                  </m:oMath>
                </a14:m>
                <a:r>
                  <a:rPr lang="ar-AE" dirty="0"/>
                  <a:t>= </a:t>
                </a:r>
                <a:r>
                  <a:rPr lang="en-SG" dirty="0"/>
                  <a:t> The bin </a:t>
                </a:r>
                <a:r>
                  <a:rPr lang="en-SG" dirty="0" err="1"/>
                  <a:t>center</a:t>
                </a:r>
                <a:r>
                  <a:rPr lang="en-SG" dirty="0"/>
                  <a:t> (a representative distance for that bin)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SG" dirty="0"/>
                  <a:t>This gives an ‘expected TM-like agreement’ between anchor </a:t>
                </a:r>
                <a14:m>
                  <m:oMath xmlns:m="http://schemas.openxmlformats.org/officeDocument/2006/math">
                    <m:r>
                      <a:rPr lang="en-SG" i="1"/>
                      <m:t>𝑖</m:t>
                    </m:r>
                  </m:oMath>
                </a14:m>
                <a:r>
                  <a:rPr lang="en-SG" dirty="0"/>
                  <a:t>and residue </a:t>
                </a:r>
                <a14:m>
                  <m:oMath xmlns:m="http://schemas.openxmlformats.org/officeDocument/2006/math">
                    <m:r>
                      <a:rPr lang="en-SG" i="1"/>
                      <m:t>𝑗</m:t>
                    </m:r>
                  </m:oMath>
                </a14:m>
                <a:r>
                  <a:rPr lang="en-SG" dirty="0"/>
                  <a:t>.</a:t>
                </a:r>
              </a:p>
              <a:p>
                <a:pPr marL="971550" lvl="1" indent="-514350">
                  <a:buFont typeface="+mj-lt"/>
                  <a:buAutoNum type="arabicPeriod"/>
                </a:pPr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5006E85-C060-5509-687F-FE1D6CC367A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81000" y="741396"/>
                <a:ext cx="10515600" cy="5659403"/>
              </a:xfrm>
              <a:blipFill>
                <a:blip r:embed="rId2"/>
                <a:stretch>
                  <a:fillRect l="-812" t="-2155" b="-1724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6276136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B1F763-053B-A3C9-69A0-06CDFE9B0A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dirty="0"/>
              <a:t>Predicted TM score </a:t>
            </a:r>
            <a:r>
              <a:rPr lang="en-SG" dirty="0" err="1"/>
              <a:t>pTM</a:t>
            </a:r>
            <a:endParaRPr lang="en-SG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09E2CBB-341E-895E-4122-A108B5FEA9E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en-SG" dirty="0"/>
                  <a:t>3. </a:t>
                </a:r>
                <a:r>
                  <a:rPr lang="en-US" dirty="0"/>
                  <a:t>For each possible anchor residue </a:t>
                </a:r>
                <a14:m>
                  <m:oMath xmlns:m="http://schemas.openxmlformats.org/officeDocument/2006/math">
                    <m:r>
                      <a:rPr lang="en-US" i="1"/>
                      <m:t>𝑖</m:t>
                    </m:r>
                  </m:oMath>
                </a14:m>
                <a:r>
                  <a:rPr lang="en-US" dirty="0"/>
                  <a:t>, compute an expected global TM-like score:</a:t>
                </a:r>
              </a:p>
              <a:p>
                <a:pPr lvl="1"/>
                <a:r>
                  <a:rPr lang="en-SG" dirty="0"/>
                  <a:t>Treat residue </a:t>
                </a:r>
                <a14:m>
                  <m:oMath xmlns:m="http://schemas.openxmlformats.org/officeDocument/2006/math">
                    <m:r>
                      <a:rPr lang="en-SG" i="1"/>
                      <m:t>𝑖</m:t>
                    </m:r>
                  </m:oMath>
                </a14:m>
                <a:r>
                  <a:rPr lang="en-SG" dirty="0"/>
                  <a:t>as the alignment anchor. Then average over all residues </a:t>
                </a:r>
                <a14:m>
                  <m:oMath xmlns:m="http://schemas.openxmlformats.org/officeDocument/2006/math">
                    <m:r>
                      <a:rPr lang="en-SG" i="1"/>
                      <m:t>𝑗</m:t>
                    </m:r>
                  </m:oMath>
                </a14:m>
                <a:r>
                  <a:rPr lang="en-SG" dirty="0"/>
                  <a:t>: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SG" i="1"/>
                      <m:t>𝑆</m:t>
                    </m:r>
                    <m:d>
                      <m:dPr>
                        <m:ctrlPr>
                          <a:rPr lang="ar-AE" i="1"/>
                        </m:ctrlPr>
                      </m:dPr>
                      <m:e>
                        <m:r>
                          <a:rPr lang="ar-AE" i="1"/>
                          <m:t>𝑖</m:t>
                        </m:r>
                      </m:e>
                    </m:d>
                    <m:r>
                      <a:rPr lang="ar-AE"/>
                      <m:t>=</m:t>
                    </m:r>
                    <m:f>
                      <m:fPr>
                        <m:ctrlPr>
                          <a:rPr lang="ar-AE" i="1"/>
                        </m:ctrlPr>
                      </m:fPr>
                      <m:num>
                        <m:r>
                          <a:rPr lang="ar-AE"/>
                          <m:t>1</m:t>
                        </m:r>
                      </m:num>
                      <m:den>
                        <m:r>
                          <a:rPr lang="ar-AE" i="1"/>
                          <m:t>𝑁</m:t>
                        </m:r>
                      </m:den>
                    </m:f>
                    <m:nary>
                      <m:naryPr>
                        <m:chr m:val="∑"/>
                        <m:grow m:val="on"/>
                        <m:ctrlPr>
                          <a:rPr lang="ar-AE" i="1"/>
                        </m:ctrlPr>
                      </m:naryPr>
                      <m:sub>
                        <m:r>
                          <a:rPr lang="ar-AE" i="1"/>
                          <m:t>𝑗</m:t>
                        </m:r>
                        <m:r>
                          <a:rPr lang="ar-AE"/>
                          <m:t>=</m:t>
                        </m:r>
                        <m:r>
                          <a:rPr lang="ar-AE"/>
                          <m:t>1</m:t>
                        </m:r>
                      </m:sub>
                      <m:sup>
                        <m:r>
                          <a:rPr lang="ar-AE" i="1"/>
                          <m:t>𝑁</m:t>
                        </m:r>
                      </m:sup>
                      <m:e>
                        <m:r>
                          <a:rPr lang="ar-AE"/>
                          <m:t>𝔼</m:t>
                        </m:r>
                      </m:e>
                    </m:nary>
                    <m:d>
                      <m:dPr>
                        <m:begChr m:val="["/>
                        <m:endChr m:val="]"/>
                        <m:ctrlPr>
                          <a:rPr lang="ar-AE" i="1"/>
                        </m:ctrlPr>
                      </m:dPr>
                      <m:e>
                        <m:f>
                          <m:fPr>
                            <m:ctrlPr>
                              <a:rPr lang="ar-AE" i="1"/>
                            </m:ctrlPr>
                          </m:fPr>
                          <m:num>
                            <m:r>
                              <a:rPr lang="ar-AE"/>
                              <m:t>1</m:t>
                            </m:r>
                          </m:num>
                          <m:den>
                            <m:r>
                              <a:rPr lang="ar-AE"/>
                              <m:t>1</m:t>
                            </m:r>
                            <m:r>
                              <a:rPr lang="ar-AE"/>
                              <m:t>+</m:t>
                            </m:r>
                            <m:d>
                              <m:dPr>
                                <m:endChr m:val=""/>
                                <m:ctrlPr>
                                  <a:rPr lang="ar-AE" i="1"/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ar-AE" i="1"/>
                                    </m:ctrlPr>
                                  </m:sSubPr>
                                  <m:e>
                                    <m:r>
                                      <a:rPr lang="ar-AE" i="1"/>
                                      <m:t>𝑑</m:t>
                                    </m:r>
                                  </m:e>
                                  <m:sub>
                                    <m:r>
                                      <a:rPr lang="ar-AE" i="1"/>
                                      <m:t>𝑖𝑗</m:t>
                                    </m:r>
                                  </m:sub>
                                </m:sSub>
                                <m:r>
                                  <a:rPr lang="ar-AE"/>
                                  <m:t>/</m:t>
                                </m:r>
                                <m:sSub>
                                  <m:sSubPr>
                                    <m:ctrlPr>
                                      <a:rPr lang="ar-AE" i="1"/>
                                    </m:ctrlPr>
                                  </m:sSubPr>
                                  <m:e>
                                    <m:r>
                                      <a:rPr lang="ar-AE" i="1"/>
                                      <m:t>𝑑</m:t>
                                    </m:r>
                                  </m:e>
                                  <m:sub>
                                    <m:r>
                                      <a:rPr lang="ar-AE"/>
                                      <m:t>0</m:t>
                                    </m:r>
                                  </m:sub>
                                </m:sSub>
                                <m:sSup>
                                  <m:sSupPr>
                                    <m:ctrlPr>
                                      <a:rPr lang="ar-AE" i="1"/>
                                    </m:ctrlPr>
                                  </m:sSupPr>
                                  <m:e>
                                    <m:d>
                                      <m:dPr>
                                        <m:begChr m:val=""/>
                                        <m:endChr m:val=""/>
                                        <m:ctrlPr>
                                          <a:rPr lang="ar-AE" i="1"/>
                                        </m:ctrlPr>
                                      </m:dPr>
                                      <m:e>
                                        <m:r>
                                          <a:rPr lang="ar-AE"/>
                                          <m:t>)</m:t>
                                        </m:r>
                                      </m:e>
                                    </m:d>
                                  </m:e>
                                  <m:sup>
                                    <m:r>
                                      <a:rPr lang="ar-AE"/>
                                      <m:t>2</m:t>
                                    </m:r>
                                  </m:sup>
                                </m:sSup>
                              </m:e>
                            </m:d>
                          </m:den>
                        </m:f>
                      </m:e>
                    </m:d>
                  </m:oMath>
                </a14:m>
                <a:endParaRPr lang="ar-AE" dirty="0"/>
              </a:p>
              <a:p>
                <a:pPr lvl="1"/>
                <a:r>
                  <a:rPr lang="en-SG" dirty="0"/>
                  <a:t>So we get one score </a:t>
                </a:r>
                <a14:m>
                  <m:oMath xmlns:m="http://schemas.openxmlformats.org/officeDocument/2006/math">
                    <m:r>
                      <a:rPr lang="en-SG" i="1"/>
                      <m:t>𝑆</m:t>
                    </m:r>
                    <m:d>
                      <m:dPr>
                        <m:ctrlPr>
                          <a:rPr lang="ar-AE" i="1"/>
                        </m:ctrlPr>
                      </m:dPr>
                      <m:e>
                        <m:r>
                          <a:rPr lang="ar-AE" i="1"/>
                          <m:t>𝑖</m:t>
                        </m:r>
                      </m:e>
                    </m:d>
                  </m:oMath>
                </a14:m>
                <a:r>
                  <a:rPr lang="en-SG" dirty="0"/>
                  <a:t> per possible anchor residue</a:t>
                </a:r>
              </a:p>
              <a:p>
                <a:pPr marL="0" indent="0">
                  <a:buNone/>
                </a:pPr>
                <a:r>
                  <a:rPr lang="en-SG" dirty="0"/>
                  <a:t>4. </a:t>
                </a:r>
                <a:r>
                  <a:rPr lang="en-US" dirty="0"/>
                  <a:t>Take the best anchor as the </a:t>
                </a:r>
                <a:r>
                  <a:rPr lang="en-US" dirty="0" err="1"/>
                  <a:t>pTM</a:t>
                </a:r>
                <a:r>
                  <a:rPr lang="en-US" dirty="0"/>
                  <a:t>:</a:t>
                </a:r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SG" b="0"/>
                      <m:t>pTM</m:t>
                    </m:r>
                    <m:r>
                      <a:rPr lang="en-SG"/>
                      <m:t>=</m:t>
                    </m:r>
                    <m:limLow>
                      <m:limLowPr>
                        <m:ctrlPr>
                          <a:rPr lang="ar-AE" i="1"/>
                        </m:ctrlPr>
                      </m:limLowPr>
                      <m:e>
                        <m:func>
                          <m:funcPr>
                            <m:ctrlPr>
                              <a:rPr lang="ar-AE" i="1"/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SG"/>
                              <m:t>max</m:t>
                            </m:r>
                          </m:fName>
                          <m:e>
                            <m:r>
                              <a:rPr lang="ar-AE" i="1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  <m:d>
                              <m:d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e>
                            </m:d>
                          </m:e>
                        </m:func>
                      </m:e>
                      <m:lim>
                        <m:r>
                          <a:rPr lang="ar-AE" i="1"/>
                          <m:t>𝑖</m:t>
                        </m:r>
                      </m:lim>
                    </m:limLow>
                  </m:oMath>
                </a14:m>
                <a:endParaRPr lang="ar-AE" b="0" dirty="0"/>
              </a:p>
              <a:p>
                <a:pPr lvl="1"/>
                <a:r>
                  <a:rPr lang="en-SG" dirty="0"/>
                  <a:t>That ‘max over anchors’ mirrors how TM-score is defined in practice: choose the alignment that gives the best global similarity</a:t>
                </a:r>
              </a:p>
              <a:p>
                <a:pPr marL="0" indent="0">
                  <a:buNone/>
                </a:pPr>
                <a:r>
                  <a:rPr lang="en-SG" dirty="0"/>
                  <a:t>5. Final output: A number b/w 0 and 1 </a:t>
                </a:r>
              </a:p>
              <a:p>
                <a:pPr lvl="1"/>
                <a:r>
                  <a:rPr lang="en-SG" dirty="0"/>
                  <a:t>This is the reported </a:t>
                </a:r>
                <a:r>
                  <a:rPr lang="en-SG" dirty="0" err="1"/>
                  <a:t>pTM</a:t>
                </a:r>
                <a:r>
                  <a:rPr lang="en-SG" dirty="0"/>
                  <a:t> for the whole structure</a:t>
                </a:r>
              </a:p>
              <a:p>
                <a:pPr marL="0" indent="0">
                  <a:buNone/>
                </a:pPr>
                <a:endParaRPr lang="en-SG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SG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09E2CBB-341E-895E-4122-A108B5FEA9E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3501" r="-232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1256964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2191A3-2BBB-0789-E8EE-53E064D3B1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dirty="0"/>
              <a:t>Interface predicted TM score </a:t>
            </a:r>
            <a:r>
              <a:rPr lang="en-SG" dirty="0" err="1"/>
              <a:t>ipTM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9CF083-6FFA-F45C-44F6-6BE28F2756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Computation:</a:t>
            </a:r>
          </a:p>
          <a:p>
            <a:pPr lvl="1"/>
            <a:r>
              <a:rPr lang="en-US" dirty="0"/>
              <a:t>Same as </a:t>
            </a:r>
            <a:r>
              <a:rPr lang="en-US" dirty="0" err="1"/>
              <a:t>pTM</a:t>
            </a:r>
            <a:r>
              <a:rPr lang="en-US" dirty="0"/>
              <a:t>, but only look at inter-chain pairs</a:t>
            </a:r>
          </a:p>
          <a:p>
            <a:pPr lvl="1"/>
            <a:r>
              <a:rPr lang="en-US" dirty="0"/>
              <a:t>i.e. Ignore residue pairs from the same chain</a:t>
            </a:r>
          </a:p>
          <a:p>
            <a:r>
              <a:rPr lang="en-US" dirty="0"/>
              <a:t>Ignores residue pairs w/in the same chain and focuses purely on:</a:t>
            </a:r>
          </a:p>
          <a:p>
            <a:pPr lvl="1"/>
            <a:r>
              <a:rPr lang="en-US" dirty="0"/>
              <a:t>Relative positioning between different chains</a:t>
            </a:r>
          </a:p>
          <a:p>
            <a:pPr lvl="1"/>
            <a:r>
              <a:rPr lang="en-US" dirty="0"/>
              <a:t>Interface geometry confidence</a:t>
            </a:r>
          </a:p>
          <a:p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204028449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5DAAF9-794D-B7A7-2901-48737CC723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dirty="0" err="1"/>
              <a:t>pTM</a:t>
            </a:r>
            <a:r>
              <a:rPr lang="en-SG" dirty="0"/>
              <a:t> vs </a:t>
            </a:r>
            <a:r>
              <a:rPr lang="en-SG" dirty="0" err="1"/>
              <a:t>ipTM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3CDA78-3330-E8EB-AEB9-50E7FD25FA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SG" dirty="0" err="1"/>
              <a:t>pTM</a:t>
            </a:r>
            <a:r>
              <a:rPr lang="en-SG" dirty="0"/>
              <a:t> measures geometric confidence of the complex AFTER binding</a:t>
            </a:r>
          </a:p>
          <a:p>
            <a:r>
              <a:rPr lang="en-US" dirty="0"/>
              <a:t>It does </a:t>
            </a:r>
            <a:r>
              <a:rPr lang="en-US" b="1" dirty="0"/>
              <a:t>not</a:t>
            </a:r>
            <a:r>
              <a:rPr lang="en-US" dirty="0"/>
              <a:t> predict:</a:t>
            </a:r>
          </a:p>
          <a:p>
            <a:pPr lvl="1"/>
            <a:r>
              <a:rPr lang="en-US" dirty="0"/>
              <a:t>Binding affinity</a:t>
            </a:r>
          </a:p>
          <a:p>
            <a:pPr lvl="1"/>
            <a:r>
              <a:rPr lang="en-US" dirty="0"/>
              <a:t>Thermodynamic stability</a:t>
            </a:r>
          </a:p>
          <a:p>
            <a:pPr lvl="1"/>
            <a:r>
              <a:rPr lang="en-US" dirty="0"/>
              <a:t>Whether two proteins will bind if separated in solution</a:t>
            </a:r>
          </a:p>
          <a:p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158930700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F77548-0B67-BDB9-0B77-EA88B8844D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dirty="0"/>
              <a:t>Confidence metrics in practice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518625-F6CC-99B9-5DEB-06DDA28F00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For example:</a:t>
            </a:r>
          </a:p>
          <a:p>
            <a:r>
              <a:rPr lang="en-US" dirty="0"/>
              <a:t>We have two chains A and B:</a:t>
            </a:r>
          </a:p>
          <a:p>
            <a:r>
              <a:rPr lang="en-US" dirty="0"/>
              <a:t>Each chain folds well on its own:</a:t>
            </a:r>
          </a:p>
          <a:p>
            <a:pPr lvl="1"/>
            <a:r>
              <a:rPr lang="en-US" dirty="0"/>
              <a:t>Their individual </a:t>
            </a:r>
            <a:r>
              <a:rPr lang="en-US" dirty="0" err="1"/>
              <a:t>pLDDT</a:t>
            </a:r>
            <a:r>
              <a:rPr lang="en-US" dirty="0"/>
              <a:t> scores can be high</a:t>
            </a:r>
            <a:endParaRPr lang="en-SG" dirty="0"/>
          </a:p>
          <a:p>
            <a:pPr lvl="1"/>
            <a:r>
              <a:rPr lang="en-SG" dirty="0"/>
              <a:t>The complex’s </a:t>
            </a:r>
            <a:r>
              <a:rPr lang="en-SG" dirty="0" err="1"/>
              <a:t>pTM</a:t>
            </a:r>
            <a:r>
              <a:rPr lang="en-SG" dirty="0"/>
              <a:t> score can also be high</a:t>
            </a:r>
          </a:p>
          <a:p>
            <a:pPr lvl="2"/>
            <a:r>
              <a:rPr lang="en-US" dirty="0"/>
              <a:t>Because intra-chain pairs vastly outnumber inter-chain pairs, the overall </a:t>
            </a:r>
            <a:r>
              <a:rPr lang="en-US" dirty="0" err="1"/>
              <a:t>pTM</a:t>
            </a:r>
            <a:r>
              <a:rPr lang="en-US" dirty="0"/>
              <a:t> can stay fairly high</a:t>
            </a:r>
          </a:p>
          <a:p>
            <a:pPr lvl="2"/>
            <a:r>
              <a:rPr lang="en-US" dirty="0" err="1"/>
              <a:t>pTM</a:t>
            </a:r>
            <a:r>
              <a:rPr lang="en-US" dirty="0"/>
              <a:t> is dominated by intra-chain geometry, not suited for binding/docking</a:t>
            </a:r>
            <a:endParaRPr lang="en-SG" dirty="0"/>
          </a:p>
          <a:p>
            <a:r>
              <a:rPr lang="en-SG" dirty="0"/>
              <a:t>But if docking is uncertain:</a:t>
            </a:r>
            <a:endParaRPr lang="en-US" dirty="0"/>
          </a:p>
          <a:p>
            <a:pPr lvl="1"/>
            <a:r>
              <a:rPr lang="en-US" dirty="0"/>
              <a:t>The complex’s </a:t>
            </a:r>
            <a:r>
              <a:rPr lang="en-US" dirty="0" err="1"/>
              <a:t>ipTM</a:t>
            </a:r>
            <a:r>
              <a:rPr lang="en-US" dirty="0"/>
              <a:t> score can be low</a:t>
            </a: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354575295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7BB2F4-46E9-7FB1-32DA-90E04BD856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0E3878-F15D-1645-4099-7BE7F8AB4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dirty="0"/>
              <a:t>Confidence metrics in practice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5CB467-5709-A313-4127-75EBDB8A6C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High </a:t>
            </a:r>
            <a:r>
              <a:rPr lang="en-US" dirty="0" err="1"/>
              <a:t>pTM</a:t>
            </a:r>
            <a:r>
              <a:rPr lang="en-US" dirty="0"/>
              <a:t> + High </a:t>
            </a:r>
            <a:r>
              <a:rPr lang="en-US" dirty="0" err="1"/>
              <a:t>ipTM</a:t>
            </a:r>
            <a:endParaRPr lang="en-US" dirty="0"/>
          </a:p>
          <a:p>
            <a:pPr lvl="1"/>
            <a:r>
              <a:rPr lang="en-US" dirty="0"/>
              <a:t>Confident fold and confident docking</a:t>
            </a:r>
          </a:p>
          <a:p>
            <a:r>
              <a:rPr lang="en-US" dirty="0"/>
              <a:t>High </a:t>
            </a:r>
            <a:r>
              <a:rPr lang="en-US" dirty="0" err="1"/>
              <a:t>pTM</a:t>
            </a:r>
            <a:r>
              <a:rPr lang="en-US" dirty="0"/>
              <a:t> + Low </a:t>
            </a:r>
            <a:r>
              <a:rPr lang="en-US" dirty="0" err="1"/>
              <a:t>ipTM</a:t>
            </a:r>
            <a:endParaRPr lang="en-US" dirty="0"/>
          </a:p>
          <a:p>
            <a:pPr lvl="1"/>
            <a:r>
              <a:rPr lang="en-US" dirty="0"/>
              <a:t>Confident monomers, uncertain interface</a:t>
            </a:r>
          </a:p>
          <a:p>
            <a:r>
              <a:rPr lang="en-US" dirty="0"/>
              <a:t>Low </a:t>
            </a:r>
            <a:r>
              <a:rPr lang="en-US" dirty="0" err="1"/>
              <a:t>pTM</a:t>
            </a:r>
            <a:r>
              <a:rPr lang="en-US" dirty="0"/>
              <a:t> + Low </a:t>
            </a:r>
            <a:r>
              <a:rPr lang="en-US" dirty="0" err="1"/>
              <a:t>ipTM</a:t>
            </a:r>
            <a:endParaRPr lang="en-US" dirty="0"/>
          </a:p>
          <a:p>
            <a:pPr lvl="1"/>
            <a:r>
              <a:rPr lang="en-US" dirty="0"/>
              <a:t>Overall structural uncertainty</a:t>
            </a:r>
          </a:p>
          <a:p>
            <a:r>
              <a:rPr lang="en-US" dirty="0"/>
              <a:t>Low </a:t>
            </a:r>
            <a:r>
              <a:rPr lang="en-US" dirty="0" err="1"/>
              <a:t>pTM</a:t>
            </a:r>
            <a:r>
              <a:rPr lang="en-US" dirty="0"/>
              <a:t> + High </a:t>
            </a:r>
            <a:r>
              <a:rPr lang="en-US" dirty="0" err="1"/>
              <a:t>ipTM</a:t>
            </a:r>
            <a:endParaRPr lang="en-US" dirty="0"/>
          </a:p>
          <a:p>
            <a:pPr lvl="1"/>
            <a:r>
              <a:rPr lang="en-US" dirty="0"/>
              <a:t>Interface docking geometry is confident, but overall fold or domain arrangement is uncertain</a:t>
            </a:r>
          </a:p>
        </p:txBody>
      </p:sp>
    </p:spTree>
    <p:extLst>
      <p:ext uri="{BB962C8B-B14F-4D97-AF65-F5344CB8AC3E}">
        <p14:creationId xmlns:p14="http://schemas.microsoft.com/office/powerpoint/2010/main" val="383677211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60F60B-7B4F-BF03-51A7-249513FABA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dirty="0"/>
              <a:t>Literature review of New Protein Design Methods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5C9985-5D0A-2108-37FF-74BEE152D8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SG" dirty="0"/>
              <a:t>Literature Review focusing on new Protein Design methods that justify their improvement using AF confidence metrics (</a:t>
            </a:r>
            <a:r>
              <a:rPr lang="en-SG" dirty="0" err="1"/>
              <a:t>pLDDT</a:t>
            </a:r>
            <a:r>
              <a:rPr lang="en-SG" dirty="0"/>
              <a:t>, </a:t>
            </a:r>
            <a:r>
              <a:rPr lang="en-SG" dirty="0" err="1"/>
              <a:t>ipTM</a:t>
            </a:r>
            <a:r>
              <a:rPr lang="en-SG" dirty="0"/>
              <a:t>)</a:t>
            </a:r>
          </a:p>
          <a:p>
            <a:r>
              <a:rPr lang="en-SG" dirty="0"/>
              <a:t>If many publications at top venues report improvements using AF metrics, it should be fine for </a:t>
            </a:r>
            <a:r>
              <a:rPr lang="en-SG" dirty="0" err="1"/>
              <a:t>MutaCraft</a:t>
            </a:r>
            <a:r>
              <a:rPr lang="en-SG" dirty="0"/>
              <a:t> to do so as well</a:t>
            </a:r>
          </a:p>
        </p:txBody>
      </p:sp>
    </p:spTree>
    <p:extLst>
      <p:ext uri="{BB962C8B-B14F-4D97-AF65-F5344CB8AC3E}">
        <p14:creationId xmlns:p14="http://schemas.microsoft.com/office/powerpoint/2010/main" val="220284846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7442FD-60C9-8270-CCB0-EFCDB1C89A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SG" dirty="0" err="1"/>
              <a:t>PepPrCLIP</a:t>
            </a:r>
            <a:r>
              <a:rPr lang="en-SG" dirty="0"/>
              <a:t> </a:t>
            </a:r>
            <a:br>
              <a:rPr lang="en-SG" dirty="0"/>
            </a:br>
            <a:r>
              <a:rPr lang="en-US" i="1" dirty="0"/>
              <a:t>Science Advances 2025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D73B0A-739B-8BE8-0DA6-7DCA053F91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SG" dirty="0" err="1"/>
              <a:t>PepPrCLIP</a:t>
            </a:r>
            <a:r>
              <a:rPr lang="en-SG" dirty="0"/>
              <a:t> is a peptide design pipeline</a:t>
            </a:r>
          </a:p>
          <a:p>
            <a:r>
              <a:rPr lang="en-US" dirty="0"/>
              <a:t>Compares its binders to </a:t>
            </a:r>
            <a:r>
              <a:rPr lang="en-US" dirty="0" err="1"/>
              <a:t>RFDiffusion’s</a:t>
            </a:r>
            <a:r>
              <a:rPr lang="en-US" dirty="0"/>
              <a:t> using AFM’s </a:t>
            </a:r>
            <a:r>
              <a:rPr lang="en-US" dirty="0" err="1"/>
              <a:t>ipTM</a:t>
            </a:r>
            <a:endParaRPr lang="en-US" dirty="0"/>
          </a:p>
          <a:p>
            <a:pPr lvl="1"/>
            <a:r>
              <a:rPr lang="en-US" dirty="0"/>
              <a:t>An example of a publication at a top venue that uses </a:t>
            </a:r>
            <a:r>
              <a:rPr lang="en-US" dirty="0" err="1"/>
              <a:t>ipTM</a:t>
            </a:r>
            <a:r>
              <a:rPr lang="en-US" dirty="0"/>
              <a:t> to show it’s better than a previous approach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9B4E93B-7AD4-E1A0-BD99-C4F5B00298E7}"/>
              </a:ext>
            </a:extLst>
          </p:cNvPr>
          <p:cNvSpPr txBox="1"/>
          <p:nvPr/>
        </p:nvSpPr>
        <p:spPr>
          <a:xfrm>
            <a:off x="271670" y="5943600"/>
            <a:ext cx="721017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De novo design of peptide binders to conformationally diverse targets with contrastive language modeling </a:t>
            </a:r>
            <a:r>
              <a:rPr lang="en-US" sz="1200" i="1" dirty="0"/>
              <a:t> </a:t>
            </a:r>
          </a:p>
          <a:p>
            <a:r>
              <a:rPr lang="en-US" sz="1200" i="1" dirty="0"/>
              <a:t>Science Advances </a:t>
            </a:r>
            <a:r>
              <a:rPr lang="en-US" sz="1200" dirty="0"/>
              <a:t>(Jan 2025)</a:t>
            </a:r>
          </a:p>
          <a:p>
            <a:r>
              <a:rPr lang="en-SG" sz="1200" dirty="0"/>
              <a:t>https://www.science.org/doi/10.1126/sciadv.adr8638</a:t>
            </a:r>
          </a:p>
          <a:p>
            <a:endParaRPr lang="en-SG" sz="1200" dirty="0"/>
          </a:p>
        </p:txBody>
      </p:sp>
    </p:spTree>
    <p:extLst>
      <p:ext uri="{BB962C8B-B14F-4D97-AF65-F5344CB8AC3E}">
        <p14:creationId xmlns:p14="http://schemas.microsoft.com/office/powerpoint/2010/main" val="235681049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6024CD-567C-6865-72E0-131B4DCA35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dirty="0" err="1"/>
              <a:t>BindCraft</a:t>
            </a:r>
            <a:r>
              <a:rPr lang="en-SG" dirty="0"/>
              <a:t> </a:t>
            </a:r>
            <a:br>
              <a:rPr lang="en-SG" dirty="0"/>
            </a:br>
            <a:r>
              <a:rPr lang="en-SG" i="1" dirty="0"/>
              <a:t>Nature</a:t>
            </a:r>
            <a:r>
              <a:rPr lang="en-SG" dirty="0"/>
              <a:t> 2025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5A69B6-CA82-4025-11F2-002642E528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Designed binders were filtered using AF2 metrics (including </a:t>
            </a:r>
            <a:r>
              <a:rPr lang="en-US" dirty="0" err="1"/>
              <a:t>pLDDT</a:t>
            </a:r>
            <a:r>
              <a:rPr lang="en-US" dirty="0"/>
              <a:t> &amp; </a:t>
            </a:r>
            <a:r>
              <a:rPr lang="en-US" dirty="0" err="1"/>
              <a:t>ipTM</a:t>
            </a:r>
            <a:r>
              <a:rPr lang="en-US" dirty="0"/>
              <a:t>)</a:t>
            </a:r>
          </a:p>
          <a:p>
            <a:r>
              <a:rPr lang="en-SG" dirty="0"/>
              <a:t>Binders were experimentally validated, showing a correlation b/w </a:t>
            </a:r>
            <a:r>
              <a:rPr lang="en-SG" dirty="0" err="1"/>
              <a:t>pLDDT</a:t>
            </a:r>
            <a:r>
              <a:rPr lang="en-SG" dirty="0"/>
              <a:t> &amp; </a:t>
            </a:r>
            <a:r>
              <a:rPr lang="en-SG" dirty="0" err="1"/>
              <a:t>ipTM</a:t>
            </a:r>
            <a:r>
              <a:rPr lang="en-SG" dirty="0"/>
              <a:t> and better experimental binding affinity</a:t>
            </a:r>
          </a:p>
        </p:txBody>
      </p:sp>
    </p:spTree>
    <p:extLst>
      <p:ext uri="{BB962C8B-B14F-4D97-AF65-F5344CB8AC3E}">
        <p14:creationId xmlns:p14="http://schemas.microsoft.com/office/powerpoint/2010/main" val="278579876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4EBDFE-D91D-F61F-72E0-102F0AB50F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PepMLM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D2EEBE-C093-586D-EDBC-6DF1FD97AE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SG" dirty="0" err="1"/>
              <a:t>PepMLM</a:t>
            </a:r>
            <a:r>
              <a:rPr lang="en-SG" dirty="0"/>
              <a:t> used </a:t>
            </a:r>
            <a:r>
              <a:rPr lang="en-US" dirty="0"/>
              <a:t>AF-based docking metrics including </a:t>
            </a:r>
            <a:r>
              <a:rPr lang="en-US" dirty="0" err="1"/>
              <a:t>pLDDT</a:t>
            </a:r>
            <a:r>
              <a:rPr lang="en-US" dirty="0"/>
              <a:t> and </a:t>
            </a:r>
            <a:r>
              <a:rPr lang="en-US" dirty="0" err="1"/>
              <a:t>ipTM</a:t>
            </a:r>
            <a:endParaRPr lang="en-US" dirty="0"/>
          </a:p>
          <a:p>
            <a:r>
              <a:rPr lang="en-US" dirty="0" err="1"/>
              <a:t>pLDDT</a:t>
            </a:r>
            <a:r>
              <a:rPr lang="en-US" dirty="0"/>
              <a:t> &amp; </a:t>
            </a:r>
            <a:r>
              <a:rPr lang="en-US" dirty="0" err="1"/>
              <a:t>ipTM</a:t>
            </a:r>
            <a:r>
              <a:rPr lang="en-US" dirty="0"/>
              <a:t>  are “</a:t>
            </a:r>
            <a:r>
              <a:rPr lang="en-SG" dirty="0"/>
              <a:t>verified metrics” that “</a:t>
            </a:r>
            <a:r>
              <a:rPr lang="en-US" dirty="0"/>
              <a:t>function as critical indicators of the structural integrity and the potential interface binding affinity of the peptide–protein complex”</a:t>
            </a:r>
            <a:endParaRPr lang="en-SG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E1AD1B8-832B-8126-0C9F-606114B9E756}"/>
              </a:ext>
            </a:extLst>
          </p:cNvPr>
          <p:cNvSpPr txBox="1"/>
          <p:nvPr/>
        </p:nvSpPr>
        <p:spPr>
          <a:xfrm>
            <a:off x="218661" y="6069496"/>
            <a:ext cx="608128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Target sequence-conditioned design of peptide binders using masked language modeling</a:t>
            </a:r>
          </a:p>
          <a:p>
            <a:r>
              <a:rPr lang="en-US" sz="1200" i="1" dirty="0"/>
              <a:t>Nature Biotechnology </a:t>
            </a:r>
            <a:r>
              <a:rPr lang="en-US" sz="1200" dirty="0"/>
              <a:t>(Aug 2025)</a:t>
            </a:r>
          </a:p>
          <a:p>
            <a:r>
              <a:rPr lang="en-SG" sz="1200" dirty="0"/>
              <a:t>https://www.nature.com/articles/s41587-025-02761-2</a:t>
            </a:r>
          </a:p>
        </p:txBody>
      </p:sp>
    </p:spTree>
    <p:extLst>
      <p:ext uri="{BB962C8B-B14F-4D97-AF65-F5344CB8AC3E}">
        <p14:creationId xmlns:p14="http://schemas.microsoft.com/office/powerpoint/2010/main" val="96215854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0A9534-5944-60D0-D801-035A35B57D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SG" dirty="0" err="1"/>
              <a:t>AlphaDesign</a:t>
            </a:r>
            <a:br>
              <a:rPr lang="en-SG" b="1" dirty="0"/>
            </a:br>
            <a:r>
              <a:rPr lang="en-US" i="1" dirty="0"/>
              <a:t>Molecular Systems Biology </a:t>
            </a:r>
            <a:r>
              <a:rPr lang="en-US" dirty="0"/>
              <a:t>2025</a:t>
            </a:r>
            <a:br>
              <a:rPr lang="en-US" dirty="0"/>
            </a:b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2B0E95-B564-5539-8A15-1804CABD57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SG" dirty="0" err="1"/>
              <a:t>AlphaDesign</a:t>
            </a:r>
            <a:r>
              <a:rPr lang="en-SG" dirty="0"/>
              <a:t> is a protein design framework</a:t>
            </a:r>
          </a:p>
          <a:p>
            <a:r>
              <a:rPr lang="en-SG" dirty="0"/>
              <a:t>Uses AF’s confidence metrics as an optimisation signal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F583B98-D47F-AEFE-0DAF-50A655522656}"/>
              </a:ext>
            </a:extLst>
          </p:cNvPr>
          <p:cNvSpPr txBox="1"/>
          <p:nvPr/>
        </p:nvSpPr>
        <p:spPr>
          <a:xfrm>
            <a:off x="218661" y="6069496"/>
            <a:ext cx="481144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/>
              <a:t>AlphaDesign</a:t>
            </a:r>
            <a:r>
              <a:rPr lang="en-US" sz="1200" dirty="0"/>
              <a:t>: a de novo protein design framework based on AlphaFold</a:t>
            </a:r>
          </a:p>
          <a:p>
            <a:r>
              <a:rPr lang="en-US" sz="1200" i="1" dirty="0"/>
              <a:t> Molecular Systems Biology </a:t>
            </a:r>
            <a:r>
              <a:rPr lang="en-US" sz="1200" dirty="0"/>
              <a:t>(Jun 2025)</a:t>
            </a:r>
          </a:p>
          <a:p>
            <a:r>
              <a:rPr lang="en-SG" sz="1200" dirty="0"/>
              <a:t>https://link.springer.com/article/10.1038/s44320-025-00119-z</a:t>
            </a:r>
          </a:p>
        </p:txBody>
      </p:sp>
    </p:spTree>
    <p:extLst>
      <p:ext uri="{BB962C8B-B14F-4D97-AF65-F5344CB8AC3E}">
        <p14:creationId xmlns:p14="http://schemas.microsoft.com/office/powerpoint/2010/main" val="422738823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514D0B-9B3C-D319-696C-BC512D1DD3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dirty="0"/>
              <a:t>More papers that were published despite no experimental binding affinity validation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3A71FA-04AC-8618-F388-9736A04A8C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SG" dirty="0" err="1"/>
              <a:t>ProDualNet</a:t>
            </a:r>
            <a:r>
              <a:rPr lang="en-SG" dirty="0"/>
              <a:t> </a:t>
            </a:r>
            <a:r>
              <a:rPr lang="en-SG" i="1" dirty="0"/>
              <a:t>Briefings in Bioinformatics</a:t>
            </a:r>
            <a:r>
              <a:rPr lang="en-SG" dirty="0"/>
              <a:t> 2025</a:t>
            </a:r>
          </a:p>
          <a:p>
            <a:pPr lvl="1"/>
            <a:r>
              <a:rPr lang="en-US" dirty="0"/>
              <a:t>evaluates designs in silico and explicitly uses </a:t>
            </a:r>
            <a:r>
              <a:rPr lang="en-US" dirty="0" err="1"/>
              <a:t>pLDDT</a:t>
            </a:r>
            <a:r>
              <a:rPr lang="en-US" dirty="0"/>
              <a:t> and </a:t>
            </a:r>
            <a:r>
              <a:rPr lang="en-US" dirty="0" err="1"/>
              <a:t>ipTM</a:t>
            </a:r>
            <a:r>
              <a:rPr lang="en-US" dirty="0"/>
              <a:t> as ranking/quality metrics</a:t>
            </a:r>
          </a:p>
          <a:p>
            <a:pPr lvl="1"/>
            <a:r>
              <a:rPr lang="en-US" dirty="0"/>
              <a:t>Outperforms baseline (</a:t>
            </a:r>
            <a:r>
              <a:rPr lang="en-US" dirty="0" err="1"/>
              <a:t>ProteinMPNN</a:t>
            </a:r>
            <a:r>
              <a:rPr lang="en-US" dirty="0"/>
              <a:t> variants etc.) using these metrics</a:t>
            </a:r>
          </a:p>
          <a:p>
            <a:r>
              <a:rPr lang="en-US" dirty="0"/>
              <a:t>Automated and modular protein binder design with </a:t>
            </a:r>
            <a:r>
              <a:rPr lang="en-US" dirty="0" err="1"/>
              <a:t>BinderFlow</a:t>
            </a:r>
            <a:r>
              <a:rPr lang="en-US" dirty="0"/>
              <a:t> </a:t>
            </a:r>
            <a:r>
              <a:rPr lang="en-SG" i="1" dirty="0"/>
              <a:t>PLOS Computational Biology 2025 </a:t>
            </a:r>
          </a:p>
          <a:p>
            <a:r>
              <a:rPr lang="en-US" dirty="0"/>
              <a:t>Rapid and accurate prediction of protein homo-oligomer symmetry using Seq2Symm </a:t>
            </a:r>
            <a:r>
              <a:rPr lang="en-US" i="1" dirty="0"/>
              <a:t>Nature Communications </a:t>
            </a:r>
            <a:r>
              <a:rPr lang="en-US" dirty="0"/>
              <a:t>2025</a:t>
            </a:r>
          </a:p>
          <a:p>
            <a:r>
              <a:rPr lang="en-SG" dirty="0"/>
              <a:t>APM: An All-Atom Generative Model for Designing Protein Complexes </a:t>
            </a:r>
            <a:r>
              <a:rPr lang="en-SG" i="1" dirty="0"/>
              <a:t>ICML</a:t>
            </a:r>
            <a:r>
              <a:rPr lang="en-SG" dirty="0"/>
              <a:t> 2025</a:t>
            </a:r>
          </a:p>
          <a:p>
            <a:endParaRPr lang="en-US" b="1" dirty="0"/>
          </a:p>
          <a:p>
            <a:endParaRPr lang="en-US" dirty="0"/>
          </a:p>
          <a:p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239986192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D4E266-A7F6-3A59-1B98-0570B8339E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dirty="0"/>
              <a:t>Conclusion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8F3906-FC5F-CEB3-AFBC-5F61F10ADD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SG" dirty="0"/>
              <a:t>It’s common for publications that are proposing new protein design methods to use AF confidence metrics, without experimental validation</a:t>
            </a:r>
          </a:p>
        </p:txBody>
      </p:sp>
    </p:spTree>
    <p:extLst>
      <p:ext uri="{BB962C8B-B14F-4D97-AF65-F5344CB8AC3E}">
        <p14:creationId xmlns:p14="http://schemas.microsoft.com/office/powerpoint/2010/main" val="370450277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70E35D-6035-87C4-CAC7-EBA2191F13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94DC5E-BCBF-75BB-47C9-2813AD8C48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dirty="0"/>
              <a:t>Literature review of AF confidence metrics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DB551F-4AE5-2397-AD41-8236286888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SG" dirty="0"/>
              <a:t>Literature Review focusing on experimental data similar to ours:</a:t>
            </a:r>
          </a:p>
          <a:p>
            <a:r>
              <a:rPr lang="en-SG" dirty="0"/>
              <a:t>Protein-peptide docking</a:t>
            </a:r>
          </a:p>
          <a:p>
            <a:r>
              <a:rPr lang="en-SG" dirty="0"/>
              <a:t>Peptide binders of small length (20)</a:t>
            </a:r>
          </a:p>
          <a:p>
            <a:r>
              <a:rPr lang="en-SG" dirty="0"/>
              <a:t>Targets similar to ours:</a:t>
            </a:r>
          </a:p>
          <a:p>
            <a:pPr lvl="1"/>
            <a:r>
              <a:rPr lang="en-SG" dirty="0"/>
              <a:t>CCR4</a:t>
            </a:r>
          </a:p>
          <a:p>
            <a:pPr lvl="1"/>
            <a:r>
              <a:rPr lang="en-SG" dirty="0"/>
              <a:t>CRTH2</a:t>
            </a:r>
          </a:p>
          <a:p>
            <a:pPr lvl="1"/>
            <a:r>
              <a:rPr lang="en-SG" dirty="0"/>
              <a:t>ICOS</a:t>
            </a:r>
          </a:p>
          <a:p>
            <a:pPr lvl="1"/>
            <a:r>
              <a:rPr lang="en-SG" dirty="0"/>
              <a:t>CD4</a:t>
            </a:r>
          </a:p>
          <a:p>
            <a:r>
              <a:rPr lang="en-SG" dirty="0"/>
              <a:t>Can the combination of </a:t>
            </a:r>
            <a:r>
              <a:rPr lang="en-SG" dirty="0" err="1"/>
              <a:t>pLDDT</a:t>
            </a:r>
            <a:r>
              <a:rPr lang="en-SG" dirty="0"/>
              <a:t> + </a:t>
            </a:r>
            <a:r>
              <a:rPr lang="en-SG" dirty="0" err="1"/>
              <a:t>ipTM</a:t>
            </a:r>
            <a:r>
              <a:rPr lang="en-SG" dirty="0"/>
              <a:t> predict experimental binding affinity?</a:t>
            </a:r>
          </a:p>
        </p:txBody>
      </p:sp>
    </p:spTree>
    <p:extLst>
      <p:ext uri="{BB962C8B-B14F-4D97-AF65-F5344CB8AC3E}">
        <p14:creationId xmlns:p14="http://schemas.microsoft.com/office/powerpoint/2010/main" val="20578100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B62B7D-1ED0-2C70-B19F-D4C3CFDCAD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dirty="0"/>
              <a:t>EvoBind2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37C5A7-293E-5853-5423-5303C6417B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EvoBind2 designs peptide binders for a target protein</a:t>
            </a:r>
          </a:p>
          <a:p>
            <a:r>
              <a:rPr lang="en-US" dirty="0"/>
              <a:t>Binders evaluated using </a:t>
            </a:r>
            <a:r>
              <a:rPr lang="en-US" dirty="0" err="1"/>
              <a:t>pLDDT</a:t>
            </a:r>
            <a:r>
              <a:rPr lang="en-US" dirty="0"/>
              <a:t> &amp; AlphaFold-Multimer (AFM) Loss</a:t>
            </a:r>
          </a:p>
          <a:p>
            <a:r>
              <a:rPr lang="en-US" dirty="0"/>
              <a:t>Experimentally validated their designed binders</a:t>
            </a:r>
          </a:p>
          <a:p>
            <a:r>
              <a:rPr lang="en-US" dirty="0"/>
              <a:t>Binder lengths were 8-20aa</a:t>
            </a:r>
          </a:p>
          <a:p>
            <a:r>
              <a:rPr lang="en-US" dirty="0" err="1"/>
              <a:t>pLDDT</a:t>
            </a:r>
            <a:r>
              <a:rPr lang="en-US" dirty="0"/>
              <a:t> is a good predictor of binding affinity</a:t>
            </a:r>
          </a:p>
          <a:p>
            <a:endParaRPr lang="en-SG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9FB8D1F-67E9-CA14-2E47-9E5D443396F0}"/>
              </a:ext>
            </a:extLst>
          </p:cNvPr>
          <p:cNvSpPr txBox="1"/>
          <p:nvPr/>
        </p:nvSpPr>
        <p:spPr>
          <a:xfrm>
            <a:off x="483704" y="5877339"/>
            <a:ext cx="536999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Design of linear and cyclic peptide binders from protein sequence information </a:t>
            </a:r>
          </a:p>
          <a:p>
            <a:r>
              <a:rPr lang="en-US" sz="1200" i="1" dirty="0"/>
              <a:t>Nature</a:t>
            </a:r>
            <a:r>
              <a:rPr lang="en-US" sz="1200" dirty="0"/>
              <a:t> (July 2025)</a:t>
            </a:r>
          </a:p>
          <a:p>
            <a:r>
              <a:rPr lang="en-US" sz="1200" dirty="0"/>
              <a:t>https://www.nature.com/articles/s42004-025-01601-3</a:t>
            </a:r>
          </a:p>
          <a:p>
            <a:endParaRPr lang="en-SG" sz="1200" dirty="0"/>
          </a:p>
        </p:txBody>
      </p:sp>
    </p:spTree>
    <p:extLst>
      <p:ext uri="{BB962C8B-B14F-4D97-AF65-F5344CB8AC3E}">
        <p14:creationId xmlns:p14="http://schemas.microsoft.com/office/powerpoint/2010/main" val="262142672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3ECAC8-D213-32C7-9329-3ADF456767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3BEC81-2791-8652-25A6-61012E7B47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dirty="0"/>
              <a:t>EvoBind2 Results</a:t>
            </a:r>
          </a:p>
        </p:txBody>
      </p:sp>
      <p:sp>
        <p:nvSpPr>
          <p:cNvPr id="4" name="AutoShape 2">
            <a:extLst>
              <a:ext uri="{FF2B5EF4-FFF2-40B4-BE49-F238E27FC236}">
                <a16:creationId xmlns:a16="http://schemas.microsoft.com/office/drawing/2014/main" id="{6DCEA376-BB47-8B5E-61A8-5439ED1BE3C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SG"/>
          </a:p>
        </p:txBody>
      </p:sp>
      <p:pic>
        <p:nvPicPr>
          <p:cNvPr id="8198" name="Picture 6" descr="figure 4">
            <a:extLst>
              <a:ext uri="{FF2B5EF4-FFF2-40B4-BE49-F238E27FC236}">
                <a16:creationId xmlns:a16="http://schemas.microsoft.com/office/drawing/2014/main" id="{6CF15502-D085-B5AD-E07E-6C37DE65E9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40470" y="695153"/>
            <a:ext cx="6476567" cy="55783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9CA152B-BF9D-7927-EFF2-663E8B35702C}"/>
              </a:ext>
            </a:extLst>
          </p:cNvPr>
          <p:cNvSpPr txBox="1"/>
          <p:nvPr/>
        </p:nvSpPr>
        <p:spPr>
          <a:xfrm>
            <a:off x="574963" y="1740935"/>
            <a:ext cx="4063298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Spearman correlation:</a:t>
            </a:r>
          </a:p>
          <a:p>
            <a:pPr lvl="1"/>
            <a:r>
              <a:rPr lang="en-US" dirty="0"/>
              <a:t>Ranging from -1 to +1, it assesses how well the relationship between variables can be described using a monotonic function. Unlike Pearson’s correlation, it does not require linear relationships or normal distribution, making it robust to outliers</a:t>
            </a:r>
          </a:p>
          <a:p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396084906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03DF27-C695-961B-47AC-BA76FD7ACF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E0998F-B2EA-2FCF-340F-BA7A0D15DA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dirty="0"/>
              <a:t>EvoBind2 Results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473CC1-D291-F60A-372B-F36BCC7086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The best indicator for affinity is the AFM loss, with a Spearman correlation of 0.96</a:t>
            </a:r>
          </a:p>
          <a:p>
            <a:r>
              <a:rPr lang="en-US" dirty="0"/>
              <a:t>Positive correlation (higher </a:t>
            </a:r>
            <a:r>
              <a:rPr lang="en-US" dirty="0" err="1"/>
              <a:t>plDDT</a:t>
            </a:r>
            <a:r>
              <a:rPr lang="en-US" dirty="0"/>
              <a:t>, higher affinity) with AFM </a:t>
            </a:r>
            <a:r>
              <a:rPr lang="en-US" dirty="0" err="1"/>
              <a:t>plDDT</a:t>
            </a:r>
            <a:r>
              <a:rPr lang="en-US" dirty="0"/>
              <a:t> (</a:t>
            </a:r>
            <a:r>
              <a:rPr lang="en-US" i="1" dirty="0"/>
              <a:t>R </a:t>
            </a:r>
            <a:r>
              <a:rPr lang="en-US" dirty="0"/>
              <a:t>= −0.54)</a:t>
            </a:r>
          </a:p>
          <a:p>
            <a:r>
              <a:rPr lang="en-US" dirty="0"/>
              <a:t>Lower correlation with PAE (R=</a:t>
            </a:r>
            <a:r>
              <a:rPr lang="en-SG" dirty="0"/>
              <a:t>0.51)</a:t>
            </a:r>
          </a:p>
          <a:p>
            <a:r>
              <a:rPr lang="en-SG" dirty="0"/>
              <a:t>Results show that </a:t>
            </a:r>
            <a:r>
              <a:rPr lang="en-SG" dirty="0" err="1"/>
              <a:t>pLDDT</a:t>
            </a:r>
            <a:r>
              <a:rPr lang="en-SG" dirty="0"/>
              <a:t> can be a good indicator of binding affinity for small-length peptide binders</a:t>
            </a:r>
          </a:p>
          <a:p>
            <a:r>
              <a:rPr lang="en-SG" dirty="0"/>
              <a:t>They did not use </a:t>
            </a:r>
            <a:r>
              <a:rPr lang="en-SG" dirty="0" err="1"/>
              <a:t>pTM</a:t>
            </a:r>
            <a:r>
              <a:rPr lang="en-SG" dirty="0"/>
              <a:t> or </a:t>
            </a:r>
            <a:r>
              <a:rPr lang="en-SG" dirty="0" err="1"/>
              <a:t>ipTM</a:t>
            </a:r>
            <a:endParaRPr lang="en-SG" dirty="0"/>
          </a:p>
        </p:txBody>
      </p:sp>
      <p:sp>
        <p:nvSpPr>
          <p:cNvPr id="4" name="AutoShape 2">
            <a:extLst>
              <a:ext uri="{FF2B5EF4-FFF2-40B4-BE49-F238E27FC236}">
                <a16:creationId xmlns:a16="http://schemas.microsoft.com/office/drawing/2014/main" id="{FE8494A0-4F9B-7470-19FF-000A52BC71A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58000856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F6CEBF-CBD6-ED69-6E71-CD6151700A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dirty="0"/>
              <a:t>More papers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14DF6E-F37D-23E7-D567-A53572341E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dirty="0" err="1"/>
              <a:t>PepMLM</a:t>
            </a:r>
            <a:r>
              <a:rPr lang="en-US" dirty="0"/>
              <a:t>: Target sequence-conditioned design of peptide binders using masked language modeling </a:t>
            </a:r>
            <a:r>
              <a:rPr lang="en-US" i="1" dirty="0"/>
              <a:t>Nature Biotechnology</a:t>
            </a:r>
            <a:r>
              <a:rPr lang="en-US" dirty="0"/>
              <a:t> (Aug 2025)</a:t>
            </a:r>
          </a:p>
          <a:p>
            <a:pPr lvl="1"/>
            <a:r>
              <a:rPr lang="en-US" dirty="0"/>
              <a:t>Used </a:t>
            </a:r>
            <a:r>
              <a:rPr lang="en-US" dirty="0" err="1"/>
              <a:t>pLDDT</a:t>
            </a:r>
            <a:r>
              <a:rPr lang="en-US" dirty="0"/>
              <a:t> &amp; </a:t>
            </a:r>
            <a:r>
              <a:rPr lang="en-US" dirty="0" err="1"/>
              <a:t>ipTM</a:t>
            </a:r>
            <a:endParaRPr lang="en-US" dirty="0"/>
          </a:p>
          <a:p>
            <a:pPr lvl="1"/>
            <a:r>
              <a:rPr lang="en-US" dirty="0"/>
              <a:t>In a peptide design benchmark, higher </a:t>
            </a:r>
            <a:r>
              <a:rPr lang="en-US" dirty="0" err="1"/>
              <a:t>ipTM</a:t>
            </a:r>
            <a:r>
              <a:rPr lang="en-US" dirty="0"/>
              <a:t> scores were used to identify successful binders, and designs with higher </a:t>
            </a:r>
            <a:r>
              <a:rPr lang="en-US" dirty="0" err="1"/>
              <a:t>ipTM</a:t>
            </a:r>
            <a:r>
              <a:rPr lang="en-US" dirty="0"/>
              <a:t> achieved higher hit rates</a:t>
            </a:r>
          </a:p>
          <a:p>
            <a:r>
              <a:rPr lang="en-US" dirty="0"/>
              <a:t>Protein structure prediction implicitly define binding energy functions </a:t>
            </a:r>
            <a:r>
              <a:rPr lang="en-SG" i="1" dirty="0"/>
              <a:t>ICLR 2025 </a:t>
            </a:r>
            <a:endParaRPr lang="en-US" i="1" dirty="0"/>
          </a:p>
          <a:p>
            <a:pPr lvl="1"/>
            <a:r>
              <a:rPr lang="en-US" dirty="0"/>
              <a:t>AlphaFold confidence metrics are predictive of biological interface quality and binding behavior</a:t>
            </a:r>
          </a:p>
          <a:p>
            <a:r>
              <a:rPr lang="en-US" dirty="0"/>
              <a:t>Evaluation of AlphaFold-Multimer prediction on multi-chain protein complexes </a:t>
            </a:r>
            <a:r>
              <a:rPr lang="en-US" i="1" dirty="0"/>
              <a:t>Bioinformatics </a:t>
            </a:r>
            <a:r>
              <a:rPr lang="en-US" dirty="0"/>
              <a:t>(July 2023)</a:t>
            </a:r>
          </a:p>
          <a:p>
            <a:pPr lvl="1"/>
            <a:r>
              <a:rPr lang="en-US" dirty="0"/>
              <a:t>large benchmark study on AlphaFold-Multimer shows that interface-focused confidence metrics can identify correct interfaces more reliably than global structural confidence alone</a:t>
            </a:r>
          </a:p>
          <a:p>
            <a:pPr lvl="1"/>
            <a:r>
              <a:rPr lang="en-US" dirty="0"/>
              <a:t>Suggests that a combination of </a:t>
            </a:r>
            <a:r>
              <a:rPr lang="en-US" dirty="0" err="1"/>
              <a:t>pLDDT</a:t>
            </a:r>
            <a:r>
              <a:rPr lang="en-US" dirty="0"/>
              <a:t> + </a:t>
            </a:r>
            <a:r>
              <a:rPr lang="en-US" dirty="0" err="1"/>
              <a:t>ipTM</a:t>
            </a:r>
            <a:r>
              <a:rPr lang="en-US" dirty="0"/>
              <a:t> would be good</a:t>
            </a:r>
          </a:p>
          <a:p>
            <a:r>
              <a:rPr lang="en-US" dirty="0"/>
              <a:t>AlphaFold-Multimer accurately captures interactions and dynamics of intrinsically disordered protein regions </a:t>
            </a:r>
            <a:r>
              <a:rPr lang="en-US" i="1" dirty="0"/>
              <a:t>PNAS (Oct 2024)</a:t>
            </a:r>
          </a:p>
          <a:p>
            <a:pPr lvl="1"/>
            <a:r>
              <a:rPr lang="en-US" dirty="0"/>
              <a:t>explicitly shows that AlphaFold-Multimer confidence scores (</a:t>
            </a:r>
            <a:r>
              <a:rPr lang="en-US" i="1" dirty="0" err="1"/>
              <a:t>ipTM</a:t>
            </a:r>
            <a:r>
              <a:rPr lang="en-US" dirty="0"/>
              <a:t>) correlate with </a:t>
            </a:r>
            <a:r>
              <a:rPr lang="en-SG" dirty="0"/>
              <a:t>true interaction quality</a:t>
            </a:r>
          </a:p>
          <a:p>
            <a:endParaRPr lang="en-US" dirty="0"/>
          </a:p>
          <a:p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229540642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3CDCEE-DDEF-6162-D1E7-58BBBF01FA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dirty="0"/>
              <a:t>More Papers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E9F946-D6A3-41E1-277B-025E86F450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Improving de novo protein binder design with deep learning</a:t>
            </a:r>
            <a:br>
              <a:rPr lang="en-US" dirty="0"/>
            </a:br>
            <a:r>
              <a:rPr lang="en-US" i="1" dirty="0"/>
              <a:t>Nature Communications 2023</a:t>
            </a:r>
          </a:p>
          <a:p>
            <a:pPr lvl="1"/>
            <a:r>
              <a:rPr lang="en-US" dirty="0"/>
              <a:t>They report that using AlphaFold2 or </a:t>
            </a:r>
            <a:r>
              <a:rPr lang="en-US" dirty="0" err="1"/>
              <a:t>RoseTTAFold</a:t>
            </a:r>
            <a:r>
              <a:rPr lang="en-US" dirty="0"/>
              <a:t> to assess whether designs adopt the monomer fold and bind the target “increases design success rates nearly 10-fold” </a:t>
            </a:r>
          </a:p>
          <a:p>
            <a:r>
              <a:rPr lang="en-US" dirty="0"/>
              <a:t>AlphaFold-Multimer predicts cross-kingdom interactions at the plant-pathogen interface </a:t>
            </a:r>
            <a:r>
              <a:rPr lang="en-US" i="1" dirty="0"/>
              <a:t>Nature Communications </a:t>
            </a:r>
            <a:r>
              <a:rPr lang="en-US" dirty="0"/>
              <a:t>2023</a:t>
            </a:r>
          </a:p>
          <a:p>
            <a:pPr lvl="1"/>
            <a:r>
              <a:rPr lang="en-US" dirty="0"/>
              <a:t>Uses </a:t>
            </a:r>
            <a:r>
              <a:rPr lang="en-US" dirty="0" err="1"/>
              <a:t>ipTM+pTM</a:t>
            </a:r>
            <a:r>
              <a:rPr lang="en-US" dirty="0"/>
              <a:t> thresholds and </a:t>
            </a:r>
            <a:r>
              <a:rPr lang="en-US" dirty="0" err="1"/>
              <a:t>pLDDT</a:t>
            </a:r>
            <a:r>
              <a:rPr lang="en-US" dirty="0"/>
              <a:t> patterns to screen predicted complexes, and then confirms several predicted inhibitors experimentally</a:t>
            </a:r>
          </a:p>
          <a:p>
            <a:endParaRPr lang="en-US" dirty="0"/>
          </a:p>
          <a:p>
            <a:pPr lvl="1"/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259554348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3E5BB6-0F67-1DCB-DFE8-DAD25DA8E3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dirty="0"/>
              <a:t>Conclusion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1AA44A-BC96-C4CA-06D2-DCD10D8F57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SG" dirty="0"/>
              <a:t>Many publications show that AF confidence metrics can be good predictors of a experimentally validated good binders</a:t>
            </a:r>
          </a:p>
        </p:txBody>
      </p:sp>
    </p:spTree>
    <p:extLst>
      <p:ext uri="{BB962C8B-B14F-4D97-AF65-F5344CB8AC3E}">
        <p14:creationId xmlns:p14="http://schemas.microsoft.com/office/powerpoint/2010/main" val="284484692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E27A57-A775-1A3D-8693-9214B72388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SG" dirty="0"/>
              <a:t>Counterexample:</a:t>
            </a:r>
            <a:br>
              <a:rPr lang="en-SG" dirty="0"/>
            </a:br>
            <a:r>
              <a:rPr lang="en-SG" dirty="0" err="1"/>
              <a:t>Adaptyv’s</a:t>
            </a:r>
            <a:r>
              <a:rPr lang="en-SG" dirty="0"/>
              <a:t> Protein Design Competition</a:t>
            </a:r>
            <a:br>
              <a:rPr lang="en-SG" b="1" dirty="0"/>
            </a:br>
            <a:r>
              <a:rPr lang="en-SG" dirty="0"/>
              <a:t> (Dec 2024)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5FFAC7-24CD-068A-BEDB-4EF64702DD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SG" dirty="0" err="1"/>
              <a:t>Adaptyv</a:t>
            </a:r>
            <a:r>
              <a:rPr lang="en-SG" dirty="0"/>
              <a:t> is a Swiss protein engineering cloud lab @ the University of Lausanne</a:t>
            </a:r>
          </a:p>
          <a:p>
            <a:r>
              <a:rPr lang="en-SG" dirty="0"/>
              <a:t>They held a Protein Design </a:t>
            </a:r>
            <a:r>
              <a:rPr lang="en-SG" dirty="0" err="1"/>
              <a:t>Comptetition</a:t>
            </a:r>
            <a:r>
              <a:rPr lang="en-SG" dirty="0"/>
              <a:t> where </a:t>
            </a:r>
            <a:r>
              <a:rPr lang="en-US" dirty="0"/>
              <a:t>130 designers created de novo in silico binders for EGFR</a:t>
            </a:r>
          </a:p>
          <a:p>
            <a:pPr marL="0" indent="0">
              <a:buNone/>
            </a:pPr>
            <a:r>
              <a:rPr lang="en-SG" dirty="0"/>
              <a:t>https://www.adaptyvbio.com/blog/po104</a:t>
            </a:r>
          </a:p>
        </p:txBody>
      </p:sp>
    </p:spTree>
    <p:extLst>
      <p:ext uri="{BB962C8B-B14F-4D97-AF65-F5344CB8AC3E}">
        <p14:creationId xmlns:p14="http://schemas.microsoft.com/office/powerpoint/2010/main" val="294551149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02849E-01C6-55D2-9E77-63C5CC204A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ACFEC6-D9CA-3202-B4C6-73F095BBE5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dirty="0" err="1"/>
              <a:t>Adaptyv’s</a:t>
            </a:r>
            <a:r>
              <a:rPr lang="en-SG" dirty="0"/>
              <a:t> Protein Design Competition</a:t>
            </a:r>
            <a:br>
              <a:rPr lang="en-SG" b="1" dirty="0"/>
            </a:br>
            <a:r>
              <a:rPr lang="en-SG" dirty="0"/>
              <a:t> (Dec 2024)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4E0380-36D8-050A-7601-1FFC121535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They tasked designers to create new protein binders for EGFR, an important binding target for therapeutic proteins. 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They then ranked them based on a weighted score of 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/>
              <a:t>AlphaFold2’s </a:t>
            </a:r>
            <a:r>
              <a:rPr lang="en-US" dirty="0" err="1"/>
              <a:t>ipTM</a:t>
            </a:r>
            <a:r>
              <a:rPr lang="en-US" dirty="0"/>
              <a:t> and </a:t>
            </a:r>
            <a:r>
              <a:rPr lang="en-US" dirty="0" err="1"/>
              <a:t>iPAE</a:t>
            </a:r>
            <a:r>
              <a:rPr lang="en-US" dirty="0"/>
              <a:t> (</a:t>
            </a:r>
            <a:r>
              <a:rPr lang="en-US" dirty="0" err="1"/>
              <a:t>pae</a:t>
            </a:r>
            <a:r>
              <a:rPr lang="en-US" dirty="0"/>
              <a:t> but only for inter-chain pairs) metrics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/>
              <a:t>ESM2 pseudolikelihood (ESM2 PLL), a measure of how “natural” a sequence looks like given ESM2 learned distribution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From these, they chose 400 sequences to be tested experimentally in their lab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US" dirty="0"/>
              <a:t>The top 100 as determined by the rankings</a:t>
            </a:r>
          </a:p>
          <a:p>
            <a:pPr marL="971550" lvl="1" indent="-514350">
              <a:buFont typeface="+mj-lt"/>
              <a:buAutoNum type="arabicPeriod"/>
            </a:pPr>
            <a:r>
              <a:rPr lang="en-SG" dirty="0"/>
              <a:t>Another 300 handpicked by them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5301571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20A82B-F63D-A351-A55B-8E5C093026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FFB81B-923D-1DDC-36C5-543A5802BF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dirty="0" err="1"/>
              <a:t>Adaptyv’s</a:t>
            </a:r>
            <a:r>
              <a:rPr lang="en-SG" dirty="0"/>
              <a:t> Protein Design Competition</a:t>
            </a:r>
            <a:br>
              <a:rPr lang="en-SG" b="1" dirty="0"/>
            </a:br>
            <a:r>
              <a:rPr lang="en-SG" dirty="0"/>
              <a:t>Results (Dec 2024)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B21F0D-551F-1F90-8D1E-D916F655D7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Out of 400 tested proteins, 378 expressed successfully (95%) and 53 of these bound to their target EGFR (14% success rate). </a:t>
            </a:r>
          </a:p>
          <a:p>
            <a:r>
              <a:rPr lang="en-US" dirty="0"/>
              <a:t>This represents a 5x improvement in binding success compared to just three months ago. </a:t>
            </a:r>
          </a:p>
          <a:p>
            <a:r>
              <a:rPr lang="en-US" dirty="0"/>
              <a:t>The best designs even matched or exceeded the performance of Merck's Cetuximab, a clinically approved therapeutic antibody</a:t>
            </a:r>
          </a:p>
        </p:txBody>
      </p:sp>
    </p:spTree>
    <p:extLst>
      <p:ext uri="{BB962C8B-B14F-4D97-AF65-F5344CB8AC3E}">
        <p14:creationId xmlns:p14="http://schemas.microsoft.com/office/powerpoint/2010/main" val="308028032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7943CF-A65D-F32D-84D5-DD3D08FBE5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72D4A9-5EE0-ECDC-0C30-1F9E020428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dirty="0" err="1"/>
              <a:t>Adaptyv’s</a:t>
            </a:r>
            <a:r>
              <a:rPr lang="en-SG" dirty="0"/>
              <a:t> Protein Design Competition</a:t>
            </a:r>
            <a:br>
              <a:rPr lang="en-SG" b="1" dirty="0"/>
            </a:br>
            <a:r>
              <a:rPr lang="en-SG" dirty="0"/>
              <a:t>Results (Dec 2024)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FC1DD1-C4D6-FE0A-E767-81F5486B82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Top 3 spots were dominated by redesigned binders, from known antibody therapeutics, to nanobodies and binders from nature</a:t>
            </a:r>
          </a:p>
          <a:p>
            <a:r>
              <a:rPr lang="en-US" dirty="0"/>
              <a:t>Suggesting mutational strategies beat out de novo ones</a:t>
            </a:r>
          </a:p>
        </p:txBody>
      </p:sp>
    </p:spTree>
    <p:extLst>
      <p:ext uri="{BB962C8B-B14F-4D97-AF65-F5344CB8AC3E}">
        <p14:creationId xmlns:p14="http://schemas.microsoft.com/office/powerpoint/2010/main" val="427932721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9F66D8-E321-6235-6A61-51560A91A3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4A9519-2260-A996-270D-FB8414E5E2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dirty="0" err="1"/>
              <a:t>Adaptyv’s</a:t>
            </a:r>
            <a:r>
              <a:rPr lang="en-SG" dirty="0"/>
              <a:t> Protein Design Competition</a:t>
            </a:r>
            <a:br>
              <a:rPr lang="en-SG" b="1" dirty="0"/>
            </a:br>
            <a:r>
              <a:rPr lang="en-SG" dirty="0"/>
              <a:t>Results (Dec 2024)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236702-A51D-4AE9-931D-1A3D3720DC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They also wanted to see whether the new metrics had an impact on the number of resulting binders</a:t>
            </a:r>
          </a:p>
          <a:p>
            <a:r>
              <a:rPr lang="en-US" dirty="0"/>
              <a:t>“The causal relationship is still blurry. Did any of these metrics (</a:t>
            </a:r>
            <a:r>
              <a:rPr lang="en-US" dirty="0" err="1"/>
              <a:t>ipTM</a:t>
            </a:r>
            <a:r>
              <a:rPr lang="en-US" dirty="0"/>
              <a:t>, </a:t>
            </a:r>
            <a:r>
              <a:rPr lang="en-US" dirty="0" err="1"/>
              <a:t>iPAE</a:t>
            </a:r>
            <a:r>
              <a:rPr lang="en-US" dirty="0"/>
              <a:t>, ESM2 PLL) play a actual role in predicting binders?”</a:t>
            </a:r>
          </a:p>
          <a:p>
            <a:r>
              <a:rPr lang="en-US" dirty="0"/>
              <a:t>“But, we can highlight our main conclusion: landing in the top 100 w.r.t </a:t>
            </a:r>
            <a:r>
              <a:rPr lang="en-US" i="1" dirty="0"/>
              <a:t>in silico</a:t>
            </a:r>
            <a:r>
              <a:rPr lang="en-US" dirty="0"/>
              <a:t> metrics played no detectable role in increasing the binding affinity.”</a:t>
            </a:r>
          </a:p>
          <a:p>
            <a:r>
              <a:rPr lang="en-US" dirty="0"/>
              <a:t>Both in this competition and across the field, we still struggle to predict binding success through computational metrics</a:t>
            </a: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4549170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BD53BB-38A8-8C72-F8F3-E46919BD59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A6C741-F81B-464F-8095-C8505E989D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dirty="0" err="1"/>
              <a:t>Adaptyv’s</a:t>
            </a:r>
            <a:r>
              <a:rPr lang="en-SG" dirty="0"/>
              <a:t> Protein Design Competition</a:t>
            </a:r>
            <a:br>
              <a:rPr lang="en-SG" b="1" dirty="0"/>
            </a:br>
            <a:r>
              <a:rPr lang="en-SG" dirty="0"/>
              <a:t>Results (Dec 2024)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A3ECB8-7387-E574-7097-E343FD0B80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They also wanted to see whether the new metrics had an impact on the number of resulting binders</a:t>
            </a:r>
          </a:p>
          <a:p>
            <a:r>
              <a:rPr lang="en-US" dirty="0"/>
              <a:t>“The causal relationship is still blurry. Did any of these metrics (</a:t>
            </a:r>
            <a:r>
              <a:rPr lang="en-US" dirty="0" err="1"/>
              <a:t>ipTM</a:t>
            </a:r>
            <a:r>
              <a:rPr lang="en-US" dirty="0"/>
              <a:t>, </a:t>
            </a:r>
            <a:r>
              <a:rPr lang="en-US" dirty="0" err="1"/>
              <a:t>iPAE</a:t>
            </a:r>
            <a:r>
              <a:rPr lang="en-US" dirty="0"/>
              <a:t>, ESM2 PLL) play a actual role in predicting binders?”</a:t>
            </a:r>
          </a:p>
          <a:p>
            <a:r>
              <a:rPr lang="en-US" dirty="0"/>
              <a:t>“But, we can highlight our main conclusion: landing in the top 100 w.r.t </a:t>
            </a:r>
            <a:r>
              <a:rPr lang="en-US" i="1" dirty="0"/>
              <a:t>in silico</a:t>
            </a:r>
            <a:r>
              <a:rPr lang="en-US" dirty="0"/>
              <a:t> metrics played no detectable role in increasing the binding affinity.”</a:t>
            </a:r>
          </a:p>
          <a:p>
            <a:r>
              <a:rPr lang="en-US" dirty="0"/>
              <a:t>Both in this competition and across the field, we still struggle to predict binding success through computational metrics</a:t>
            </a: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261802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DE3C86-DD0D-8D5D-C56D-AD8014CDD5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8C7FFC-64AF-7B86-4A40-F43500A4C4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SG" dirty="0" err="1"/>
              <a:t>Adaptyv’s</a:t>
            </a:r>
            <a:r>
              <a:rPr lang="en-SG" dirty="0"/>
              <a:t> </a:t>
            </a:r>
            <a:r>
              <a:rPr lang="en-SG" b="1" dirty="0"/>
              <a:t>Nipah Protein Design Competition </a:t>
            </a:r>
            <a:br>
              <a:rPr lang="en-SG" b="1" dirty="0"/>
            </a:br>
            <a:r>
              <a:rPr lang="en-SG" dirty="0"/>
              <a:t>(Dec 2025)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992EFE-79C6-5D6B-9AFA-F18014A056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They’re currently testing all 1200 selected designs</a:t>
            </a:r>
          </a:p>
          <a:p>
            <a:r>
              <a:rPr lang="en-US" dirty="0"/>
              <a:t>Boltz-2 </a:t>
            </a:r>
            <a:r>
              <a:rPr lang="en-US" dirty="0" err="1"/>
              <a:t>ipSAE</a:t>
            </a:r>
            <a:r>
              <a:rPr lang="en-US" dirty="0"/>
              <a:t> score for filtering</a:t>
            </a:r>
          </a:p>
          <a:p>
            <a:r>
              <a:rPr lang="en-US" dirty="0"/>
              <a:t>Many participants evaluated their designs locally prior to submission and encountered reproducibility issues of the </a:t>
            </a:r>
            <a:r>
              <a:rPr lang="en-US" dirty="0" err="1"/>
              <a:t>ipSAE</a:t>
            </a:r>
            <a:r>
              <a:rPr lang="en-US" dirty="0"/>
              <a:t> score</a:t>
            </a:r>
          </a:p>
          <a:p>
            <a:pPr lvl="1"/>
            <a:r>
              <a:rPr lang="en-US" dirty="0"/>
              <a:t>Model can yield slightly different results depending on hardware configuration and random seeds</a:t>
            </a: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462920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5CD371-8797-2B13-1CBB-CF83E870E5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461E99-853A-A7D0-5724-1775521B38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SG" dirty="0" err="1"/>
              <a:t>Adaptyv’s</a:t>
            </a:r>
            <a:r>
              <a:rPr lang="en-SG" dirty="0"/>
              <a:t> </a:t>
            </a:r>
            <a:r>
              <a:rPr lang="en-SG" b="1" dirty="0"/>
              <a:t>Nipah Protein Design Competition </a:t>
            </a:r>
            <a:br>
              <a:rPr lang="en-SG" b="1" dirty="0"/>
            </a:br>
            <a:r>
              <a:rPr lang="en-SG" dirty="0"/>
              <a:t>(Dec 2025)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EEAC8A8-62F6-F8C1-4BA0-C94A80CFD5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SG"/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5F733F09-F68C-7451-6280-850989555F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60933" y="1583409"/>
            <a:ext cx="7334250" cy="48357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272835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175</TotalTime>
  <Words>2761</Words>
  <Application>Microsoft Office PowerPoint</Application>
  <PresentationFormat>Widescreen</PresentationFormat>
  <Paragraphs>278</Paragraphs>
  <Slides>42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42</vt:i4>
      </vt:variant>
    </vt:vector>
  </HeadingPairs>
  <TitlesOfParts>
    <vt:vector size="47" baseType="lpstr">
      <vt:lpstr>Aptos</vt:lpstr>
      <vt:lpstr>Aptos Display</vt:lpstr>
      <vt:lpstr>Arial</vt:lpstr>
      <vt:lpstr>Cambria Math</vt:lpstr>
      <vt:lpstr>Office Theme</vt:lpstr>
      <vt:lpstr>AlphaFold Confidence Metrics</vt:lpstr>
      <vt:lpstr>AlphaFold Confidence Metrics Overview</vt:lpstr>
      <vt:lpstr>Predicted local distance difference test pLDDT</vt:lpstr>
      <vt:lpstr>lDDT-Cα</vt:lpstr>
      <vt:lpstr>pLDDT</vt:lpstr>
      <vt:lpstr>pLDDT</vt:lpstr>
      <vt:lpstr>Predicted aligned error pae</vt:lpstr>
      <vt:lpstr>Predicted aligned error pae</vt:lpstr>
      <vt:lpstr>Predicted aligned error pae</vt:lpstr>
      <vt:lpstr>Predicted aligned error pae How it is trained </vt:lpstr>
      <vt:lpstr>Predicted aligned error pae Why it works </vt:lpstr>
      <vt:lpstr>Predicted aligned error pae</vt:lpstr>
      <vt:lpstr>AlphaFold-Multimer</vt:lpstr>
      <vt:lpstr>Template Modelling score</vt:lpstr>
      <vt:lpstr>Predicted TM score pTM</vt:lpstr>
      <vt:lpstr>Predicted TM score pTM</vt:lpstr>
      <vt:lpstr>Interface predicted TM score ipTM</vt:lpstr>
      <vt:lpstr>pTM vs ipTM</vt:lpstr>
      <vt:lpstr>Confidence metrics in practice</vt:lpstr>
      <vt:lpstr>Confidence metrics in practice</vt:lpstr>
      <vt:lpstr>Literature review of New Protein Design Methods</vt:lpstr>
      <vt:lpstr>PepPrCLIP  Science Advances 2025</vt:lpstr>
      <vt:lpstr>BindCraft  Nature 2025</vt:lpstr>
      <vt:lpstr>PepMLM</vt:lpstr>
      <vt:lpstr>AlphaDesign Molecular Systems Biology 2025 </vt:lpstr>
      <vt:lpstr>More papers that were published despite no experimental binding affinity validation</vt:lpstr>
      <vt:lpstr>Conclusion</vt:lpstr>
      <vt:lpstr>Literature review of AF confidence metrics</vt:lpstr>
      <vt:lpstr>EvoBind2</vt:lpstr>
      <vt:lpstr>EvoBind2 Results</vt:lpstr>
      <vt:lpstr>EvoBind2 Results</vt:lpstr>
      <vt:lpstr>More papers</vt:lpstr>
      <vt:lpstr>More Papers</vt:lpstr>
      <vt:lpstr>Conclusion</vt:lpstr>
      <vt:lpstr>Counterexample: Adaptyv’s Protein Design Competition  (Dec 2024)</vt:lpstr>
      <vt:lpstr>Adaptyv’s Protein Design Competition  (Dec 2024)</vt:lpstr>
      <vt:lpstr>Adaptyv’s Protein Design Competition Results (Dec 2024)</vt:lpstr>
      <vt:lpstr>Adaptyv’s Protein Design Competition Results (Dec 2024)</vt:lpstr>
      <vt:lpstr>Adaptyv’s Protein Design Competition Results (Dec 2024)</vt:lpstr>
      <vt:lpstr>Adaptyv’s Protein Design Competition Results (Dec 2024)</vt:lpstr>
      <vt:lpstr>Adaptyv’s Nipah Protein Design Competition  (Dec 2025)</vt:lpstr>
      <vt:lpstr>Adaptyv’s Nipah Protein Design Competition  (Dec 2025)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Kayler Tee</dc:creator>
  <cp:lastModifiedBy>Kayler Tee</cp:lastModifiedBy>
  <cp:revision>24</cp:revision>
  <dcterms:created xsi:type="dcterms:W3CDTF">2026-02-10T08:15:42Z</dcterms:created>
  <dcterms:modified xsi:type="dcterms:W3CDTF">2026-02-10T11:10:58Z</dcterms:modified>
</cp:coreProperties>
</file>