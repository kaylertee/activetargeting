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F44D-7575-6972-F464-80A6626D9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21963-34D8-A047-9EA0-82B074F15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AF94F-84F7-CE6F-DBD8-920D7A89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21F0-5AB3-B001-6927-150CDD80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422AE-D43D-C63B-B5FA-4ABE1168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687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751C-7478-358B-84CC-E6AB9565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BBE5E-598A-A539-172E-027A99A3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23002-55BF-1D59-8692-9CB65067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00B3B-45F4-AFAB-28DE-5ABD5CBA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DCDB9-3B42-E133-4E73-29D37C0F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575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2097-7886-69E3-95C7-62A80453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BA360-A8D2-A394-6B55-3E67921C6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9AA9-359F-F3D3-E68C-770FAA56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E8D27-2294-B40C-C62A-3F84C8F2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7BD3-90F7-BC75-D360-665089E09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713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A96E-0057-6C71-E947-757F05D9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EABE-41CB-4533-5326-E32FB5BEF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CD1D6-3D33-7C25-62F3-D892B68DF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18D19-84C3-1567-ECDB-E625E2ED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06A1B-71C9-BA8C-C0C7-1222147D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DB277-8E82-BFF5-666F-ABD02741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171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FC48-5BF7-14D7-38B3-077BE59B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00C00-81F9-03F8-31CD-B659C7FA0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E4165-0737-24D0-EEB4-1400B384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28712-2537-7C4A-F108-C39C61FD3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20EB5-641D-54A1-B038-204D92D70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380B40-3229-47E1-38B9-7CA64236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4AB71-36AE-A48C-4128-C3E07036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DA91D9-923F-41AB-D2C6-6FAF9D19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002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1C4D-B1DA-B6F3-2F16-0EF1669D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63E6E-D96D-9AF7-8071-3796EA97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07864-268C-4882-6B42-08DDE54D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02365-9C0E-28EB-406D-90CF53A3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810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74352-2BCE-E818-E0EE-69B61EAE9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93DC5-E609-E971-AB01-50E57BC9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F7CC-D78A-F106-2C14-0BADD853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35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F099-8A0D-BD1A-001D-8D544F66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04C4D-9041-77C8-2EC1-DB56C5CA5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05181-0EE3-3190-F7A9-87C06CA6E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C7F1F-3E0B-AE09-78D8-A8A4D0C0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FED86-481C-D3F9-466F-1CFFFCF1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9D344-30A6-17A0-4F02-04C506F8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66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2FCD-631D-1BA9-3CD5-5E09BE4F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6E0B2-9A16-A38A-2951-C277BCE77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CE4E4-57E6-C14C-ED57-CDF1CE911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A7905-D5C2-4005-1883-35E33286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6E326-A778-E0AD-6B1B-7AEB4A9B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DF305-43F6-2D01-299D-EACF2493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812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09C8-7E0A-DD15-219A-879E2164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8C12D-1C2B-658E-CA54-9969D5AAA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DF62-C7BD-50A6-CAF3-0B4EE596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E658A-3B66-D8B0-AE28-B386891C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39632-69A8-9C4A-2AEC-EB5FD040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371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CFB3E-8E34-ED1A-802D-88A5547C5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0AC52-7356-442A-02D8-BFEA11BC3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5282A-CE04-7AFA-639B-FDD9D583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2004-D56F-7246-1CFC-386844E8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3451-314F-3B6A-93D7-6D2D17BA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614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624AB-E61E-919F-06E2-18589F63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790C5-14FB-887B-B840-33857E08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C809A-3962-8196-F78F-482DBE995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CC3E3-964B-4336-88D8-FDC0D5E1A815}" type="datetimeFigureOut">
              <a:rPr lang="en-SG" smtClean="0"/>
              <a:t>7 Jan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38139-CF25-3C39-A689-6A49BF7FD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ED347-73BB-42DD-0B22-3C1C51E8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77FA8-743E-4293-A599-D43CA447B15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057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D0D0-7728-5FAD-2207-1C31E6CAA3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Warm Start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5B30E-B02F-1CEE-DF82-033209D883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473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A769-E1E3-A116-F44D-9E2963B3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9E28E-5B6E-54B2-7F9A-EC43BE70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used to require an input template binder</a:t>
            </a:r>
          </a:p>
          <a:p>
            <a:r>
              <a:rPr lang="en-SG" dirty="0"/>
              <a:t>Now, if no template is available:</a:t>
            </a:r>
          </a:p>
          <a:p>
            <a:pPr lvl="1"/>
            <a:r>
              <a:rPr lang="en-SG" dirty="0"/>
              <a:t> Run </a:t>
            </a:r>
            <a:r>
              <a:rPr lang="en-SG" dirty="0" err="1"/>
              <a:t>BindCraft</a:t>
            </a:r>
            <a:r>
              <a:rPr lang="en-SG" dirty="0"/>
              <a:t> for </a:t>
            </a:r>
            <a:r>
              <a:rPr lang="en-SG" i="1" dirty="0"/>
              <a:t>x</a:t>
            </a:r>
            <a:r>
              <a:rPr lang="en-SG" dirty="0"/>
              <a:t> trajectories</a:t>
            </a:r>
          </a:p>
          <a:p>
            <a:pPr lvl="1"/>
            <a:r>
              <a:rPr lang="en-SG" dirty="0"/>
              <a:t>Use the best binder as the input template binder (functioning as a warm start)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801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F814-7072-020C-E322-FACBA582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Warm Start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286D-1A7B-68EE-76EB-F919B3A3D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SG" dirty="0"/>
              <a:t>User specifies initial parameters (</a:t>
            </a:r>
            <a:r>
              <a:rPr lang="en-SG" dirty="0" err="1"/>
              <a:t>num_trajectories</a:t>
            </a:r>
            <a:r>
              <a:rPr lang="en-SG" dirty="0"/>
              <a:t>, filtering criteria, etc.)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Run </a:t>
            </a:r>
            <a:r>
              <a:rPr lang="en-SG" dirty="0" err="1"/>
              <a:t>BindCraft</a:t>
            </a:r>
            <a:r>
              <a:rPr lang="en-SG" dirty="0"/>
              <a:t> for </a:t>
            </a:r>
            <a:r>
              <a:rPr lang="en-SG" i="1" dirty="0"/>
              <a:t>x </a:t>
            </a:r>
            <a:r>
              <a:rPr lang="en-SG" dirty="0"/>
              <a:t>trajectories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Find best binder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Use interface residues as guided residues in </a:t>
            </a:r>
            <a:r>
              <a:rPr lang="en-SG" dirty="0" err="1"/>
              <a:t>MutaCraft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484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3761-07F9-8399-39EB-CEC83026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BA0FF-4BBD-1387-8CCD-53A1A615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Using previous Human Lysozyme as target protein: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1C59CA-A3BE-A95F-CF4B-4E1EFE0D6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023275"/>
              </p:ext>
            </p:extLst>
          </p:nvPr>
        </p:nvGraphicFramePr>
        <p:xfrm>
          <a:off x="838200" y="2386114"/>
          <a:ext cx="9854443" cy="392578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928550669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3838735856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1387007116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1169124598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2374991788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2067305315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3352597763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193869001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2066499304"/>
                    </a:ext>
                  </a:extLst>
                </a:gridCol>
              </a:tblGrid>
              <a:tr h="53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algorithm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trajectory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binder_length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duration_seconds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AlphaFold calls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plddt (higher is better)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ipTM (higher is better)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loss (lower is better)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6100644"/>
                  </a:ext>
                </a:extLst>
              </a:tr>
              <a:tr h="7060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BindCraft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MutaCraft_WarmStart_l85_s182392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457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81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0.64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7.11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2338981"/>
                  </a:ext>
                </a:extLst>
              </a:tr>
              <a:tr h="7060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BindCraft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MutaCraft_WarmStart_l107_s189080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960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97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0.12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6.87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839070"/>
                  </a:ext>
                </a:extLst>
              </a:tr>
              <a:tr h="7060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BindCraft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MutaCraft_WarmStart_l84_s811348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84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958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0.65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7.32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596214"/>
                  </a:ext>
                </a:extLst>
              </a:tr>
              <a:tr h="197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Total: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2375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259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Mean: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0.626667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0.106667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7.1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8363603"/>
                  </a:ext>
                </a:extLst>
              </a:tr>
              <a:tr h="1977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0643585"/>
                  </a:ext>
                </a:extLst>
              </a:tr>
              <a:tr h="8800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MutaCraft warm start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Based on MutaCraft_WarmStart_l120_s405553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120</a:t>
                      </a: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570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245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0.67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Narrow" panose="020B0004020202020204" pitchFamily="34" charset="0"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1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4.7981</a:t>
                      </a:r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2337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28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8887-113C-0C7F-1F23-A601FA4D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Next Step: Expanding Target 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94E19-793C-BBD3-FBB2-5230F64B3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BindCraft</a:t>
            </a:r>
            <a:r>
              <a:rPr lang="en-SG" dirty="0"/>
              <a:t> paper used 12 proteins</a:t>
            </a:r>
          </a:p>
          <a:p>
            <a:r>
              <a:rPr lang="en-SG" dirty="0" err="1"/>
              <a:t>BindEnergyCraft</a:t>
            </a:r>
            <a:r>
              <a:rPr lang="en-SG" dirty="0"/>
              <a:t> used 8 different proteins from another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389D8-6DB8-D920-22F8-066E9907E368}"/>
              </a:ext>
            </a:extLst>
          </p:cNvPr>
          <p:cNvSpPr txBox="1"/>
          <p:nvPr/>
        </p:nvSpPr>
        <p:spPr>
          <a:xfrm>
            <a:off x="7481748" y="6042717"/>
            <a:ext cx="331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BindEnergyCraft</a:t>
            </a:r>
            <a:r>
              <a:rPr lang="en-SG" dirty="0"/>
              <a:t> Target Proteins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64FD3-A134-A982-E416-9D2D68917BA2}"/>
              </a:ext>
            </a:extLst>
          </p:cNvPr>
          <p:cNvSpPr txBox="1"/>
          <p:nvPr/>
        </p:nvSpPr>
        <p:spPr>
          <a:xfrm>
            <a:off x="1498391" y="6387548"/>
            <a:ext cx="26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BindCraft</a:t>
            </a:r>
            <a:r>
              <a:rPr lang="en-SG" dirty="0"/>
              <a:t> Target Proteins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49BB65-995F-F5D8-D4AB-D59505A41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904761"/>
              </p:ext>
            </p:extLst>
          </p:nvPr>
        </p:nvGraphicFramePr>
        <p:xfrm>
          <a:off x="951912" y="2802563"/>
          <a:ext cx="4155592" cy="3584985"/>
        </p:xfrm>
        <a:graphic>
          <a:graphicData uri="http://schemas.openxmlformats.org/drawingml/2006/table">
            <a:tbl>
              <a:tblPr/>
              <a:tblGrid>
                <a:gridCol w="1012241">
                  <a:extLst>
                    <a:ext uri="{9D8B030D-6E8A-4147-A177-3AD203B41FA5}">
                      <a16:colId xmlns:a16="http://schemas.microsoft.com/office/drawing/2014/main" val="3053671249"/>
                    </a:ext>
                  </a:extLst>
                </a:gridCol>
                <a:gridCol w="1506321">
                  <a:extLst>
                    <a:ext uri="{9D8B030D-6E8A-4147-A177-3AD203B41FA5}">
                      <a16:colId xmlns:a16="http://schemas.microsoft.com/office/drawing/2014/main" val="64585413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2341356231"/>
                    </a:ext>
                  </a:extLst>
                </a:gridCol>
              </a:tblGrid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dirty="0"/>
                        <a:t>Protein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Experimental PDB available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dirty="0"/>
                        <a:t>Known template binder available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531411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PD-1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dirty="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896835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PD-L1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52697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IFNAR2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082554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CD45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dirty="0"/>
                        <a:t>Partial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55801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CLDN1 (Claudin-1)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Partial / domain or model only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Partial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92572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Der f 7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4187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Der f 21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739199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Bet v 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290149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SpCas9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897956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CbAgo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08163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BBF-14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665902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Sas6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/>
                        <a:t>Yes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dirty="0"/>
                        <a:t>Partial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1639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7C8DEB-7B5C-E1BF-3C31-50FB43CFC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32558"/>
              </p:ext>
            </p:extLst>
          </p:nvPr>
        </p:nvGraphicFramePr>
        <p:xfrm>
          <a:off x="5939465" y="3375070"/>
          <a:ext cx="5814378" cy="2331720"/>
        </p:xfrm>
        <a:graphic>
          <a:graphicData uri="http://schemas.openxmlformats.org/drawingml/2006/table">
            <a:tbl>
              <a:tblPr/>
              <a:tblGrid>
                <a:gridCol w="1762443">
                  <a:extLst>
                    <a:ext uri="{9D8B030D-6E8A-4147-A177-3AD203B41FA5}">
                      <a16:colId xmlns:a16="http://schemas.microsoft.com/office/drawing/2014/main" val="601945375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438240918"/>
                    </a:ext>
                  </a:extLst>
                </a:gridCol>
                <a:gridCol w="2183130">
                  <a:extLst>
                    <a:ext uri="{9D8B030D-6E8A-4147-A177-3AD203B41FA5}">
                      <a16:colId xmlns:a16="http://schemas.microsoft.com/office/drawing/2014/main" val="678371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Protein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Experimental PDB available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Known template binder available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47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ALK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198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H3 (Histone H3 region)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683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IL-2R</a:t>
                      </a:r>
                      <a:r>
                        <a:rPr lang="el-GR" sz="1100"/>
                        <a:t>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9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IL-7R</a:t>
                      </a:r>
                      <a:r>
                        <a:rPr lang="el-GR" sz="1100"/>
                        <a:t>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12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Insulin receptor (InsulinR)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10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07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TrkA (NTRK1)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593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VirB8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1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84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521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310</Words>
  <Application>Microsoft Office PowerPoint</Application>
  <PresentationFormat>Widescreen</PresentationFormat>
  <Paragraphs>131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 Theme</vt:lpstr>
      <vt:lpstr>MutaCraft Warm Start</vt:lpstr>
      <vt:lpstr>Overview</vt:lpstr>
      <vt:lpstr>Warm Start Procedure</vt:lpstr>
      <vt:lpstr>Results</vt:lpstr>
      <vt:lpstr>Next Step: Expanding Target Proteins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Kayler Tee</dc:creator>
  <cp:lastModifiedBy>Kayler Tee</cp:lastModifiedBy>
  <cp:revision>3</cp:revision>
  <dcterms:created xsi:type="dcterms:W3CDTF">2026-01-07T13:04:02Z</dcterms:created>
  <dcterms:modified xsi:type="dcterms:W3CDTF">2026-01-07T13:21:01Z</dcterms:modified>
</cp:coreProperties>
</file>